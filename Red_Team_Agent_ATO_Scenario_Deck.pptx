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61da4938a44827" /><Relationship Type="http://schemas.openxmlformats.org/officeDocument/2006/relationships/extended-properties" Target="/docProps/app.xml" Id="R11f3503fc45d4f7f" /><Relationship Type="http://schemas.openxmlformats.org/officeDocument/2006/relationships/officeDocument" Target="/ppt/presentation.xml" Id="R1b5396cdb4794cb5" /></Relationships>
</file>

<file path=ppt/presentation.xml><?xml version="1.0" encoding="utf-8"?>
<p:presentation xmlns:p="http://schemas.openxmlformats.org/presentationml/2006/main">
  <p:sldMasterIdLst>
    <p:sldMasterId xmlns:r="http://schemas.openxmlformats.org/officeDocument/2006/relationships" id="2147483648" r:id="R9b51c6d218e44b30"/>
  </p:sldMasterIdLst>
  <p:notesMasterIdLst>
    <p:notesMasterId xmlns:r="http://schemas.openxmlformats.org/officeDocument/2006/relationships" r:id="R9b248b3101a94fee"/>
  </p:notesMasterIdLst>
  <p:sldIdLst>
    <p:sldId xmlns:r="http://schemas.openxmlformats.org/officeDocument/2006/relationships" id="256" r:id="R875a8443d3324f8c"/>
    <p:sldId xmlns:r="http://schemas.openxmlformats.org/officeDocument/2006/relationships" id="257" r:id="Rf1cc089f753f4aad"/>
    <p:sldId xmlns:r="http://schemas.openxmlformats.org/officeDocument/2006/relationships" id="258" r:id="R420fcac72e554350"/>
    <p:sldId xmlns:r="http://schemas.openxmlformats.org/officeDocument/2006/relationships" id="259" r:id="Rfbd22f84cf4c4dff"/>
    <p:sldId xmlns:r="http://schemas.openxmlformats.org/officeDocument/2006/relationships" id="260" r:id="R7d55ffad67fc4164"/>
    <p:sldId xmlns:r="http://schemas.openxmlformats.org/officeDocument/2006/relationships" id="261" r:id="R084db0a0e04e41df"/>
    <p:sldId xmlns:r="http://schemas.openxmlformats.org/officeDocument/2006/relationships" id="262" r:id="R934b994b4b9a4a2b"/>
    <p:sldId xmlns:r="http://schemas.openxmlformats.org/officeDocument/2006/relationships" id="263" r:id="R4f583b27bf5846f4"/>
    <p:sldId xmlns:r="http://schemas.openxmlformats.org/officeDocument/2006/relationships" id="264" r:id="R8992ee6569774ad1"/>
    <p:sldId xmlns:r="http://schemas.openxmlformats.org/officeDocument/2006/relationships" id="265" r:id="R2fd940e05ae34393"/>
    <p:sldId xmlns:r="http://schemas.openxmlformats.org/officeDocument/2006/relationships" id="266" r:id="R7be9e073b1ad40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6d55e0f67a4f2b" /><Relationship Type="http://schemas.openxmlformats.org/officeDocument/2006/relationships/slideMaster" Target="/ppt/slideMasters/slideMaster1.xml" Id="R9b51c6d218e44b30" /><Relationship Type="http://schemas.openxmlformats.org/officeDocument/2006/relationships/notesMaster" Target="/ppt/notesMasters/notesMaster1.xml" Id="R9b248b3101a94fee" /><Relationship Type="http://schemas.openxmlformats.org/officeDocument/2006/relationships/presProps" Target="/ppt/presProps.xml" Id="R8406908adb644ed6" /><Relationship Type="http://schemas.openxmlformats.org/officeDocument/2006/relationships/tableStyles" Target="/ppt/tableStyles.xml" Id="R74bc3dab2d304b47" /><Relationship Type="http://schemas.openxmlformats.org/officeDocument/2006/relationships/slide" Target="/ppt/slides/slide1.xml" Id="R875a8443d3324f8c" /><Relationship Type="http://schemas.openxmlformats.org/officeDocument/2006/relationships/slide" Target="/ppt/slides/slide2.xml" Id="Rf1cc089f753f4aad" /><Relationship Type="http://schemas.openxmlformats.org/officeDocument/2006/relationships/slide" Target="/ppt/slides/slide3.xml" Id="R420fcac72e554350" /><Relationship Type="http://schemas.openxmlformats.org/officeDocument/2006/relationships/slide" Target="/ppt/slides/slide4.xml" Id="Rfbd22f84cf4c4dff" /><Relationship Type="http://schemas.openxmlformats.org/officeDocument/2006/relationships/slide" Target="/ppt/slides/slide5.xml" Id="R7d55ffad67fc4164" /><Relationship Type="http://schemas.openxmlformats.org/officeDocument/2006/relationships/slide" Target="/ppt/slides/slide6.xml" Id="R084db0a0e04e41df" /><Relationship Type="http://schemas.openxmlformats.org/officeDocument/2006/relationships/slide" Target="/ppt/slides/slide7.xml" Id="R934b994b4b9a4a2b" /><Relationship Type="http://schemas.openxmlformats.org/officeDocument/2006/relationships/slide" Target="/ppt/slides/slide8.xml" Id="R4f583b27bf5846f4" /><Relationship Type="http://schemas.openxmlformats.org/officeDocument/2006/relationships/slide" Target="/ppt/slides/slide9.xml" Id="R8992ee6569774ad1" /><Relationship Type="http://schemas.openxmlformats.org/officeDocument/2006/relationships/slide" Target="/ppt/slides/slide10.xml" Id="R2fd940e05ae34393" /><Relationship Type="http://schemas.openxmlformats.org/officeDocument/2006/relationships/slide" Target="/ppt/slides/slide11.xml" Id="R7be9e073b1ad40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52d82d71904b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dbf00d5f684661" /><Relationship Type="http://schemas.openxmlformats.org/officeDocument/2006/relationships/notesMaster" Target="/ppt/notesMasters/notesMaster1.xml" Id="Reec0eedea88046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39a32c387649de" /><Relationship Type="http://schemas.openxmlformats.org/officeDocument/2006/relationships/notesMaster" Target="/ppt/notesMasters/notesMaster1.xml" Id="Rf4b68654eb3443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fadffb96c442f9" /><Relationship Type="http://schemas.openxmlformats.org/officeDocument/2006/relationships/notesMaster" Target="/ppt/notesMasters/notesMaster1.xml" Id="Re24e47f80be04b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f7ef0f502f4549" /><Relationship Type="http://schemas.openxmlformats.org/officeDocument/2006/relationships/notesMaster" Target="/ppt/notesMasters/notesMaster1.xml" Id="Rda9673418b4e4e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36e7d78c22426c" /><Relationship Type="http://schemas.openxmlformats.org/officeDocument/2006/relationships/notesMaster" Target="/ppt/notesMasters/notesMaster1.xml" Id="Rcb7fbfe2c82a4b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4f7f3947d44c99" /><Relationship Type="http://schemas.openxmlformats.org/officeDocument/2006/relationships/notesMaster" Target="/ppt/notesMasters/notesMaster1.xml" Id="Ra68eac2a866040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e46f87860c466e" /><Relationship Type="http://schemas.openxmlformats.org/officeDocument/2006/relationships/notesMaster" Target="/ppt/notesMasters/notesMaster1.xml" Id="Rc3f189d353ef49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a963613b1043fc" /><Relationship Type="http://schemas.openxmlformats.org/officeDocument/2006/relationships/notesMaster" Target="/ppt/notesMasters/notesMaster1.xml" Id="Re07b8506c8db47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80b1ae200d4dcb" /><Relationship Type="http://schemas.openxmlformats.org/officeDocument/2006/relationships/notesMaster" Target="/ppt/notesMasters/notesMaster1.xml" Id="R39872df6df3f41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16c234cb4a4fea" /><Relationship Type="http://schemas.openxmlformats.org/officeDocument/2006/relationships/notesMaster" Target="/ppt/notesMasters/notesMaster1.xml" Id="R5c23bd4cb2df40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4edd7e4f3b47fd" /><Relationship Type="http://schemas.openxmlformats.org/officeDocument/2006/relationships/notesMaster" Target="/ppt/notesMasters/notesMaster1.xml" Id="R8aae3da968ed4e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simple promise of the system: we are not showing a static fraud classifier. We are showing a controlled contest that can create a safe synthetic attack, let a defense respond, measure the result, and then make the next test harder. The example throughout the deck is ATO-01, a GenAI-assisted account-takeover campaign. All identities, values and outcomes are synthetic. The story begins with one account so the full loop remains easy to follow.</a:t>
            </a:r>
          </a:p>
          <a:p xmlns:a="http://schemas.openxmlformats.org/drawingml/2006/main">
            <a:r>
              <a:t/>
            </a:r>
          </a:p>
          <a:p xmlns:a="http://schemas.openxmlformats.org/drawingml/2006/main">
            <a:r>
              <a:t>[Sources]</a:t>
            </a:r>
          </a:p>
          <a:p xmlns:a="http://schemas.openxmlformats.org/drawingml/2006/main">
            <a:r>
              <a:t>- https://www.mastercard.com/us/en/business/cybersecurity-fraud-prevention/cybersecurity/generative-ai-report.html</a:t>
            </a:r>
          </a:p>
          <a:p xmlns:a="http://schemas.openxmlformats.org/drawingml/2006/main">
            <a:r>
              <a:t>- https://www.ic3.gov/PSA/2025/PSA251125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example as a fictional account, not a real person. The synthetic customer normally sends about INR 10,000. Red selects ATO-01 at medium difficulty and tries to move a payment equivalent to five times that baseline. The goal is not simply to label the final transaction as fraud. The richer question is how early Blue can intervene: at login, during a security change, when the beneficiary is added, when the test payment appears, or only after the larger payment begins.</a:t>
            </a:r>
          </a:p>
          <a:p xmlns:a="http://schemas.openxmlformats.org/drawingml/2006/main">
            <a:r>
              <a:t/>
            </a:r>
          </a:p>
          <a:p xmlns:a="http://schemas.openxmlformats.org/drawingml/2006/main">
            <a:r>
              <a:t>[Sources]</a:t>
            </a:r>
          </a:p>
          <a:p xmlns:a="http://schemas.openxmlformats.org/drawingml/2006/main">
            <a:r>
              <a:t>- /Users/u367403/Library/CloudStorage/OneDrive-UnitedAirlines/Projects/Hackathon/MasterCard/red_team_agent/runs/ato_medium.json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Research becomes a reviewed attack card. Red uses that card to choose the test, but a deterministic compiler creates the actual scenario. The safety gate rejects anything outside the laboratory contract, and the simulator generates synthetic events. Blue receives the events and makes defensive decisions. The Referee alone sees both the intended attack truth and Blue's response. The return path is deliberately narrow: Red can learn categories such as device novelty or amount anomaly, but not Blue's private rule, model weight or threshold.</a:t>
            </a:r>
          </a:p>
          <a:p xmlns:a="http://schemas.openxmlformats.org/drawingml/2006/main">
            <a:r>
              <a:t/>
            </a:r>
          </a:p>
          <a:p xmlns:a="http://schemas.openxmlformats.org/drawingml/2006/main">
            <a:r>
              <a:t>[Sources]</a:t>
            </a:r>
          </a:p>
          <a:p xmlns:a="http://schemas.openxmlformats.org/drawingml/2006/main">
            <a:r>
              <a:t>- /Users/u367403/Library/CloudStorage/OneDrive-UnitedAirlines/Projects/Hackathon/MasterCard/red_team_agent/README.md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important design boundary. The planner is allowed to make a small strategic choice: which reviewed attack card to use, how difficult the test should be, what objective it should pursue, and which stages deserve emphasis. It does not write arbitrary transactions. The compiler takes the approved card and creates the exact ordered scenario using a seed, bounded values and synthetic identifiers. This gives us both agentic reasoning and reproducibility. If the same request and seed are used again, the scenario can be replayed exactly.</a:t>
            </a:r>
          </a:p>
          <a:p xmlns:a="http://schemas.openxmlformats.org/drawingml/2006/main">
            <a:r>
              <a:t/>
            </a:r>
          </a:p>
          <a:p xmlns:a="http://schemas.openxmlformats.org/drawingml/2006/main">
            <a:r>
              <a:t>[Sources]</a:t>
            </a:r>
          </a:p>
          <a:p xmlns:a="http://schemas.openxmlformats.org/drawingml/2006/main">
            <a:r>
              <a:t>- /Users/u367403/Library/CloudStorage/OneDrive-UnitedAirlines/Projects/Hackathon/MasterCard/red_team_agent/README.md</a:t>
            </a:r>
          </a:p>
          <a:p xmlns:a="http://schemas.openxmlformats.org/drawingml/2006/main">
            <a:r>
              <a:t>- /Users/u367403/Library/CloudStorage/OneDrive-UnitedAirlines/Projects/Hackathon/MasterCard/red_team_agent/attack_cards.json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story in time order. At zero seconds the account starts a session from a relatively novel device and network. Twenty seconds later the authentication context changes. At one minute, a recently created beneficiary is introduced. None of these actions alone proves fraud, and that is intentional. Blue must combine them without punishing legitimate travel, phone replacement or genuine new-payee behavior. These are all prevention opportunities because the high-value payment has not yet begun.</a:t>
            </a:r>
          </a:p>
          <a:p xmlns:a="http://schemas.openxmlformats.org/drawingml/2006/main">
            <a:r>
              <a:t/>
            </a:r>
          </a:p>
          <a:p xmlns:a="http://schemas.openxmlformats.org/drawingml/2006/main">
            <a:r>
              <a:t>[Sources]</a:t>
            </a:r>
          </a:p>
          <a:p xmlns:a="http://schemas.openxmlformats.org/drawingml/2006/main">
            <a:r>
              <a:t>- https://www.ic3.gov/PSA/2025/PSA251125</a:t>
            </a:r>
          </a:p>
          <a:p xmlns:a="http://schemas.openxmlformats.org/drawingml/2006/main">
            <a:r>
              <a:t>- /Users/u367403/Library/CloudStorage/OneDrive-UnitedAirlines/Projects/Hackathon/MasterCard/red_team_agent/runs/ato_medium.json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attack crosses into transaction time. A small test transfer appears first, which can look harmless in isolation. The larger transfer follows, approximately five times the synthetic customer's baseline. This is where Blue should combine session novelty, recent security changes, beneficiary age, test-payment behavior and amount deviation. If Blue still misses the transaction, receiver-side controls may contain the value after receipt. That is valuable, but it is containment rather than prevention.</a:t>
            </a:r>
          </a:p>
          <a:p xmlns:a="http://schemas.openxmlformats.org/drawingml/2006/main">
            <a:r>
              <a:t/>
            </a:r>
          </a:p>
          <a:p xmlns:a="http://schemas.openxmlformats.org/drawingml/2006/main">
            <a:r>
              <a:t>[Sources]</a:t>
            </a:r>
          </a:p>
          <a:p xmlns:a="http://schemas.openxmlformats.org/drawingml/2006/main">
            <a:r>
              <a:t>- https://www.ic3.gov/PSA/2025/PSA251125</a:t>
            </a:r>
          </a:p>
          <a:p xmlns:a="http://schemas.openxmlformats.org/drawingml/2006/main">
            <a:r>
              <a:t>- /Users/u367403/Library/CloudStorage/OneDrive-UnitedAirlines/Projects/Hackathon/MasterCard/red_team_agent/runs/ato_medium.json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clear that the scenario specification is a recipe, not the final training set. The next simulator component will generate many timestamped events from it and mix them with normal behavior and legitimate look-alikes. The numbers shown are an illustrative batch configuration for explaining the mechanism, not a benchmark result. Hard negatives matter because a Blue model that blocks every new device or every new beneficiary would appear accurate on a simplistic dataset but fail customers in practice. Only the Referee keeps the ground truth labels during the contest.</a:t>
            </a:r>
          </a:p>
          <a:p xmlns:a="http://schemas.openxmlformats.org/drawingml/2006/main">
            <a:r>
              <a:t/>
            </a:r>
          </a:p>
          <a:p xmlns:a="http://schemas.openxmlformats.org/drawingml/2006/main">
            <a:r>
              <a:t>[Sources]</a:t>
            </a:r>
          </a:p>
          <a:p xmlns:a="http://schemas.openxmlformats.org/drawingml/2006/main">
            <a:r>
              <a:t>- /Users/u367403/Library/CloudStorage/OneDrive-UnitedAirlines/Projects/Hackathon/MasterCard/red_team_agent/README.md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these labels describe where Blue can act; they are not actions taken by Red. Prevention happens before money moves, such as challenging a novel session or delaying beneficiary activation. Decision happens when the transaction arrives and Blue must choose allow, challenge, hold or block. Containment happens after receipt and focuses on stopping onward movement and recovering value. The Referee should reward earlier protection, but it must also penalize false positives so Blue cannot win by blocking everything.</a:t>
            </a:r>
          </a:p>
          <a:p xmlns:a="http://schemas.openxmlformats.org/drawingml/2006/main">
            <a:r>
              <a:t/>
            </a:r>
          </a:p>
          <a:p xmlns:a="http://schemas.openxmlformats.org/drawingml/2006/main">
            <a:r>
              <a:t>[Sources]</a:t>
            </a:r>
          </a:p>
          <a:p xmlns:a="http://schemas.openxmlformats.org/drawingml/2006/main">
            <a:r>
              <a:t>- /Users/u367403/Library/CloudStorage/OneDrive-UnitedAirlines/Projects/Hackathon/MasterCard/red_team_agent/README.md</a:t>
            </a:r>
          </a:p>
          <a:p xmlns:a="http://schemas.openxmlformats.org/drawingml/2006/main">
            <a:r>
              <a:t>- /Users/u367403/Library/CloudStorage/OneDrive-UnitedAirlines/Projects/Hackathon/MasterCard/red_team_agent/attack_cards.json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score response. The Referee knows the intended attack stages and sees Blue's decision, so it can report the detected stage, protected value, decision time and false-positive impact. But the information returned to Red is intentionally coarse. Red learns that device and network novelty contributed to detection. It does not learn the exact rule, model coefficient, score or threshold. That separation prevents the exercise from becoming simple threshold probing while still allowing the Red Agent to adapt intelligently.</a:t>
            </a:r>
          </a:p>
          <a:p xmlns:a="http://schemas.openxmlformats.org/drawingml/2006/main">
            <a:r>
              <a:t/>
            </a:r>
          </a:p>
          <a:p xmlns:a="http://schemas.openxmlformats.org/drawingml/2006/main">
            <a:r>
              <a:t>[Sources]</a:t>
            </a:r>
          </a:p>
          <a:p xmlns:a="http://schemas.openxmlformats.org/drawingml/2006/main">
            <a:r>
              <a:t>- /Users/u367403/Library/CloudStorage/OneDrive-UnitedAirlines/Projects/Hackathon/MasterCard/red_team_agent/examples/referee_feedback.json</a:t>
            </a:r>
          </a:p>
          <a:p xmlns:a="http://schemas.openxmlformats.org/drawingml/2006/main">
            <a:r>
              <a:t>- /Users/u367403/Library/CloudStorage/OneDrive-UnitedAirlines/Projects/Hackathon/MasterCard/red_team_agent/README.md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concrete learning step. Because the Referee reported device novelty and network novelty, the bounded controller reduces those probabilities in the next scenario. The second round therefore looks more familiar at session start, while preserving the same ATO story and all safety constraints. Red is not permitted to invent a new field or exceed a parameter range. The new scenario keeps a parent identifier and mutation number, so the Referee can compare generations and reconstruct exactly how the campaign evolved.</a:t>
            </a:r>
          </a:p>
          <a:p xmlns:a="http://schemas.openxmlformats.org/drawingml/2006/main">
            <a:r>
              <a:t/>
            </a:r>
          </a:p>
          <a:p xmlns:a="http://schemas.openxmlformats.org/drawingml/2006/main">
            <a:r>
              <a:t>[Sources]</a:t>
            </a:r>
          </a:p>
          <a:p xmlns:a="http://schemas.openxmlformats.org/drawingml/2006/main">
            <a:r>
              <a:t>- /Users/u367403/Library/CloudStorage/OneDrive-UnitedAirlines/Projects/Hackathon/MasterCard/red_team_agent/runs/ato_medium.json</a:t>
            </a:r>
          </a:p>
          <a:p xmlns:a="http://schemas.openxmlformats.org/drawingml/2006/main">
            <a:r>
              <a:t>- /Users/u367403/Library/CloudStorage/OneDrive-UnitedAirlines/Projects/Hackathon/MasterCard/red_team_agent/runs/ato_mutation_01.json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promise from slide one. Red is agentic because it can choose, explain and adapt a campaign. Blue will be agentic because it can combine signals, choose an intervention and learn from outcomes. The Referee makes the competition meaningful by holding the truth labels and controlling what each side can learn. The next engineering milestone is the simulator: it will convert these validated recipes into timestamped event populations that both Blue and the Referee can consume.</a:t>
            </a:r>
          </a:p>
          <a:p xmlns:a="http://schemas.openxmlformats.org/drawingml/2006/main">
            <a:r>
              <a:t/>
            </a:r>
          </a:p>
          <a:p xmlns:a="http://schemas.openxmlformats.org/drawingml/2006/main">
            <a:r>
              <a:t>[Sources]</a:t>
            </a:r>
          </a:p>
          <a:p xmlns:a="http://schemas.openxmlformats.org/drawingml/2006/main">
            <a:r>
              <a:t>- /Users/u367403/Library/CloudStorage/OneDrive-UnitedAirlines/Projects/Hackathon/MasterCard/red_team_agent/README.md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7ab34b6a9842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a15e8768564d50" /><Relationship Type="http://schemas.openxmlformats.org/officeDocument/2006/relationships/slideLayout" Target="/ppt/slideLayouts/slideLayout1.xml" Id="Ra929944f5f7344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29944f5f7344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ca507d14db4839" /><Relationship Type="http://schemas.openxmlformats.org/officeDocument/2006/relationships/notesSlide" Target="/ppt/notesSlides/notesSlide1.xml" Id="R91a9e3169bb64a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15d2a35c1446bb" /><Relationship Type="http://schemas.openxmlformats.org/officeDocument/2006/relationships/notesSlide" Target="/ppt/notesSlides/notesSlide2.xml" Id="Rbcbb9a39dd304e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121e55b0f64c60" /><Relationship Type="http://schemas.openxmlformats.org/officeDocument/2006/relationships/notesSlide" Target="/ppt/notesSlides/notesSlide3.xml" Id="R688c6bc7ace742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9981a2b57c41a8" /><Relationship Type="http://schemas.openxmlformats.org/officeDocument/2006/relationships/notesSlide" Target="/ppt/notesSlides/notesSlide4.xml" Id="Rb82bfe0b68824c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57b39f8e7f4b89" /><Relationship Type="http://schemas.openxmlformats.org/officeDocument/2006/relationships/notesSlide" Target="/ppt/notesSlides/notesSlide5.xml" Id="R10b85e90450946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6eb3cdb66c4b0d" /><Relationship Type="http://schemas.openxmlformats.org/officeDocument/2006/relationships/notesSlide" Target="/ppt/notesSlides/notesSlide6.xml" Id="Raf5bf1ff929e48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6e2e8409584dda" /><Relationship Type="http://schemas.openxmlformats.org/officeDocument/2006/relationships/notesSlide" Target="/ppt/notesSlides/notesSlide7.xml" Id="Ree4aaeee130d4c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bbff15f50c4de0" /><Relationship Type="http://schemas.openxmlformats.org/officeDocument/2006/relationships/notesSlide" Target="/ppt/notesSlides/notesSlide8.xml" Id="Rbc6200f843224d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33157c5bd74eff" /><Relationship Type="http://schemas.openxmlformats.org/officeDocument/2006/relationships/notesSlide" Target="/ppt/notesSlides/notesSlide9.xml" Id="R6a22a40c382f42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ce74ecb9cd4515" /><Relationship Type="http://schemas.openxmlformats.org/officeDocument/2006/relationships/notesSlide" Target="/ppt/notesSlides/notesSlide10.xml" Id="Rc4ab1ec5b7ae47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2433f91024428a" /><Relationship Type="http://schemas.openxmlformats.org/officeDocument/2006/relationships/notesSlide" Target="/ppt/notesSlides/notesSlide11.xml" Id="R2ea453a41279435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ver-accent">
            <a:extLst xmlns:a="http://schemas.openxmlformats.org/drawingml/2006/main">
              <a:ext uri="{FF2B5EF4-FFF2-40B4-BE49-F238E27FC236}">
                <a16:creationId xmlns:a16="http://schemas.microsoft.com/office/drawing/2014/main" id="{FF8B6EBA-19C1-4CB9-ABA7-FA818FC1F04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B274894A-422D-4AE7-81D5-B60C61B9E564}"/>
              </a:ext>
            </a:extLst>
          </p:cNvPr>
          <p:cNvSpPr>
            <a:spLocks xmlns:a="http://schemas.openxmlformats.org/drawingml/2006/main" noGrp="1"/>
          </p:cNvSpPr>
          <p:nvPr/>
        </p:nvSpPr>
        <p:spPr>
          <a:xfrm xmlns:a="http://schemas.openxmlformats.org/drawingml/2006/main">
            <a:off x="552450" y="4191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AI DEFENSE LAB FOR PAYMENT SECURITY</a:t>
            </a:r>
          </a:p>
        </p:txBody>
      </p:sp>
      <p:sp>
        <p:nvSpPr>
          <p:cNvPr id="3" name="cover-title">
            <a:extLst xmlns:a="http://schemas.openxmlformats.org/drawingml/2006/main">
              <a:ext uri="{FF2B5EF4-FFF2-40B4-BE49-F238E27FC236}">
                <a16:creationId xmlns:a16="http://schemas.microsoft.com/office/drawing/2014/main" id="{613BB8A8-7F8C-4AC0-B480-CFE73E88F90A}"/>
              </a:ext>
            </a:extLst>
          </p:cNvPr>
          <p:cNvSpPr>
            <a:spLocks xmlns:a="http://schemas.openxmlformats.org/drawingml/2006/main" noGrp="1"/>
          </p:cNvSpPr>
          <p:nvPr/>
        </p:nvSpPr>
        <p:spPr>
          <a:xfrm xmlns:a="http://schemas.openxmlformats.org/drawingml/2006/main">
            <a:off x="552450" y="1428750"/>
            <a:ext cx="923925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950" b="1">
                <a:solidFill>
                  <a:srgbClr val="000000"/>
                </a:solidFill>
                <a:latin typeface="Helvetica Neue"/>
                <a:ea typeface="Helvetica Neue"/>
                <a:cs typeface="Helvetica Neue"/>
              </a:defRPr>
            </a:pPr>
            <a:r>
              <a:rPr sz="4950" b="1">
                <a:solidFill>
                  <a:srgbClr val="000000"/>
                </a:solidFill>
                <a:latin typeface="Helvetica Neue"/>
                <a:ea typeface="Helvetica Neue"/>
                <a:cs typeface="Helvetica Neue"/>
              </a:rPr>
              <a:t>One attack.</a:t>
            </a:r>
          </a:p>
          <a:p xmlns:a="http://schemas.openxmlformats.org/drawingml/2006/main">
            <a:pPr algn="l">
              <a:defRPr sz="4950" b="1">
                <a:solidFill>
                  <a:srgbClr val="000000"/>
                </a:solidFill>
                <a:latin typeface="Helvetica Neue"/>
                <a:ea typeface="Helvetica Neue"/>
                <a:cs typeface="Helvetica Neue"/>
              </a:defRPr>
            </a:pPr>
            <a:r>
              <a:rPr sz="4950" b="1">
                <a:solidFill>
                  <a:srgbClr val="000000"/>
                </a:solidFill>
                <a:latin typeface="Helvetica Neue"/>
                <a:ea typeface="Helvetica Neue"/>
                <a:cs typeface="Helvetica Neue"/>
              </a:rPr>
              <a:t>One defense.</a:t>
            </a:r>
          </a:p>
          <a:p xmlns:a="http://schemas.openxmlformats.org/drawingml/2006/main">
            <a:pPr algn="l">
              <a:defRPr sz="4950" b="1">
                <a:solidFill>
                  <a:srgbClr val="000000"/>
                </a:solidFill>
                <a:latin typeface="Helvetica Neue"/>
                <a:ea typeface="Helvetica Neue"/>
                <a:cs typeface="Helvetica Neue"/>
              </a:defRPr>
            </a:pPr>
            <a:r>
              <a:rPr sz="4950" b="1">
                <a:solidFill>
                  <a:srgbClr val="000000"/>
                </a:solidFill>
                <a:latin typeface="Helvetica Neue"/>
                <a:ea typeface="Helvetica Neue"/>
                <a:cs typeface="Helvetica Neue"/>
              </a:rPr>
              <a:t>One learning loop.</a:t>
            </a:r>
          </a:p>
        </p:txBody>
      </p:sp>
      <p:sp>
        <p:nvSpPr>
          <p:cNvPr id="4" name="cover-subtitle">
            <a:extLst xmlns:a="http://schemas.openxmlformats.org/drawingml/2006/main">
              <a:ext uri="{FF2B5EF4-FFF2-40B4-BE49-F238E27FC236}">
                <a16:creationId xmlns:a16="http://schemas.microsoft.com/office/drawing/2014/main" id="{8C4B8F0D-665F-4B29-BF0F-2F27EB244EFE}"/>
              </a:ext>
            </a:extLst>
          </p:cNvPr>
          <p:cNvSpPr>
            <a:spLocks xmlns:a="http://schemas.openxmlformats.org/drawingml/2006/main" noGrp="1"/>
          </p:cNvSpPr>
          <p:nvPr/>
        </p:nvSpPr>
        <p:spPr>
          <a:xfrm xmlns:a="http://schemas.openxmlformats.org/drawingml/2006/main">
            <a:off x="571500" y="4762500"/>
            <a:ext cx="762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a:solidFill>
                  <a:srgbClr val="5F6368"/>
                </a:solidFill>
                <a:latin typeface="Helvetica Neue"/>
                <a:ea typeface="Helvetica Neue"/>
                <a:cs typeface="Helvetica Neue"/>
              </a:defRPr>
            </a:pPr>
            <a:r>
              <a:rPr sz="1950" b="0">
                <a:solidFill>
                  <a:srgbClr val="5F6368"/>
                </a:solidFill>
                <a:latin typeface="Helvetica Neue"/>
                <a:ea typeface="Helvetica Neue"/>
                <a:cs typeface="Helvetica Neue"/>
              </a:rPr>
              <a:t>A complete ATO-01 walkthrough across the Red Team Agent, Blue Team and Referee</a:t>
            </a:r>
          </a:p>
        </p:txBody>
      </p:sp>
      <p:sp>
        <p:nvSpPr>
          <p:cNvPr id="5" name="cover-footer">
            <a:extLst xmlns:a="http://schemas.openxmlformats.org/drawingml/2006/main">
              <a:ext uri="{FF2B5EF4-FFF2-40B4-BE49-F238E27FC236}">
                <a16:creationId xmlns:a16="http://schemas.microsoft.com/office/drawing/2014/main" id="{02A408A7-D1B0-4A36-9872-B90A213DB61A}"/>
              </a:ext>
            </a:extLst>
          </p:cNvPr>
          <p:cNvSpPr>
            <a:spLocks xmlns:a="http://schemas.openxmlformats.org/drawingml/2006/main" noGrp="1"/>
          </p:cNvSpPr>
          <p:nvPr/>
        </p:nvSpPr>
        <p:spPr>
          <a:xfrm xmlns:a="http://schemas.openxmlformats.org/drawingml/2006/main">
            <a:off x="571500" y="61531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a:solidFill>
                  <a:srgbClr val="5F6368"/>
                </a:solidFill>
                <a:latin typeface="Helvetica Neue"/>
                <a:ea typeface="Helvetica Neue"/>
                <a:cs typeface="Helvetica Neue"/>
              </a:defRPr>
            </a:pPr>
            <a:r>
              <a:rPr sz="1200" b="0">
                <a:solidFill>
                  <a:srgbClr val="5F6368"/>
                </a:solidFill>
                <a:latin typeface="Helvetica Neue"/>
                <a:ea typeface="Helvetica Neue"/>
                <a:cs typeface="Helvetica Neue"/>
              </a:rPr>
              <a:t>Synthetic example · Mastercard Innovation Challenge 2026</a:t>
            </a:r>
          </a:p>
        </p:txBody>
      </p:sp>
    </p:spTree>
    <p:extLst>
      <p:ext uri="{BB962C8B-B14F-4D97-AF65-F5344CB8AC3E}">
        <p14:creationId xmlns:p14="http://schemas.microsoft.com/office/powerpoint/2010/main" val="14878932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2">
            <a:extLst xmlns:a="http://schemas.openxmlformats.org/drawingml/2006/main">
              <a:ext uri="{FF2B5EF4-FFF2-40B4-BE49-F238E27FC236}">
                <a16:creationId xmlns:a16="http://schemas.microsoft.com/office/drawing/2014/main" id="{AA1C6FAC-44D2-463F-8049-1031B6BD60C7}"/>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2">
            <a:extLst xmlns:a="http://schemas.openxmlformats.org/drawingml/2006/main">
              <a:ext uri="{FF2B5EF4-FFF2-40B4-BE49-F238E27FC236}">
                <a16:creationId xmlns:a16="http://schemas.microsoft.com/office/drawing/2014/main" id="{5FC9A131-E718-4AC3-AAD6-C1AEFB4FA155}"/>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Meet the synthetic account at the center of the test</a:t>
            </a:r>
          </a:p>
        </p:txBody>
      </p:sp>
      <p:sp>
        <p:nvSpPr>
          <p:cNvPr id="3" name="header-rule-2">
            <a:extLst xmlns:a="http://schemas.openxmlformats.org/drawingml/2006/main">
              <a:ext uri="{FF2B5EF4-FFF2-40B4-BE49-F238E27FC236}">
                <a16:creationId xmlns:a16="http://schemas.microsoft.com/office/drawing/2014/main" id="{B2209585-820F-48D0-8B6C-A9AD229EC73F}"/>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2">
            <a:extLst xmlns:a="http://schemas.openxmlformats.org/drawingml/2006/main">
              <a:ext uri="{FF2B5EF4-FFF2-40B4-BE49-F238E27FC236}">
                <a16:creationId xmlns:a16="http://schemas.microsoft.com/office/drawing/2014/main" id="{51417188-7C4A-4D1C-84C2-DBA8F32D73E4}"/>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2</a:t>
            </a:r>
          </a:p>
        </p:txBody>
      </p:sp>
      <p:sp>
        <p:nvSpPr>
          <p:cNvPr id="5" name="synthetic-account-field">
            <a:extLst xmlns:a="http://schemas.openxmlformats.org/drawingml/2006/main">
              <a:ext uri="{FF2B5EF4-FFF2-40B4-BE49-F238E27FC236}">
                <a16:creationId xmlns:a16="http://schemas.microsoft.com/office/drawing/2014/main" id="{30E45234-FABD-4044-91D2-754DDE5D0908}"/>
              </a:ext>
            </a:extLst>
          </p:cNvPr>
          <p:cNvSpPr>
            <a:spLocks xmlns:a="http://schemas.openxmlformats.org/drawingml/2006/main" noGrp="1"/>
          </p:cNvSpPr>
          <p:nvPr/>
        </p:nvSpPr>
        <p:spPr>
          <a:xfrm xmlns:a="http://schemas.openxmlformats.org/drawingml/2006/main">
            <a:off x="533400" y="1581150"/>
            <a:ext cx="4000500" cy="432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6" name="synthetic-label">
            <a:extLst xmlns:a="http://schemas.openxmlformats.org/drawingml/2006/main">
              <a:ext uri="{FF2B5EF4-FFF2-40B4-BE49-F238E27FC236}">
                <a16:creationId xmlns:a16="http://schemas.microsoft.com/office/drawing/2014/main" id="{37E40345-DD30-4C64-91D5-9B44918C7AA4}"/>
              </a:ext>
            </a:extLst>
          </p:cNvPr>
          <p:cNvSpPr>
            <a:spLocks xmlns:a="http://schemas.openxmlformats.org/drawingml/2006/main" noGrp="1"/>
          </p:cNvSpPr>
          <p:nvPr/>
        </p:nvSpPr>
        <p:spPr>
          <a:xfrm xmlns:a="http://schemas.openxmlformats.org/drawingml/2006/main">
            <a:off x="819150" y="18669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6DCBF4"/>
                </a:solidFill>
                <a:latin typeface="Helvetica Neue"/>
                <a:ea typeface="Helvetica Neue"/>
                <a:cs typeface="Helvetica Neue"/>
              </a:defRPr>
            </a:pPr>
            <a:r>
              <a:rPr sz="1050" b="1">
                <a:solidFill>
                  <a:srgbClr val="6DCBF4"/>
                </a:solidFill>
                <a:latin typeface="Helvetica Neue"/>
                <a:ea typeface="Helvetica Neue"/>
                <a:cs typeface="Helvetica Neue"/>
              </a:rPr>
              <a:t>SYNTHETIC CUSTOMER</a:t>
            </a:r>
          </a:p>
        </p:txBody>
      </p:sp>
      <p:sp>
        <p:nvSpPr>
          <p:cNvPr id="7" name="synthetic-id">
            <a:extLst xmlns:a="http://schemas.openxmlformats.org/drawingml/2006/main">
              <a:ext uri="{FF2B5EF4-FFF2-40B4-BE49-F238E27FC236}">
                <a16:creationId xmlns:a16="http://schemas.microsoft.com/office/drawing/2014/main" id="{96B7BDB8-870A-4A95-B0D8-A87995EFDCD0}"/>
              </a:ext>
            </a:extLst>
          </p:cNvPr>
          <p:cNvSpPr>
            <a:spLocks xmlns:a="http://schemas.openxmlformats.org/drawingml/2006/main" noGrp="1"/>
          </p:cNvSpPr>
          <p:nvPr/>
        </p:nvSpPr>
        <p:spPr>
          <a:xfrm xmlns:a="http://schemas.openxmlformats.org/drawingml/2006/main">
            <a:off x="819150" y="247650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syn_sender_</a:t>
            </a:r>
          </a:p>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613087</a:t>
            </a:r>
          </a:p>
        </p:txBody>
      </p:sp>
      <p:sp>
        <p:nvSpPr>
          <p:cNvPr id="8" name="synthetic-baseline">
            <a:extLst xmlns:a="http://schemas.openxmlformats.org/drawingml/2006/main">
              <a:ext uri="{FF2B5EF4-FFF2-40B4-BE49-F238E27FC236}">
                <a16:creationId xmlns:a16="http://schemas.microsoft.com/office/drawing/2014/main" id="{111557B3-D239-4D92-8FA0-FA31C7A9C9E4}"/>
              </a:ext>
            </a:extLst>
          </p:cNvPr>
          <p:cNvSpPr>
            <a:spLocks xmlns:a="http://schemas.openxmlformats.org/drawingml/2006/main" noGrp="1"/>
          </p:cNvSpPr>
          <p:nvPr/>
        </p:nvSpPr>
        <p:spPr>
          <a:xfrm xmlns:a="http://schemas.openxmlformats.org/drawingml/2006/main">
            <a:off x="819150" y="4648200"/>
            <a:ext cx="295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Normal payment baseline</a:t>
            </a:r>
          </a:p>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INR 10,000</a:t>
            </a:r>
          </a:p>
        </p:txBody>
      </p:sp>
      <p:sp>
        <p:nvSpPr>
          <p:cNvPr id="9" name="fact-label-0">
            <a:extLst xmlns:a="http://schemas.openxmlformats.org/drawingml/2006/main">
              <a:ext uri="{FF2B5EF4-FFF2-40B4-BE49-F238E27FC236}">
                <a16:creationId xmlns:a16="http://schemas.microsoft.com/office/drawing/2014/main" id="{2A791C30-6CE2-4DAF-9160-647C9FCCADA0}"/>
              </a:ext>
            </a:extLst>
          </p:cNvPr>
          <p:cNvSpPr>
            <a:spLocks xmlns:a="http://schemas.openxmlformats.org/drawingml/2006/main" noGrp="1"/>
          </p:cNvSpPr>
          <p:nvPr/>
        </p:nvSpPr>
        <p:spPr>
          <a:xfrm xmlns:a="http://schemas.openxmlformats.org/drawingml/2006/main">
            <a:off x="5048250" y="16764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ATTACK FAMILY</a:t>
            </a:r>
          </a:p>
        </p:txBody>
      </p:sp>
      <p:sp>
        <p:nvSpPr>
          <p:cNvPr id="10" name="fact-value-0">
            <a:extLst xmlns:a="http://schemas.openxmlformats.org/drawingml/2006/main">
              <a:ext uri="{FF2B5EF4-FFF2-40B4-BE49-F238E27FC236}">
                <a16:creationId xmlns:a16="http://schemas.microsoft.com/office/drawing/2014/main" id="{17B64C92-BD46-435F-BD88-F93CD98AF8EC}"/>
              </a:ext>
            </a:extLst>
          </p:cNvPr>
          <p:cNvSpPr>
            <a:spLocks xmlns:a="http://schemas.openxmlformats.org/drawingml/2006/main" noGrp="1"/>
          </p:cNvSpPr>
          <p:nvPr/>
        </p:nvSpPr>
        <p:spPr>
          <a:xfrm xmlns:a="http://schemas.openxmlformats.org/drawingml/2006/main">
            <a:off x="5048250" y="19431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444"/>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ATO-01</a:t>
            </a:r>
          </a:p>
        </p:txBody>
      </p:sp>
      <p:sp>
        <p:nvSpPr>
          <p:cNvPr id="11" name="fact-detail-0">
            <a:extLst xmlns:a="http://schemas.openxmlformats.org/drawingml/2006/main">
              <a:ext uri="{FF2B5EF4-FFF2-40B4-BE49-F238E27FC236}">
                <a16:creationId xmlns:a16="http://schemas.microsoft.com/office/drawing/2014/main" id="{66C1084F-80DA-44DA-AEE8-01F364A991EA}"/>
              </a:ext>
            </a:extLst>
          </p:cNvPr>
          <p:cNvSpPr>
            <a:spLocks xmlns:a="http://schemas.openxmlformats.org/drawingml/2006/main" noGrp="1"/>
          </p:cNvSpPr>
          <p:nvPr/>
        </p:nvSpPr>
        <p:spPr>
          <a:xfrm xmlns:a="http://schemas.openxmlformats.org/drawingml/2006/main">
            <a:off x="5048250" y="24003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0">
                <a:solidFill>
                  <a:srgbClr val="5F6368"/>
                </a:solidFill>
                <a:latin typeface="Helvetica Neue"/>
                <a:ea typeface="Helvetica Neue"/>
                <a:cs typeface="Helvetica Neue"/>
              </a:defRPr>
            </a:pPr>
            <a:r>
              <a:rPr sz="1500" b="0">
                <a:solidFill>
                  <a:srgbClr val="5F6368"/>
                </a:solidFill>
                <a:latin typeface="Helvetica Neue"/>
                <a:ea typeface="Helvetica Neue"/>
                <a:cs typeface="Helvetica Neue"/>
              </a:rPr>
              <a:t>Novel session → rapid transfer</a:t>
            </a:r>
          </a:p>
        </p:txBody>
      </p:sp>
      <p:sp>
        <p:nvSpPr>
          <p:cNvPr id="12" name="fact-rule-0">
            <a:extLst xmlns:a="http://schemas.openxmlformats.org/drawingml/2006/main">
              <a:ext uri="{FF2B5EF4-FFF2-40B4-BE49-F238E27FC236}">
                <a16:creationId xmlns:a16="http://schemas.microsoft.com/office/drawing/2014/main" id="{8BB505FF-9A94-402C-A968-09DC57162C5C}"/>
              </a:ext>
            </a:extLst>
          </p:cNvPr>
          <p:cNvSpPr>
            <a:spLocks xmlns:a="http://schemas.openxmlformats.org/drawingml/2006/main" noGrp="1"/>
          </p:cNvSpPr>
          <p:nvPr/>
        </p:nvSpPr>
        <p:spPr>
          <a:xfrm xmlns:a="http://schemas.openxmlformats.org/drawingml/2006/main">
            <a:off x="5048250" y="2838450"/>
            <a:ext cx="6191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ct-label-1">
            <a:extLst xmlns:a="http://schemas.openxmlformats.org/drawingml/2006/main">
              <a:ext uri="{FF2B5EF4-FFF2-40B4-BE49-F238E27FC236}">
                <a16:creationId xmlns:a16="http://schemas.microsoft.com/office/drawing/2014/main" id="{17607558-8DCD-43F5-8679-84C40FBFFD8D}"/>
              </a:ext>
            </a:extLst>
          </p:cNvPr>
          <p:cNvSpPr>
            <a:spLocks xmlns:a="http://schemas.openxmlformats.org/drawingml/2006/main" noGrp="1"/>
          </p:cNvSpPr>
          <p:nvPr/>
        </p:nvSpPr>
        <p:spPr>
          <a:xfrm xmlns:a="http://schemas.openxmlformats.org/drawingml/2006/main">
            <a:off x="5048250" y="30099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DIFFICULTY</a:t>
            </a:r>
          </a:p>
        </p:txBody>
      </p:sp>
      <p:sp>
        <p:nvSpPr>
          <p:cNvPr id="14" name="fact-value-1">
            <a:extLst xmlns:a="http://schemas.openxmlformats.org/drawingml/2006/main">
              <a:ext uri="{FF2B5EF4-FFF2-40B4-BE49-F238E27FC236}">
                <a16:creationId xmlns:a16="http://schemas.microsoft.com/office/drawing/2014/main" id="{46DD83A4-BBDE-400F-AA06-207F19C42432}"/>
              </a:ext>
            </a:extLst>
          </p:cNvPr>
          <p:cNvSpPr>
            <a:spLocks xmlns:a="http://schemas.openxmlformats.org/drawingml/2006/main" noGrp="1"/>
          </p:cNvSpPr>
          <p:nvPr/>
        </p:nvSpPr>
        <p:spPr>
          <a:xfrm xmlns:a="http://schemas.openxmlformats.org/drawingml/2006/main">
            <a:off x="5048250" y="32766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444"/>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Medium</a:t>
            </a:r>
          </a:p>
        </p:txBody>
      </p:sp>
      <p:sp>
        <p:nvSpPr>
          <p:cNvPr id="15" name="fact-detail-1">
            <a:extLst xmlns:a="http://schemas.openxmlformats.org/drawingml/2006/main">
              <a:ext uri="{FF2B5EF4-FFF2-40B4-BE49-F238E27FC236}">
                <a16:creationId xmlns:a16="http://schemas.microsoft.com/office/drawing/2014/main" id="{D2B77F60-DC1C-4E4D-A785-DB73AE017BAB}"/>
              </a:ext>
            </a:extLst>
          </p:cNvPr>
          <p:cNvSpPr>
            <a:spLocks xmlns:a="http://schemas.openxmlformats.org/drawingml/2006/main" noGrp="1"/>
          </p:cNvSpPr>
          <p:nvPr/>
        </p:nvSpPr>
        <p:spPr>
          <a:xfrm xmlns:a="http://schemas.openxmlformats.org/drawingml/2006/main">
            <a:off x="5048250" y="37338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0">
                <a:solidFill>
                  <a:srgbClr val="5F6368"/>
                </a:solidFill>
                <a:latin typeface="Helvetica Neue"/>
                <a:ea typeface="Helvetica Neue"/>
                <a:cs typeface="Helvetica Neue"/>
              </a:defRPr>
            </a:pPr>
            <a:r>
              <a:rPr sz="1500" b="0">
                <a:solidFill>
                  <a:srgbClr val="5F6368"/>
                </a:solidFill>
                <a:latin typeface="Helvetica Neue"/>
                <a:ea typeface="Helvetica Neue"/>
                <a:cs typeface="Helvetica Neue"/>
              </a:rPr>
              <a:t>Some obvious signals; some camouflage</a:t>
            </a:r>
          </a:p>
        </p:txBody>
      </p:sp>
      <p:sp>
        <p:nvSpPr>
          <p:cNvPr id="16" name="fact-rule-1">
            <a:extLst xmlns:a="http://schemas.openxmlformats.org/drawingml/2006/main">
              <a:ext uri="{FF2B5EF4-FFF2-40B4-BE49-F238E27FC236}">
                <a16:creationId xmlns:a16="http://schemas.microsoft.com/office/drawing/2014/main" id="{87759BEE-FD55-4863-9308-6A68E0D3A842}"/>
              </a:ext>
            </a:extLst>
          </p:cNvPr>
          <p:cNvSpPr>
            <a:spLocks xmlns:a="http://schemas.openxmlformats.org/drawingml/2006/main" noGrp="1"/>
          </p:cNvSpPr>
          <p:nvPr/>
        </p:nvSpPr>
        <p:spPr>
          <a:xfrm xmlns:a="http://schemas.openxmlformats.org/drawingml/2006/main">
            <a:off x="5048250" y="4171950"/>
            <a:ext cx="6191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fact-label-2">
            <a:extLst xmlns:a="http://schemas.openxmlformats.org/drawingml/2006/main">
              <a:ext uri="{FF2B5EF4-FFF2-40B4-BE49-F238E27FC236}">
                <a16:creationId xmlns:a16="http://schemas.microsoft.com/office/drawing/2014/main" id="{D982B13A-9896-4B21-B3C8-14BA62FCD9CC}"/>
              </a:ext>
            </a:extLst>
          </p:cNvPr>
          <p:cNvSpPr>
            <a:spLocks xmlns:a="http://schemas.openxmlformats.org/drawingml/2006/main" noGrp="1"/>
          </p:cNvSpPr>
          <p:nvPr/>
        </p:nvSpPr>
        <p:spPr>
          <a:xfrm xmlns:a="http://schemas.openxmlformats.org/drawingml/2006/main">
            <a:off x="5048250" y="43434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RED OBJECTIVE</a:t>
            </a:r>
          </a:p>
        </p:txBody>
      </p:sp>
      <p:sp>
        <p:nvSpPr>
          <p:cNvPr id="18" name="fact-value-2">
            <a:extLst xmlns:a="http://schemas.openxmlformats.org/drawingml/2006/main">
              <a:ext uri="{FF2B5EF4-FFF2-40B4-BE49-F238E27FC236}">
                <a16:creationId xmlns:a16="http://schemas.microsoft.com/office/drawing/2014/main" id="{6F1A0FA1-D2D5-4F06-9EC8-4A390BDABD72}"/>
              </a:ext>
            </a:extLst>
          </p:cNvPr>
          <p:cNvSpPr>
            <a:spLocks xmlns:a="http://schemas.openxmlformats.org/drawingml/2006/main" noGrp="1"/>
          </p:cNvSpPr>
          <p:nvPr/>
        </p:nvSpPr>
        <p:spPr>
          <a:xfrm xmlns:a="http://schemas.openxmlformats.org/drawingml/2006/main">
            <a:off x="5048250" y="46101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444"/>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Stop Blue from intervening</a:t>
            </a:r>
          </a:p>
        </p:txBody>
      </p:sp>
      <p:sp>
        <p:nvSpPr>
          <p:cNvPr id="19" name="fact-detail-2">
            <a:extLst xmlns:a="http://schemas.openxmlformats.org/drawingml/2006/main">
              <a:ext uri="{FF2B5EF4-FFF2-40B4-BE49-F238E27FC236}">
                <a16:creationId xmlns:a16="http://schemas.microsoft.com/office/drawing/2014/main" id="{687A271A-8B05-4E7B-B851-454022A589DC}"/>
              </a:ext>
            </a:extLst>
          </p:cNvPr>
          <p:cNvSpPr>
            <a:spLocks xmlns:a="http://schemas.openxmlformats.org/drawingml/2006/main" noGrp="1"/>
          </p:cNvSpPr>
          <p:nvPr/>
        </p:nvSpPr>
        <p:spPr>
          <a:xfrm xmlns:a="http://schemas.openxmlformats.org/drawingml/2006/main">
            <a:off x="5048250" y="50673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0">
                <a:solidFill>
                  <a:srgbClr val="5F6368"/>
                </a:solidFill>
                <a:latin typeface="Helvetica Neue"/>
                <a:ea typeface="Helvetica Neue"/>
                <a:cs typeface="Helvetica Neue"/>
              </a:defRPr>
            </a:pPr>
            <a:r>
              <a:rPr sz="1500" b="0">
                <a:solidFill>
                  <a:srgbClr val="5F6368"/>
                </a:solidFill>
                <a:latin typeface="Helvetica Neue"/>
                <a:ea typeface="Helvetica Neue"/>
                <a:cs typeface="Helvetica Neue"/>
              </a:rPr>
              <a:t>Before INR 50,000 reaches the receiver</a:t>
            </a:r>
          </a:p>
        </p:txBody>
      </p:sp>
    </p:spTree>
    <p:extLst>
      <p:ext uri="{BB962C8B-B14F-4D97-AF65-F5344CB8AC3E}">
        <p14:creationId xmlns:p14="http://schemas.microsoft.com/office/powerpoint/2010/main" val="11990636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eyebrow-3">
            <a:extLst xmlns:a="http://schemas.openxmlformats.org/drawingml/2006/main">
              <a:ext uri="{FF2B5EF4-FFF2-40B4-BE49-F238E27FC236}">
                <a16:creationId xmlns:a16="http://schemas.microsoft.com/office/drawing/2014/main" id="{43A7D5DD-6066-4530-AEB6-5A67B85D22CB}"/>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3">
            <a:extLst xmlns:a="http://schemas.openxmlformats.org/drawingml/2006/main">
              <a:ext uri="{FF2B5EF4-FFF2-40B4-BE49-F238E27FC236}">
                <a16:creationId xmlns:a16="http://schemas.microsoft.com/office/drawing/2014/main" id="{17388E8B-D0F0-4FBA-929A-5002E0DAA662}"/>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The system separates planning, defense and judgment</a:t>
            </a:r>
          </a:p>
        </p:txBody>
      </p:sp>
      <p:sp>
        <p:nvSpPr>
          <p:cNvPr id="3" name="header-rule-3">
            <a:extLst xmlns:a="http://schemas.openxmlformats.org/drawingml/2006/main">
              <a:ext uri="{FF2B5EF4-FFF2-40B4-BE49-F238E27FC236}">
                <a16:creationId xmlns:a16="http://schemas.microsoft.com/office/drawing/2014/main" id="{0F49391E-E0FD-453C-882A-B2415C5DEA0B}"/>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3">
            <a:extLst xmlns:a="http://schemas.openxmlformats.org/drawingml/2006/main">
              <a:ext uri="{FF2B5EF4-FFF2-40B4-BE49-F238E27FC236}">
                <a16:creationId xmlns:a16="http://schemas.microsoft.com/office/drawing/2014/main" id="{E42105FD-DDC9-4362-9430-DCD7BDB380C9}"/>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3</a:t>
            </a:r>
          </a:p>
        </p:txBody>
      </p:sp>
      <p:sp>
        <p:nvSpPr>
          <p:cNvPr id="5" name="architecture-arrow-0">
            <a:extLst xmlns:a="http://schemas.openxmlformats.org/drawingml/2006/main">
              <a:ext uri="{FF2B5EF4-FFF2-40B4-BE49-F238E27FC236}">
                <a16:creationId xmlns:a16="http://schemas.microsoft.com/office/drawing/2014/main" id="{DBCA1982-90DE-43C1-91E1-B3BB9B9EE310}"/>
              </a:ext>
            </a:extLst>
          </p:cNvPr>
          <p:cNvSpPr>
            <a:spLocks xmlns:a="http://schemas.openxmlformats.org/drawingml/2006/main" noGrp="1"/>
          </p:cNvSpPr>
          <p:nvPr/>
        </p:nvSpPr>
        <p:spPr>
          <a:xfrm xmlns:a="http://schemas.openxmlformats.org/drawingml/2006/main">
            <a:off x="2228850" y="2905125"/>
            <a:ext cx="666750" cy="381000"/>
          </a:xfrm>
          <a:prstGeom xmlns:a="http://schemas.openxmlformats.org/drawingml/2006/main" prst="rightArrow">
            <a:avLst/>
          </a:prstGeom>
          <a:solidFill xmlns:a="http://schemas.openxmlformats.org/drawingml/2006/main">
            <a:srgbClr val="D0EDFA"/>
          </a:solidFill>
          <a:ln xmlns:a="http://schemas.openxmlformats.org/drawingml/2006/main" w="0">
            <a:noFill/>
            <a:prstDash val="solid"/>
          </a:ln>
        </p:spPr>
      </p:sp>
      <p:sp>
        <p:nvSpPr>
          <p:cNvPr id="6" name="architecture-arrow-1">
            <a:extLst xmlns:a="http://schemas.openxmlformats.org/drawingml/2006/main">
              <a:ext uri="{FF2B5EF4-FFF2-40B4-BE49-F238E27FC236}">
                <a16:creationId xmlns:a16="http://schemas.microsoft.com/office/drawing/2014/main" id="{526942D8-7D3B-49BC-A872-2B5731BC3544}"/>
              </a:ext>
            </a:extLst>
          </p:cNvPr>
          <p:cNvSpPr>
            <a:spLocks xmlns:a="http://schemas.openxmlformats.org/drawingml/2006/main" noGrp="1"/>
          </p:cNvSpPr>
          <p:nvPr/>
        </p:nvSpPr>
        <p:spPr>
          <a:xfrm xmlns:a="http://schemas.openxmlformats.org/drawingml/2006/main">
            <a:off x="4457700" y="2905125"/>
            <a:ext cx="666750" cy="381000"/>
          </a:xfrm>
          <a:prstGeom xmlns:a="http://schemas.openxmlformats.org/drawingml/2006/main" prst="rightArrow">
            <a:avLst/>
          </a:prstGeom>
          <a:solidFill xmlns:a="http://schemas.openxmlformats.org/drawingml/2006/main">
            <a:srgbClr val="D0EDFA"/>
          </a:solidFill>
          <a:ln xmlns:a="http://schemas.openxmlformats.org/drawingml/2006/main" w="0">
            <a:noFill/>
            <a:prstDash val="solid"/>
          </a:ln>
        </p:spPr>
      </p:sp>
      <p:sp>
        <p:nvSpPr>
          <p:cNvPr id="7" name="architecture-arrow-2">
            <a:extLst xmlns:a="http://schemas.openxmlformats.org/drawingml/2006/main">
              <a:ext uri="{FF2B5EF4-FFF2-40B4-BE49-F238E27FC236}">
                <a16:creationId xmlns:a16="http://schemas.microsoft.com/office/drawing/2014/main" id="{7C143CB9-8269-4BE7-930F-ECE8FB9C89B9}"/>
              </a:ext>
            </a:extLst>
          </p:cNvPr>
          <p:cNvSpPr>
            <a:spLocks xmlns:a="http://schemas.openxmlformats.org/drawingml/2006/main" noGrp="1"/>
          </p:cNvSpPr>
          <p:nvPr/>
        </p:nvSpPr>
        <p:spPr>
          <a:xfrm xmlns:a="http://schemas.openxmlformats.org/drawingml/2006/main">
            <a:off x="6686550" y="2905125"/>
            <a:ext cx="666750" cy="381000"/>
          </a:xfrm>
          <a:prstGeom xmlns:a="http://schemas.openxmlformats.org/drawingml/2006/main" prst="rightArrow">
            <a:avLst/>
          </a:prstGeom>
          <a:solidFill xmlns:a="http://schemas.openxmlformats.org/drawingml/2006/main">
            <a:srgbClr val="D0EDFA"/>
          </a:solidFill>
          <a:ln xmlns:a="http://schemas.openxmlformats.org/drawingml/2006/main" w="0">
            <a:noFill/>
            <a:prstDash val="solid"/>
          </a:ln>
        </p:spPr>
      </p:sp>
      <p:sp>
        <p:nvSpPr>
          <p:cNvPr id="8" name="architecture-arrow-3">
            <a:extLst xmlns:a="http://schemas.openxmlformats.org/drawingml/2006/main">
              <a:ext uri="{FF2B5EF4-FFF2-40B4-BE49-F238E27FC236}">
                <a16:creationId xmlns:a16="http://schemas.microsoft.com/office/drawing/2014/main" id="{576E56B2-9A68-4C0E-8CA6-F0CE60A56321}"/>
              </a:ext>
            </a:extLst>
          </p:cNvPr>
          <p:cNvSpPr>
            <a:spLocks xmlns:a="http://schemas.openxmlformats.org/drawingml/2006/main" noGrp="1"/>
          </p:cNvSpPr>
          <p:nvPr/>
        </p:nvSpPr>
        <p:spPr>
          <a:xfrm xmlns:a="http://schemas.openxmlformats.org/drawingml/2006/main">
            <a:off x="8915400" y="2905125"/>
            <a:ext cx="666750" cy="381000"/>
          </a:xfrm>
          <a:prstGeom xmlns:a="http://schemas.openxmlformats.org/drawingml/2006/main" prst="rightArrow">
            <a:avLst/>
          </a:prstGeom>
          <a:solidFill xmlns:a="http://schemas.openxmlformats.org/drawingml/2006/main">
            <a:srgbClr val="D0EDFA"/>
          </a:solidFill>
          <a:ln xmlns:a="http://schemas.openxmlformats.org/drawingml/2006/main" w="0">
            <a:noFill/>
            <a:prstDash val="solid"/>
          </a:ln>
        </p:spPr>
      </p:sp>
      <p:sp>
        <p:nvSpPr>
          <p:cNvPr id="9" name="feedback-arrow">
            <a:extLst xmlns:a="http://schemas.openxmlformats.org/drawingml/2006/main">
              <a:ext uri="{FF2B5EF4-FFF2-40B4-BE49-F238E27FC236}">
                <a16:creationId xmlns:a16="http://schemas.microsoft.com/office/drawing/2014/main" id="{FB9557D6-5423-4431-9067-D71C45D46912}"/>
              </a:ext>
            </a:extLst>
          </p:cNvPr>
          <p:cNvSpPr>
            <a:spLocks xmlns:a="http://schemas.openxmlformats.org/drawingml/2006/main" noGrp="1"/>
          </p:cNvSpPr>
          <p:nvPr/>
        </p:nvSpPr>
        <p:spPr>
          <a:xfrm xmlns:a="http://schemas.openxmlformats.org/drawingml/2006/main">
            <a:off x="3000375" y="4762500"/>
            <a:ext cx="7524750" cy="457200"/>
          </a:xfrm>
          <a:prstGeom xmlns:a="http://schemas.openxmlformats.org/drawingml/2006/main" prst="leftArrow">
            <a:avLst/>
          </a:prstGeom>
          <a:solidFill xmlns:a="http://schemas.openxmlformats.org/drawingml/2006/main">
            <a:srgbClr val="EDEDED"/>
          </a:solidFill>
          <a:ln xmlns:a="http://schemas.openxmlformats.org/drawingml/2006/main" w="0">
            <a:noFill/>
            <a:prstDash val="solid"/>
          </a:ln>
        </p:spPr>
      </p:sp>
      <p:sp>
        <p:nvSpPr>
          <p:cNvPr id="10" name="feedback-arrow-label">
            <a:extLst xmlns:a="http://schemas.openxmlformats.org/drawingml/2006/main">
              <a:ext uri="{FF2B5EF4-FFF2-40B4-BE49-F238E27FC236}">
                <a16:creationId xmlns:a16="http://schemas.microsoft.com/office/drawing/2014/main" id="{BFE70732-A603-477A-AE6F-479C897ED3B3}"/>
              </a:ext>
            </a:extLst>
          </p:cNvPr>
          <p:cNvSpPr>
            <a:spLocks xmlns:a="http://schemas.openxmlformats.org/drawingml/2006/main" noGrp="1"/>
          </p:cNvSpPr>
          <p:nvPr/>
        </p:nvSpPr>
        <p:spPr>
          <a:xfrm xmlns:a="http://schemas.openxmlformats.org/drawingml/2006/main">
            <a:off x="4381500" y="48672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ctr">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Only coarse outcome feedback returns to Red</a:t>
            </a:r>
          </a:p>
        </p:txBody>
      </p:sp>
      <p:sp>
        <p:nvSpPr>
          <p:cNvPr id="11" name="architecture-node-0">
            <a:extLst xmlns:a="http://schemas.openxmlformats.org/drawingml/2006/main">
              <a:ext uri="{FF2B5EF4-FFF2-40B4-BE49-F238E27FC236}">
                <a16:creationId xmlns:a16="http://schemas.microsoft.com/office/drawing/2014/main" id="{45560A8B-1E07-4AA3-BA77-DF8528921305}"/>
              </a:ext>
            </a:extLst>
          </p:cNvPr>
          <p:cNvSpPr>
            <a:spLocks xmlns:a="http://schemas.openxmlformats.org/drawingml/2006/main" noGrp="1"/>
          </p:cNvSpPr>
          <p:nvPr/>
        </p:nvSpPr>
        <p:spPr>
          <a:xfrm xmlns:a="http://schemas.openxmlformats.org/drawingml/2006/main">
            <a:off x="533400" y="2381250"/>
            <a:ext cx="1809750" cy="14287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2" name="architecture-node-title-0">
            <a:extLst xmlns:a="http://schemas.openxmlformats.org/drawingml/2006/main">
              <a:ext uri="{FF2B5EF4-FFF2-40B4-BE49-F238E27FC236}">
                <a16:creationId xmlns:a16="http://schemas.microsoft.com/office/drawing/2014/main" id="{85D4D699-88EF-4CE8-B413-918F8D2915C0}"/>
              </a:ext>
            </a:extLst>
          </p:cNvPr>
          <p:cNvSpPr>
            <a:spLocks xmlns:a="http://schemas.openxmlformats.org/drawingml/2006/main" noGrp="1"/>
          </p:cNvSpPr>
          <p:nvPr/>
        </p:nvSpPr>
        <p:spPr>
          <a:xfrm xmlns:a="http://schemas.openxmlformats.org/drawingml/2006/main">
            <a:off x="704850" y="25717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Evidence</a:t>
            </a:r>
          </a:p>
        </p:txBody>
      </p:sp>
      <p:sp>
        <p:nvSpPr>
          <p:cNvPr id="13" name="architecture-node-body-0">
            <a:extLst xmlns:a="http://schemas.openxmlformats.org/drawingml/2006/main">
              <a:ext uri="{FF2B5EF4-FFF2-40B4-BE49-F238E27FC236}">
                <a16:creationId xmlns:a16="http://schemas.microsoft.com/office/drawing/2014/main" id="{CFCF1887-1FAA-44D6-8C25-80143602956C}"/>
              </a:ext>
            </a:extLst>
          </p:cNvPr>
          <p:cNvSpPr>
            <a:spLocks xmlns:a="http://schemas.openxmlformats.org/drawingml/2006/main" noGrp="1"/>
          </p:cNvSpPr>
          <p:nvPr/>
        </p:nvSpPr>
        <p:spPr>
          <a:xfrm xmlns:a="http://schemas.openxmlformats.org/drawingml/2006/main">
            <a:off x="704850" y="30480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Research-backed</a:t>
            </a:r>
          </a:p>
          <a:p xmlns:a="http://schemas.openxmlformats.org/drawingml/2006/main">
            <a:pPr algn="ctr">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attack card</a:t>
            </a:r>
          </a:p>
        </p:txBody>
      </p:sp>
      <p:sp>
        <p:nvSpPr>
          <p:cNvPr id="14" name="architecture-node-1">
            <a:extLst xmlns:a="http://schemas.openxmlformats.org/drawingml/2006/main">
              <a:ext uri="{FF2B5EF4-FFF2-40B4-BE49-F238E27FC236}">
                <a16:creationId xmlns:a16="http://schemas.microsoft.com/office/drawing/2014/main" id="{48698DF4-21E2-45B8-BCDF-644717F8A0AE}"/>
              </a:ext>
            </a:extLst>
          </p:cNvPr>
          <p:cNvSpPr>
            <a:spLocks xmlns:a="http://schemas.openxmlformats.org/drawingml/2006/main" noGrp="1"/>
          </p:cNvSpPr>
          <p:nvPr/>
        </p:nvSpPr>
        <p:spPr>
          <a:xfrm xmlns:a="http://schemas.openxmlformats.org/drawingml/2006/main">
            <a:off x="2762250" y="2381250"/>
            <a:ext cx="1809750" cy="1428750"/>
          </a:xfrm>
          <a:prstGeom xmlns:a="http://schemas.openxmlformats.org/drawingml/2006/main" prst="rect">
            <a:avLst/>
          </a:prstGeom>
          <a:solidFill xmlns:a="http://schemas.openxmlformats.org/drawingml/2006/main">
            <a:srgbClr val="FBE5E5"/>
          </a:solidFill>
          <a:ln xmlns:a="http://schemas.openxmlformats.org/drawingml/2006/main" w="0">
            <a:noFill/>
            <a:prstDash val="solid"/>
          </a:ln>
        </p:spPr>
      </p:sp>
      <p:sp>
        <p:nvSpPr>
          <p:cNvPr id="15" name="architecture-node-title-1">
            <a:extLst xmlns:a="http://schemas.openxmlformats.org/drawingml/2006/main">
              <a:ext uri="{FF2B5EF4-FFF2-40B4-BE49-F238E27FC236}">
                <a16:creationId xmlns:a16="http://schemas.microsoft.com/office/drawing/2014/main" id="{32CA8449-CEF1-444C-A666-ABA2C76E6E2B}"/>
              </a:ext>
            </a:extLst>
          </p:cNvPr>
          <p:cNvSpPr>
            <a:spLocks xmlns:a="http://schemas.openxmlformats.org/drawingml/2006/main" noGrp="1"/>
          </p:cNvSpPr>
          <p:nvPr/>
        </p:nvSpPr>
        <p:spPr>
          <a:xfrm xmlns:a="http://schemas.openxmlformats.org/drawingml/2006/main">
            <a:off x="2933700" y="25717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defRPr sz="1800" b="1">
                <a:solidFill>
                  <a:srgbClr val="E85D5D"/>
                </a:solidFill>
                <a:latin typeface="Helvetica Neue"/>
                <a:ea typeface="Helvetica Neue"/>
                <a:cs typeface="Helvetica Neue"/>
              </a:defRPr>
            </a:pPr>
            <a:r>
              <a:rPr sz="1800" b="1">
                <a:solidFill>
                  <a:srgbClr val="E85D5D"/>
                </a:solidFill>
                <a:latin typeface="Helvetica Neue"/>
                <a:ea typeface="Helvetica Neue"/>
                <a:cs typeface="Helvetica Neue"/>
              </a:rPr>
              <a:t>Red Team</a:t>
            </a:r>
          </a:p>
        </p:txBody>
      </p:sp>
      <p:sp>
        <p:nvSpPr>
          <p:cNvPr id="16" name="architecture-node-body-1">
            <a:extLst xmlns:a="http://schemas.openxmlformats.org/drawingml/2006/main">
              <a:ext uri="{FF2B5EF4-FFF2-40B4-BE49-F238E27FC236}">
                <a16:creationId xmlns:a16="http://schemas.microsoft.com/office/drawing/2014/main" id="{83AECE37-1CDE-4743-B4E5-605BD44DDE35}"/>
              </a:ext>
            </a:extLst>
          </p:cNvPr>
          <p:cNvSpPr>
            <a:spLocks xmlns:a="http://schemas.openxmlformats.org/drawingml/2006/main" noGrp="1"/>
          </p:cNvSpPr>
          <p:nvPr/>
        </p:nvSpPr>
        <p:spPr>
          <a:xfrm xmlns:a="http://schemas.openxmlformats.org/drawingml/2006/main">
            <a:off x="2933700" y="30480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6"/>
          </a:bodyPr>
          <a:lstStyle xmlns:a="http://schemas.openxmlformats.org/drawingml/2006/main"/>
          <a:p xmlns:a="http://schemas.openxmlformats.org/drawingml/2006/main">
            <a:pPr algn="ctr">
              <a:defRPr sz="1275" b="0">
                <a:solidFill>
                  <a:srgbClr val="E85D5D"/>
                </a:solidFill>
                <a:latin typeface="Helvetica Neue"/>
                <a:ea typeface="Helvetica Neue"/>
                <a:cs typeface="Helvetica Neue"/>
              </a:defRPr>
            </a:pPr>
            <a:r>
              <a:rPr sz="1275" b="0">
                <a:solidFill>
                  <a:srgbClr val="E85D5D"/>
                </a:solidFill>
                <a:latin typeface="Helvetica Neue"/>
                <a:ea typeface="Helvetica Neue"/>
                <a:cs typeface="Helvetica Neue"/>
              </a:rPr>
              <a:t>Plans and compiles</a:t>
            </a:r>
          </a:p>
          <a:p xmlns:a="http://schemas.openxmlformats.org/drawingml/2006/main">
            <a:pPr algn="ctr">
              <a:defRPr sz="1275" b="0">
                <a:solidFill>
                  <a:srgbClr val="E85D5D"/>
                </a:solidFill>
                <a:latin typeface="Helvetica Neue"/>
                <a:ea typeface="Helvetica Neue"/>
                <a:cs typeface="Helvetica Neue"/>
              </a:defRPr>
            </a:pPr>
            <a:r>
              <a:rPr sz="1275" b="0">
                <a:solidFill>
                  <a:srgbClr val="E85D5D"/>
                </a:solidFill>
                <a:latin typeface="Helvetica Neue"/>
                <a:ea typeface="Helvetica Neue"/>
                <a:cs typeface="Helvetica Neue"/>
              </a:rPr>
              <a:t>a bounded scenario</a:t>
            </a:r>
          </a:p>
        </p:txBody>
      </p:sp>
      <p:sp>
        <p:nvSpPr>
          <p:cNvPr id="17" name="architecture-node-2">
            <a:extLst xmlns:a="http://schemas.openxmlformats.org/drawingml/2006/main">
              <a:ext uri="{FF2B5EF4-FFF2-40B4-BE49-F238E27FC236}">
                <a16:creationId xmlns:a16="http://schemas.microsoft.com/office/drawing/2014/main" id="{1B7CFE84-D198-428C-BB4A-EA2CA139CC8A}"/>
              </a:ext>
            </a:extLst>
          </p:cNvPr>
          <p:cNvSpPr>
            <a:spLocks xmlns:a="http://schemas.openxmlformats.org/drawingml/2006/main" noGrp="1"/>
          </p:cNvSpPr>
          <p:nvPr/>
        </p:nvSpPr>
        <p:spPr>
          <a:xfrm xmlns:a="http://schemas.openxmlformats.org/drawingml/2006/main">
            <a:off x="4991100" y="2381250"/>
            <a:ext cx="1809750" cy="1428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8" name="architecture-node-title-2">
            <a:extLst xmlns:a="http://schemas.openxmlformats.org/drawingml/2006/main">
              <a:ext uri="{FF2B5EF4-FFF2-40B4-BE49-F238E27FC236}">
                <a16:creationId xmlns:a16="http://schemas.microsoft.com/office/drawing/2014/main" id="{49011F90-B39E-4F9E-A14E-C1B953C01BB1}"/>
              </a:ext>
            </a:extLst>
          </p:cNvPr>
          <p:cNvSpPr>
            <a:spLocks xmlns:a="http://schemas.openxmlformats.org/drawingml/2006/main" noGrp="1"/>
          </p:cNvSpPr>
          <p:nvPr/>
        </p:nvSpPr>
        <p:spPr>
          <a:xfrm xmlns:a="http://schemas.openxmlformats.org/drawingml/2006/main">
            <a:off x="5162550" y="25717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Lab</a:t>
            </a:r>
          </a:p>
        </p:txBody>
      </p:sp>
      <p:sp>
        <p:nvSpPr>
          <p:cNvPr id="19" name="architecture-node-body-2">
            <a:extLst xmlns:a="http://schemas.openxmlformats.org/drawingml/2006/main">
              <a:ext uri="{FF2B5EF4-FFF2-40B4-BE49-F238E27FC236}">
                <a16:creationId xmlns:a16="http://schemas.microsoft.com/office/drawing/2014/main" id="{246EA820-D004-40B3-9435-ED13922A962E}"/>
              </a:ext>
            </a:extLst>
          </p:cNvPr>
          <p:cNvSpPr>
            <a:spLocks xmlns:a="http://schemas.openxmlformats.org/drawingml/2006/main" noGrp="1"/>
          </p:cNvSpPr>
          <p:nvPr/>
        </p:nvSpPr>
        <p:spPr>
          <a:xfrm xmlns:a="http://schemas.openxmlformats.org/drawingml/2006/main">
            <a:off x="5162550" y="30480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315"/>
          </a:bodyPr>
          <a:lstStyle xmlns:a="http://schemas.openxmlformats.org/drawingml/2006/main"/>
          <a:p xmlns:a="http://schemas.openxmlformats.org/drawingml/2006/main">
            <a:pPr algn="ctr">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Safety gate +</a:t>
            </a:r>
          </a:p>
          <a:p xmlns:a="http://schemas.openxmlformats.org/drawingml/2006/main">
            <a:pPr algn="ctr">
              <a:defRPr sz="1275" b="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synthetic simulator</a:t>
            </a:r>
          </a:p>
        </p:txBody>
      </p:sp>
      <p:sp>
        <p:nvSpPr>
          <p:cNvPr id="20" name="architecture-node-3">
            <a:extLst xmlns:a="http://schemas.openxmlformats.org/drawingml/2006/main">
              <a:ext uri="{FF2B5EF4-FFF2-40B4-BE49-F238E27FC236}">
                <a16:creationId xmlns:a16="http://schemas.microsoft.com/office/drawing/2014/main" id="{DB3FA0EE-C5A2-492E-BC2A-17D272F21B5E}"/>
              </a:ext>
            </a:extLst>
          </p:cNvPr>
          <p:cNvSpPr>
            <a:spLocks xmlns:a="http://schemas.openxmlformats.org/drawingml/2006/main" noGrp="1"/>
          </p:cNvSpPr>
          <p:nvPr/>
        </p:nvSpPr>
        <p:spPr>
          <a:xfrm xmlns:a="http://schemas.openxmlformats.org/drawingml/2006/main">
            <a:off x="7219950" y="2381250"/>
            <a:ext cx="1809750" cy="1428750"/>
          </a:xfrm>
          <a:prstGeom xmlns:a="http://schemas.openxmlformats.org/drawingml/2006/main" prst="rect">
            <a:avLst/>
          </a:prstGeom>
          <a:solidFill xmlns:a="http://schemas.openxmlformats.org/drawingml/2006/main">
            <a:srgbClr val="E2EEFF"/>
          </a:solidFill>
          <a:ln xmlns:a="http://schemas.openxmlformats.org/drawingml/2006/main" w="0">
            <a:noFill/>
            <a:prstDash val="solid"/>
          </a:ln>
        </p:spPr>
      </p:sp>
      <p:sp>
        <p:nvSpPr>
          <p:cNvPr id="21" name="architecture-node-title-3">
            <a:extLst xmlns:a="http://schemas.openxmlformats.org/drawingml/2006/main">
              <a:ext uri="{FF2B5EF4-FFF2-40B4-BE49-F238E27FC236}">
                <a16:creationId xmlns:a16="http://schemas.microsoft.com/office/drawing/2014/main" id="{0E5C6F8C-4DDE-454C-A9AC-2E63DEE532E4}"/>
              </a:ext>
            </a:extLst>
          </p:cNvPr>
          <p:cNvSpPr>
            <a:spLocks xmlns:a="http://schemas.openxmlformats.org/drawingml/2006/main" noGrp="1"/>
          </p:cNvSpPr>
          <p:nvPr/>
        </p:nvSpPr>
        <p:spPr>
          <a:xfrm xmlns:a="http://schemas.openxmlformats.org/drawingml/2006/main">
            <a:off x="7391400" y="25717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Blue Team</a:t>
            </a:r>
          </a:p>
        </p:txBody>
      </p:sp>
      <p:sp>
        <p:nvSpPr>
          <p:cNvPr id="22" name="architecture-node-body-3">
            <a:extLst xmlns:a="http://schemas.openxmlformats.org/drawingml/2006/main">
              <a:ext uri="{FF2B5EF4-FFF2-40B4-BE49-F238E27FC236}">
                <a16:creationId xmlns:a16="http://schemas.microsoft.com/office/drawing/2014/main" id="{19013593-4537-4C7F-BB5E-C28DBD676848}"/>
              </a:ext>
            </a:extLst>
          </p:cNvPr>
          <p:cNvSpPr>
            <a:spLocks xmlns:a="http://schemas.openxmlformats.org/drawingml/2006/main" noGrp="1"/>
          </p:cNvSpPr>
          <p:nvPr/>
        </p:nvSpPr>
        <p:spPr>
          <a:xfrm xmlns:a="http://schemas.openxmlformats.org/drawingml/2006/main">
            <a:off x="7391400" y="30480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797"/>
          </a:bodyPr>
          <a:lstStyle xmlns:a="http://schemas.openxmlformats.org/drawingml/2006/main"/>
          <a:p xmlns:a="http://schemas.openxmlformats.org/drawingml/2006/main">
            <a:pPr algn="ctr">
              <a:defRPr sz="1275" b="0">
                <a:solidFill>
                  <a:srgbClr val="3D8DFF"/>
                </a:solidFill>
                <a:latin typeface="Helvetica Neue"/>
                <a:ea typeface="Helvetica Neue"/>
                <a:cs typeface="Helvetica Neue"/>
              </a:defRPr>
            </a:pPr>
            <a:r>
              <a:rPr sz="1275" b="0">
                <a:solidFill>
                  <a:srgbClr val="3D8DFF"/>
                </a:solidFill>
                <a:latin typeface="Helvetica Neue"/>
                <a:ea typeface="Helvetica Neue"/>
                <a:cs typeface="Helvetica Neue"/>
              </a:rPr>
              <a:t>Scores events and</a:t>
            </a:r>
          </a:p>
          <a:p xmlns:a="http://schemas.openxmlformats.org/drawingml/2006/main">
            <a:pPr algn="ctr">
              <a:defRPr sz="1275" b="0">
                <a:solidFill>
                  <a:srgbClr val="3D8DFF"/>
                </a:solidFill>
                <a:latin typeface="Helvetica Neue"/>
                <a:ea typeface="Helvetica Neue"/>
                <a:cs typeface="Helvetica Neue"/>
              </a:defRPr>
            </a:pPr>
            <a:r>
              <a:rPr sz="1275" b="0">
                <a:solidFill>
                  <a:srgbClr val="3D8DFF"/>
                </a:solidFill>
                <a:latin typeface="Helvetica Neue"/>
                <a:ea typeface="Helvetica Neue"/>
                <a:cs typeface="Helvetica Neue"/>
              </a:rPr>
              <a:t>chooses an action</a:t>
            </a:r>
          </a:p>
        </p:txBody>
      </p:sp>
      <p:sp>
        <p:nvSpPr>
          <p:cNvPr id="23" name="architecture-node-4">
            <a:extLst xmlns:a="http://schemas.openxmlformats.org/drawingml/2006/main">
              <a:ext uri="{FF2B5EF4-FFF2-40B4-BE49-F238E27FC236}">
                <a16:creationId xmlns:a16="http://schemas.microsoft.com/office/drawing/2014/main" id="{D85D56B0-E8E8-41FD-88F8-63F448DA9881}"/>
              </a:ext>
            </a:extLst>
          </p:cNvPr>
          <p:cNvSpPr>
            <a:spLocks xmlns:a="http://schemas.openxmlformats.org/drawingml/2006/main" noGrp="1"/>
          </p:cNvSpPr>
          <p:nvPr/>
        </p:nvSpPr>
        <p:spPr>
          <a:xfrm xmlns:a="http://schemas.openxmlformats.org/drawingml/2006/main">
            <a:off x="9448800" y="2381250"/>
            <a:ext cx="1809750" cy="1428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4" name="architecture-node-title-4">
            <a:extLst xmlns:a="http://schemas.openxmlformats.org/drawingml/2006/main">
              <a:ext uri="{FF2B5EF4-FFF2-40B4-BE49-F238E27FC236}">
                <a16:creationId xmlns:a16="http://schemas.microsoft.com/office/drawing/2014/main" id="{959EBF37-0433-409F-806E-BC3D722BAA9C}"/>
              </a:ext>
            </a:extLst>
          </p:cNvPr>
          <p:cNvSpPr>
            <a:spLocks xmlns:a="http://schemas.openxmlformats.org/drawingml/2006/main" noGrp="1"/>
          </p:cNvSpPr>
          <p:nvPr/>
        </p:nvSpPr>
        <p:spPr>
          <a:xfrm xmlns:a="http://schemas.openxmlformats.org/drawingml/2006/main">
            <a:off x="9620250" y="25717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Referee</a:t>
            </a:r>
          </a:p>
        </p:txBody>
      </p:sp>
      <p:sp>
        <p:nvSpPr>
          <p:cNvPr id="25" name="architecture-node-body-4">
            <a:extLst xmlns:a="http://schemas.openxmlformats.org/drawingml/2006/main">
              <a:ext uri="{FF2B5EF4-FFF2-40B4-BE49-F238E27FC236}">
                <a16:creationId xmlns:a16="http://schemas.microsoft.com/office/drawing/2014/main" id="{CD9E7D14-AF0F-434B-837A-4D29A92E5B3F}"/>
              </a:ext>
            </a:extLst>
          </p:cNvPr>
          <p:cNvSpPr>
            <a:spLocks xmlns:a="http://schemas.openxmlformats.org/drawingml/2006/main" noGrp="1"/>
          </p:cNvSpPr>
          <p:nvPr/>
        </p:nvSpPr>
        <p:spPr>
          <a:xfrm xmlns:a="http://schemas.openxmlformats.org/drawingml/2006/main">
            <a:off x="9620250" y="30480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344"/>
          </a:bodyPr>
          <a:lstStyle xmlns:a="http://schemas.openxmlformats.org/drawingml/2006/main"/>
          <a:p xmlns:a="http://schemas.openxmlformats.org/drawingml/2006/main">
            <a:pPr algn="ctr">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Measures outcome</a:t>
            </a:r>
          </a:p>
          <a:p xmlns:a="http://schemas.openxmlformats.org/drawingml/2006/main">
            <a:pPr algn="ctr">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and controls feedback</a:t>
            </a:r>
          </a:p>
        </p:txBody>
      </p:sp>
      <p:sp>
        <p:nvSpPr>
          <p:cNvPr id="26" name="architecture-guardrail">
            <a:extLst xmlns:a="http://schemas.openxmlformats.org/drawingml/2006/main">
              <a:ext uri="{FF2B5EF4-FFF2-40B4-BE49-F238E27FC236}">
                <a16:creationId xmlns:a16="http://schemas.microsoft.com/office/drawing/2014/main" id="{9795AD37-7EBD-4C6F-BF7E-86B59764AB84}"/>
              </a:ext>
            </a:extLst>
          </p:cNvPr>
          <p:cNvSpPr>
            <a:spLocks xmlns:a="http://schemas.openxmlformats.org/drawingml/2006/main" noGrp="1"/>
          </p:cNvSpPr>
          <p:nvPr/>
        </p:nvSpPr>
        <p:spPr>
          <a:xfrm xmlns:a="http://schemas.openxmlformats.org/drawingml/2006/main">
            <a:off x="3200400" y="554355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ctr">
              <a:defRPr sz="1500" b="0">
                <a:solidFill>
                  <a:srgbClr val="5F6368"/>
                </a:solidFill>
                <a:latin typeface="Helvetica Neue"/>
                <a:ea typeface="Helvetica Neue"/>
                <a:cs typeface="Helvetica Neue"/>
              </a:defRPr>
            </a:pPr>
            <a:r>
              <a:rPr sz="1500" b="0">
                <a:solidFill>
                  <a:srgbClr val="5F6368"/>
                </a:solidFill>
                <a:latin typeface="Helvetica Neue"/>
                <a:ea typeface="Helvetica Neue"/>
                <a:cs typeface="Helvetica Neue"/>
              </a:rPr>
              <a:t>Blue's rules, weights and thresholds never flow back to Red.</a:t>
            </a:r>
          </a:p>
        </p:txBody>
      </p:sp>
    </p:spTree>
    <p:extLst>
      <p:ext uri="{BB962C8B-B14F-4D97-AF65-F5344CB8AC3E}">
        <p14:creationId xmlns:p14="http://schemas.microsoft.com/office/powerpoint/2010/main" val="11284689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4">
            <a:extLst xmlns:a="http://schemas.openxmlformats.org/drawingml/2006/main">
              <a:ext uri="{FF2B5EF4-FFF2-40B4-BE49-F238E27FC236}">
                <a16:creationId xmlns:a16="http://schemas.microsoft.com/office/drawing/2014/main" id="{11EA7C1E-9E9E-44DD-BAA8-7784F28F683F}"/>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4">
            <a:extLst xmlns:a="http://schemas.openxmlformats.org/drawingml/2006/main">
              <a:ext uri="{FF2B5EF4-FFF2-40B4-BE49-F238E27FC236}">
                <a16:creationId xmlns:a16="http://schemas.microsoft.com/office/drawing/2014/main" id="{8BD85440-26D5-4EBA-9FE9-E6C80554F0FC}"/>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Red chooses the test; the compiler creates the evidence</a:t>
            </a:r>
          </a:p>
        </p:txBody>
      </p:sp>
      <p:sp>
        <p:nvSpPr>
          <p:cNvPr id="3" name="header-rule-4">
            <a:extLst xmlns:a="http://schemas.openxmlformats.org/drawingml/2006/main">
              <a:ext uri="{FF2B5EF4-FFF2-40B4-BE49-F238E27FC236}">
                <a16:creationId xmlns:a16="http://schemas.microsoft.com/office/drawing/2014/main" id="{4A50B1E6-7B4C-4EF4-8979-79178D3CCBB3}"/>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4">
            <a:extLst xmlns:a="http://schemas.openxmlformats.org/drawingml/2006/main">
              <a:ext uri="{FF2B5EF4-FFF2-40B4-BE49-F238E27FC236}">
                <a16:creationId xmlns:a16="http://schemas.microsoft.com/office/drawing/2014/main" id="{73FB755C-2DF3-42CD-AB59-1A3C8B5B3AA0}"/>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4</a:t>
            </a:r>
          </a:p>
        </p:txBody>
      </p:sp>
      <p:sp>
        <p:nvSpPr>
          <p:cNvPr id="5" name="decision-separation-lead">
            <a:extLst xmlns:a="http://schemas.openxmlformats.org/drawingml/2006/main">
              <a:ext uri="{FF2B5EF4-FFF2-40B4-BE49-F238E27FC236}">
                <a16:creationId xmlns:a16="http://schemas.microsoft.com/office/drawing/2014/main" id="{DDB83A34-E1F5-43C1-9CE7-0BC40AD393AB}"/>
              </a:ext>
            </a:extLst>
          </p:cNvPr>
          <p:cNvSpPr>
            <a:spLocks xmlns:a="http://schemas.openxmlformats.org/drawingml/2006/main" noGrp="1"/>
          </p:cNvSpPr>
          <p:nvPr/>
        </p:nvSpPr>
        <p:spPr>
          <a:xfrm xmlns:a="http://schemas.openxmlformats.org/drawingml/2006/main">
            <a:off x="533400" y="15049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F6368"/>
                </a:solidFill>
                <a:latin typeface="Helvetica Neue"/>
                <a:ea typeface="Helvetica Neue"/>
                <a:cs typeface="Helvetica Neue"/>
              </a:defRPr>
            </a:pPr>
            <a:r>
              <a:rPr sz="1800" b="0">
                <a:solidFill>
                  <a:srgbClr val="5F6368"/>
                </a:solidFill>
                <a:latin typeface="Helvetica Neue"/>
                <a:ea typeface="Helvetica Neue"/>
                <a:cs typeface="Helvetica Neue"/>
              </a:rPr>
              <a:t>The AI is creative at the strategy boundary. Everything executable remains deterministic and validated.</a:t>
            </a:r>
          </a:p>
        </p:txBody>
      </p:sp>
      <p:sp>
        <p:nvSpPr>
          <p:cNvPr id="6" name="PLANNER AGENT-band">
            <a:extLst xmlns:a="http://schemas.openxmlformats.org/drawingml/2006/main">
              <a:ext uri="{FF2B5EF4-FFF2-40B4-BE49-F238E27FC236}">
                <a16:creationId xmlns:a16="http://schemas.microsoft.com/office/drawing/2014/main" id="{B5E3CC52-2F2E-45B6-A896-C25D8228DE51}"/>
              </a:ext>
            </a:extLst>
          </p:cNvPr>
          <p:cNvSpPr>
            <a:spLocks xmlns:a="http://schemas.openxmlformats.org/drawingml/2006/main" noGrp="1"/>
          </p:cNvSpPr>
          <p:nvPr/>
        </p:nvSpPr>
        <p:spPr>
          <a:xfrm xmlns:a="http://schemas.openxmlformats.org/drawingml/2006/main">
            <a:off x="533400" y="2266950"/>
            <a:ext cx="5219700" cy="304800"/>
          </a:xfrm>
          <a:prstGeom xmlns:a="http://schemas.openxmlformats.org/drawingml/2006/main" prst="rect">
            <a:avLst/>
          </a:prstGeom>
          <a:solidFill xmlns:a="http://schemas.openxmlformats.org/drawingml/2006/main">
            <a:srgbClr val="FBE5E5"/>
          </a:solidFill>
          <a:ln xmlns:a="http://schemas.openxmlformats.org/drawingml/2006/main" w="0">
            <a:noFill/>
            <a:prstDash val="solid"/>
          </a:ln>
        </p:spPr>
      </p:sp>
      <p:sp>
        <p:nvSpPr>
          <p:cNvPr id="7" name="PLANNER AGENT-band-text">
            <a:extLst xmlns:a="http://schemas.openxmlformats.org/drawingml/2006/main">
              <a:ext uri="{FF2B5EF4-FFF2-40B4-BE49-F238E27FC236}">
                <a16:creationId xmlns:a16="http://schemas.microsoft.com/office/drawing/2014/main" id="{1F5DCC00-B592-45C7-B060-C83DB2692A13}"/>
              </a:ext>
            </a:extLst>
          </p:cNvPr>
          <p:cNvSpPr>
            <a:spLocks xmlns:a="http://schemas.openxmlformats.org/drawingml/2006/main" noGrp="1"/>
          </p:cNvSpPr>
          <p:nvPr/>
        </p:nvSpPr>
        <p:spPr>
          <a:xfrm xmlns:a="http://schemas.openxmlformats.org/drawingml/2006/main">
            <a:off x="628650" y="23145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1">
                <a:solidFill>
                  <a:srgbClr val="E85D5D"/>
                </a:solidFill>
                <a:latin typeface="Helvetica Neue"/>
                <a:ea typeface="Helvetica Neue"/>
                <a:cs typeface="Helvetica Neue"/>
              </a:defRPr>
            </a:pPr>
            <a:r>
              <a:rPr sz="1050" b="1">
                <a:solidFill>
                  <a:srgbClr val="E85D5D"/>
                </a:solidFill>
                <a:latin typeface="Helvetica Neue"/>
                <a:ea typeface="Helvetica Neue"/>
                <a:cs typeface="Helvetica Neue"/>
              </a:rPr>
              <a:t>PLANNER AGENT</a:t>
            </a:r>
          </a:p>
        </p:txBody>
      </p:sp>
      <p:sp>
        <p:nvSpPr>
          <p:cNvPr id="8" name="SCENARIO COMPILER-band">
            <a:extLst xmlns:a="http://schemas.openxmlformats.org/drawingml/2006/main">
              <a:ext uri="{FF2B5EF4-FFF2-40B4-BE49-F238E27FC236}">
                <a16:creationId xmlns:a16="http://schemas.microsoft.com/office/drawing/2014/main" id="{3528B995-9AC3-47BB-BB9B-6A9C0C3EB9BA}"/>
              </a:ext>
            </a:extLst>
          </p:cNvPr>
          <p:cNvSpPr>
            <a:spLocks xmlns:a="http://schemas.openxmlformats.org/drawingml/2006/main" noGrp="1"/>
          </p:cNvSpPr>
          <p:nvPr/>
        </p:nvSpPr>
        <p:spPr>
          <a:xfrm xmlns:a="http://schemas.openxmlformats.org/drawingml/2006/main">
            <a:off x="6438900" y="2266950"/>
            <a:ext cx="5219700" cy="304800"/>
          </a:xfrm>
          <a:prstGeom xmlns:a="http://schemas.openxmlformats.org/drawingml/2006/main" prst="rect">
            <a:avLst/>
          </a:prstGeom>
          <a:solidFill xmlns:a="http://schemas.openxmlformats.org/drawingml/2006/main">
            <a:srgbClr val="E2EEFF"/>
          </a:solidFill>
          <a:ln xmlns:a="http://schemas.openxmlformats.org/drawingml/2006/main" w="0">
            <a:noFill/>
            <a:prstDash val="solid"/>
          </a:ln>
        </p:spPr>
      </p:sp>
      <p:sp>
        <p:nvSpPr>
          <p:cNvPr id="9" name="SCENARIO COMPILER-band-text">
            <a:extLst xmlns:a="http://schemas.openxmlformats.org/drawingml/2006/main">
              <a:ext uri="{FF2B5EF4-FFF2-40B4-BE49-F238E27FC236}">
                <a16:creationId xmlns:a16="http://schemas.microsoft.com/office/drawing/2014/main" id="{78600608-8703-447D-8A1D-1FA65E595A02}"/>
              </a:ext>
            </a:extLst>
          </p:cNvPr>
          <p:cNvSpPr>
            <a:spLocks xmlns:a="http://schemas.openxmlformats.org/drawingml/2006/main" noGrp="1"/>
          </p:cNvSpPr>
          <p:nvPr/>
        </p:nvSpPr>
        <p:spPr>
          <a:xfrm xmlns:a="http://schemas.openxmlformats.org/drawingml/2006/main">
            <a:off x="6534150" y="2314575"/>
            <a:ext cx="5029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SCENARIO COMPILER</a:t>
            </a:r>
          </a:p>
        </p:txBody>
      </p:sp>
      <p:sp>
        <p:nvSpPr>
          <p:cNvPr id="10" name="planner-question">
            <a:extLst xmlns:a="http://schemas.openxmlformats.org/drawingml/2006/main">
              <a:ext uri="{FF2B5EF4-FFF2-40B4-BE49-F238E27FC236}">
                <a16:creationId xmlns:a16="http://schemas.microsoft.com/office/drawing/2014/main" id="{13A57CFB-D730-4BF2-A2B0-6B898DBEEE41}"/>
              </a:ext>
            </a:extLst>
          </p:cNvPr>
          <p:cNvSpPr>
            <a:spLocks xmlns:a="http://schemas.openxmlformats.org/drawingml/2006/main" noGrp="1"/>
          </p:cNvSpPr>
          <p:nvPr/>
        </p:nvSpPr>
        <p:spPr>
          <a:xfrm xmlns:a="http://schemas.openxmlformats.org/drawingml/2006/main">
            <a:off x="723900" y="278130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What should we test?</a:t>
            </a:r>
          </a:p>
        </p:txBody>
      </p:sp>
      <p:sp>
        <p:nvSpPr>
          <p:cNvPr id="11" name="planner-list">
            <a:extLst xmlns:a="http://schemas.openxmlformats.org/drawingml/2006/main">
              <a:ext uri="{FF2B5EF4-FFF2-40B4-BE49-F238E27FC236}">
                <a16:creationId xmlns:a16="http://schemas.microsoft.com/office/drawing/2014/main" id="{966088C2-6926-41EB-A810-44D944F18874}"/>
              </a:ext>
            </a:extLst>
          </p:cNvPr>
          <p:cNvSpPr>
            <a:spLocks xmlns:a="http://schemas.openxmlformats.org/drawingml/2006/main" noGrp="1"/>
          </p:cNvSpPr>
          <p:nvPr/>
        </p:nvSpPr>
        <p:spPr>
          <a:xfrm xmlns:a="http://schemas.openxmlformats.org/drawingml/2006/main">
            <a:off x="723900" y="333375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Select ATO-01</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Use medium difficulty</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Emphasize authentication change</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Target intervention before release</a:t>
            </a:r>
          </a:p>
        </p:txBody>
      </p:sp>
      <p:sp>
        <p:nvSpPr>
          <p:cNvPr id="12" name="compiler-question">
            <a:extLst xmlns:a="http://schemas.openxmlformats.org/drawingml/2006/main">
              <a:ext uri="{FF2B5EF4-FFF2-40B4-BE49-F238E27FC236}">
                <a16:creationId xmlns:a16="http://schemas.microsoft.com/office/drawing/2014/main" id="{C256F0B5-2E36-473F-8501-4C17DB66F4D4}"/>
              </a:ext>
            </a:extLst>
          </p:cNvPr>
          <p:cNvSpPr>
            <a:spLocks xmlns:a="http://schemas.openxmlformats.org/drawingml/2006/main" noGrp="1"/>
          </p:cNvSpPr>
          <p:nvPr/>
        </p:nvSpPr>
        <p:spPr>
          <a:xfrm xmlns:a="http://schemas.openxmlformats.org/drawingml/2006/main">
            <a:off x="6629400" y="278130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What exact events occur?</a:t>
            </a:r>
          </a:p>
        </p:txBody>
      </p:sp>
      <p:sp>
        <p:nvSpPr>
          <p:cNvPr id="13" name="compiler-list">
            <a:extLst xmlns:a="http://schemas.openxmlformats.org/drawingml/2006/main">
              <a:ext uri="{FF2B5EF4-FFF2-40B4-BE49-F238E27FC236}">
                <a16:creationId xmlns:a16="http://schemas.microsoft.com/office/drawing/2014/main" id="{A437F6B2-4602-4024-940D-2120B53A7588}"/>
              </a:ext>
            </a:extLst>
          </p:cNvPr>
          <p:cNvSpPr>
            <a:spLocks xmlns:a="http://schemas.openxmlformats.org/drawingml/2006/main" noGrp="1"/>
          </p:cNvSpPr>
          <p:nvPr/>
        </p:nvSpPr>
        <p:spPr>
          <a:xfrm xmlns:a="http://schemas.openxmlformats.org/drawingml/2006/main">
            <a:off x="6629400" y="333375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Create only syn_ identifiers</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Apply approved parameter values</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Order six timestamped stages</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 Produce a replayable scenario JSON</a:t>
            </a:r>
          </a:p>
        </p:txBody>
      </p:sp>
      <p:sp>
        <p:nvSpPr>
          <p:cNvPr id="14" name="separation-bottom-rule">
            <a:extLst xmlns:a="http://schemas.openxmlformats.org/drawingml/2006/main">
              <a:ext uri="{FF2B5EF4-FFF2-40B4-BE49-F238E27FC236}">
                <a16:creationId xmlns:a16="http://schemas.microsoft.com/office/drawing/2014/main" id="{C9052724-8E00-4997-A46A-0FC44C4BD680}"/>
              </a:ext>
            </a:extLst>
          </p:cNvPr>
          <p:cNvSpPr>
            <a:spLocks xmlns:a="http://schemas.openxmlformats.org/drawingml/2006/main" noGrp="1"/>
          </p:cNvSpPr>
          <p:nvPr/>
        </p:nvSpPr>
        <p:spPr>
          <a:xfrm xmlns:a="http://schemas.openxmlformats.org/drawingml/2006/main">
            <a:off x="533400" y="554355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5" name="separation-bottom">
            <a:extLst xmlns:a="http://schemas.openxmlformats.org/drawingml/2006/main">
              <a:ext uri="{FF2B5EF4-FFF2-40B4-BE49-F238E27FC236}">
                <a16:creationId xmlns:a16="http://schemas.microsoft.com/office/drawing/2014/main" id="{4C533EE5-3DFA-42E2-9B15-6BE2DAEE0BD7}"/>
              </a:ext>
            </a:extLst>
          </p:cNvPr>
          <p:cNvSpPr>
            <a:spLocks xmlns:a="http://schemas.openxmlformats.org/drawingml/2006/main" noGrp="1"/>
          </p:cNvSpPr>
          <p:nvPr/>
        </p:nvSpPr>
        <p:spPr>
          <a:xfrm xmlns:a="http://schemas.openxmlformats.org/drawingml/2006/main">
            <a:off x="533400" y="5715000"/>
            <a:ext cx="1112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The model never authors phishing content, credentials or live payment instructions.</a:t>
            </a:r>
          </a:p>
        </p:txBody>
      </p:sp>
    </p:spTree>
    <p:extLst>
      <p:ext uri="{BB962C8B-B14F-4D97-AF65-F5344CB8AC3E}">
        <p14:creationId xmlns:p14="http://schemas.microsoft.com/office/powerpoint/2010/main" val="10406106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eyebrow-5">
            <a:extLst xmlns:a="http://schemas.openxmlformats.org/drawingml/2006/main">
              <a:ext uri="{FF2B5EF4-FFF2-40B4-BE49-F238E27FC236}">
                <a16:creationId xmlns:a16="http://schemas.microsoft.com/office/drawing/2014/main" id="{F556CBA0-707B-4842-B400-84469656F0A5}"/>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5">
            <a:extLst xmlns:a="http://schemas.openxmlformats.org/drawingml/2006/main">
              <a:ext uri="{FF2B5EF4-FFF2-40B4-BE49-F238E27FC236}">
                <a16:creationId xmlns:a16="http://schemas.microsoft.com/office/drawing/2014/main" id="{C85A323F-F800-465C-8774-C0CB6EF8E02A}"/>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Before money moves, three warning signals begin to stack</a:t>
            </a:r>
          </a:p>
        </p:txBody>
      </p:sp>
      <p:sp>
        <p:nvSpPr>
          <p:cNvPr id="3" name="header-rule-5">
            <a:extLst xmlns:a="http://schemas.openxmlformats.org/drawingml/2006/main">
              <a:ext uri="{FF2B5EF4-FFF2-40B4-BE49-F238E27FC236}">
                <a16:creationId xmlns:a16="http://schemas.microsoft.com/office/drawing/2014/main" id="{746FED22-8D75-42EE-8720-331A0A75AB5D}"/>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5">
            <a:extLst xmlns:a="http://schemas.openxmlformats.org/drawingml/2006/main">
              <a:ext uri="{FF2B5EF4-FFF2-40B4-BE49-F238E27FC236}">
                <a16:creationId xmlns:a16="http://schemas.microsoft.com/office/drawing/2014/main" id="{4A150A3E-CCD5-4B3B-BE5D-AE2312EAF12E}"/>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5</a:t>
            </a:r>
          </a:p>
        </p:txBody>
      </p:sp>
      <p:sp>
        <p:nvSpPr>
          <p:cNvPr id="5" name="timeline-line-5">
            <a:extLst xmlns:a="http://schemas.openxmlformats.org/drawingml/2006/main">
              <a:ext uri="{FF2B5EF4-FFF2-40B4-BE49-F238E27FC236}">
                <a16:creationId xmlns:a16="http://schemas.microsoft.com/office/drawing/2014/main" id="{51E284F0-97A7-4850-8E03-68341D6D8A04}"/>
              </a:ext>
            </a:extLst>
          </p:cNvPr>
          <p:cNvSpPr>
            <a:spLocks xmlns:a="http://schemas.openxmlformats.org/drawingml/2006/main" noGrp="1"/>
          </p:cNvSpPr>
          <p:nvPr/>
        </p:nvSpPr>
        <p:spPr>
          <a:xfrm xmlns:a="http://schemas.openxmlformats.org/drawingml/2006/main">
            <a:off x="723900" y="5619750"/>
            <a:ext cx="10744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6" name="timeline-card-5-0">
            <a:extLst xmlns:a="http://schemas.openxmlformats.org/drawingml/2006/main">
              <a:ext uri="{FF2B5EF4-FFF2-40B4-BE49-F238E27FC236}">
                <a16:creationId xmlns:a16="http://schemas.microsoft.com/office/drawing/2014/main" id="{4463B7AD-30A4-4303-BFD2-CDE78186803F}"/>
              </a:ext>
            </a:extLst>
          </p:cNvPr>
          <p:cNvSpPr>
            <a:spLocks xmlns:a="http://schemas.openxmlformats.org/drawingml/2006/main" noGrp="1"/>
          </p:cNvSpPr>
          <p:nvPr/>
        </p:nvSpPr>
        <p:spPr>
          <a:xfrm xmlns:a="http://schemas.openxmlformats.org/drawingml/2006/main">
            <a:off x="533400" y="1524000"/>
            <a:ext cx="3352800" cy="3714750"/>
          </a:xfrm>
          <a:prstGeom xmlns:a="http://schemas.openxmlformats.org/drawingml/2006/main" prst="rect">
            <a:avLst/>
          </a:prstGeom>
          <a:solidFill xmlns:a="http://schemas.openxmlformats.org/drawingml/2006/main">
            <a:srgbClr val="FBE5E5"/>
          </a:solidFill>
          <a:ln xmlns:a="http://schemas.openxmlformats.org/drawingml/2006/main" w="0">
            <a:noFill/>
            <a:prstDash val="solid"/>
          </a:ln>
        </p:spPr>
      </p:sp>
      <p:sp>
        <p:nvSpPr>
          <p:cNvPr id="7" name="timeline-time-5-0">
            <a:extLst xmlns:a="http://schemas.openxmlformats.org/drawingml/2006/main">
              <a:ext uri="{FF2B5EF4-FFF2-40B4-BE49-F238E27FC236}">
                <a16:creationId xmlns:a16="http://schemas.microsoft.com/office/drawing/2014/main" id="{DAA3E5A5-F314-4ED4-953B-89746B1DBE4E}"/>
              </a:ext>
            </a:extLst>
          </p:cNvPr>
          <p:cNvSpPr>
            <a:spLocks xmlns:a="http://schemas.openxmlformats.org/drawingml/2006/main" noGrp="1"/>
          </p:cNvSpPr>
          <p:nvPr/>
        </p:nvSpPr>
        <p:spPr>
          <a:xfrm xmlns:a="http://schemas.openxmlformats.org/drawingml/2006/main">
            <a:off x="762000" y="1771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E85D5D"/>
                </a:solidFill>
                <a:latin typeface="Helvetica Neue"/>
                <a:ea typeface="Helvetica Neue"/>
                <a:cs typeface="Helvetica Neue"/>
              </a:defRPr>
            </a:pPr>
            <a:r>
              <a:rPr sz="1200" b="1">
                <a:solidFill>
                  <a:srgbClr val="E85D5D"/>
                </a:solidFill>
                <a:latin typeface="Helvetica Neue"/>
                <a:ea typeface="Helvetica Neue"/>
                <a:cs typeface="Helvetica Neue"/>
              </a:rPr>
              <a:t>00:00</a:t>
            </a:r>
          </a:p>
        </p:txBody>
      </p:sp>
      <p:sp>
        <p:nvSpPr>
          <p:cNvPr id="8" name="timeline-title-5-0">
            <a:extLst xmlns:a="http://schemas.openxmlformats.org/drawingml/2006/main">
              <a:ext uri="{FF2B5EF4-FFF2-40B4-BE49-F238E27FC236}">
                <a16:creationId xmlns:a16="http://schemas.microsoft.com/office/drawing/2014/main" id="{78DF75FF-55A7-4929-9DAD-A386A5E4D610}"/>
              </a:ext>
            </a:extLst>
          </p:cNvPr>
          <p:cNvSpPr>
            <a:spLocks xmlns:a="http://schemas.openxmlformats.org/drawingml/2006/main" noGrp="1"/>
          </p:cNvSpPr>
          <p:nvPr/>
        </p:nvSpPr>
        <p:spPr>
          <a:xfrm xmlns:a="http://schemas.openxmlformats.org/drawingml/2006/main">
            <a:off x="762000" y="219075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Novel session</a:t>
            </a:r>
          </a:p>
        </p:txBody>
      </p:sp>
      <p:sp>
        <p:nvSpPr>
          <p:cNvPr id="9" name="timeline-red-label-5-0">
            <a:extLst xmlns:a="http://schemas.openxmlformats.org/drawingml/2006/main">
              <a:ext uri="{FF2B5EF4-FFF2-40B4-BE49-F238E27FC236}">
                <a16:creationId xmlns:a16="http://schemas.microsoft.com/office/drawing/2014/main" id="{EF4C1F53-86F5-455F-9158-0B597FF71766}"/>
              </a:ext>
            </a:extLst>
          </p:cNvPr>
          <p:cNvSpPr>
            <a:spLocks xmlns:a="http://schemas.openxmlformats.org/drawingml/2006/main" noGrp="1"/>
          </p:cNvSpPr>
          <p:nvPr/>
        </p:nvSpPr>
        <p:spPr>
          <a:xfrm xmlns:a="http://schemas.openxmlformats.org/drawingml/2006/main">
            <a:off x="762000" y="30670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E85D5D"/>
                </a:solidFill>
                <a:latin typeface="Helvetica Neue"/>
                <a:ea typeface="Helvetica Neue"/>
                <a:cs typeface="Helvetica Neue"/>
              </a:defRPr>
            </a:pPr>
            <a:r>
              <a:rPr sz="975" b="1">
                <a:solidFill>
                  <a:srgbClr val="E85D5D"/>
                </a:solidFill>
                <a:latin typeface="Helvetica Neue"/>
                <a:ea typeface="Helvetica Neue"/>
                <a:cs typeface="Helvetica Neue"/>
              </a:rPr>
              <a:t>RED GENERATES</a:t>
            </a:r>
          </a:p>
        </p:txBody>
      </p:sp>
      <p:sp>
        <p:nvSpPr>
          <p:cNvPr id="10" name="timeline-red-body-5-0">
            <a:extLst xmlns:a="http://schemas.openxmlformats.org/drawingml/2006/main">
              <a:ext uri="{FF2B5EF4-FFF2-40B4-BE49-F238E27FC236}">
                <a16:creationId xmlns:a16="http://schemas.microsoft.com/office/drawing/2014/main" id="{3B02487C-8AB6-4F6A-AA3E-4219E3F8DCBF}"/>
              </a:ext>
            </a:extLst>
          </p:cNvPr>
          <p:cNvSpPr>
            <a:spLocks xmlns:a="http://schemas.openxmlformats.org/drawingml/2006/main" noGrp="1"/>
          </p:cNvSpPr>
          <p:nvPr/>
        </p:nvSpPr>
        <p:spPr>
          <a:xfrm xmlns:a="http://schemas.openxmlformats.org/drawingml/2006/main">
            <a:off x="762000" y="33147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Starts from a relatively unfamiliar device and network.</a:t>
            </a:r>
          </a:p>
        </p:txBody>
      </p:sp>
      <p:sp>
        <p:nvSpPr>
          <p:cNvPr id="11" name="timeline-blue-label-5-0">
            <a:extLst xmlns:a="http://schemas.openxmlformats.org/drawingml/2006/main">
              <a:ext uri="{FF2B5EF4-FFF2-40B4-BE49-F238E27FC236}">
                <a16:creationId xmlns:a16="http://schemas.microsoft.com/office/drawing/2014/main" id="{CFC59DD1-FF87-44B2-85AB-CB21D52200EF}"/>
              </a:ext>
            </a:extLst>
          </p:cNvPr>
          <p:cNvSpPr>
            <a:spLocks xmlns:a="http://schemas.openxmlformats.org/drawingml/2006/main" noGrp="1"/>
          </p:cNvSpPr>
          <p:nvPr/>
        </p:nvSpPr>
        <p:spPr>
          <a:xfrm xmlns:a="http://schemas.openxmlformats.org/drawingml/2006/main">
            <a:off x="762000" y="42100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BLUE CAN</a:t>
            </a:r>
          </a:p>
        </p:txBody>
      </p:sp>
      <p:sp>
        <p:nvSpPr>
          <p:cNvPr id="12" name="timeline-blue-body-5-0">
            <a:extLst xmlns:a="http://schemas.openxmlformats.org/drawingml/2006/main">
              <a:ext uri="{FF2B5EF4-FFF2-40B4-BE49-F238E27FC236}">
                <a16:creationId xmlns:a16="http://schemas.microsoft.com/office/drawing/2014/main" id="{63AA77E3-47A0-4F80-B29F-E1A912CDBA46}"/>
              </a:ext>
            </a:extLst>
          </p:cNvPr>
          <p:cNvSpPr>
            <a:spLocks xmlns:a="http://schemas.openxmlformats.org/drawingml/2006/main" noGrp="1"/>
          </p:cNvSpPr>
          <p:nvPr/>
        </p:nvSpPr>
        <p:spPr>
          <a:xfrm xmlns:a="http://schemas.openxmlformats.org/drawingml/2006/main">
            <a:off x="762000" y="44577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lgn="l">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Challenge or restrict the session</a:t>
            </a:r>
          </a:p>
        </p:txBody>
      </p:sp>
      <p:sp>
        <p:nvSpPr>
          <p:cNvPr id="13" name="timeline-dot-5-0">
            <a:extLst xmlns:a="http://schemas.openxmlformats.org/drawingml/2006/main">
              <a:ext uri="{FF2B5EF4-FFF2-40B4-BE49-F238E27FC236}">
                <a16:creationId xmlns:a16="http://schemas.microsoft.com/office/drawing/2014/main" id="{6B1FBB13-F95B-4EA9-8F19-CA98A6485146}"/>
              </a:ext>
            </a:extLst>
          </p:cNvPr>
          <p:cNvSpPr>
            <a:spLocks xmlns:a="http://schemas.openxmlformats.org/drawingml/2006/main" noGrp="1"/>
          </p:cNvSpPr>
          <p:nvPr/>
        </p:nvSpPr>
        <p:spPr>
          <a:xfrm xmlns:a="http://schemas.openxmlformats.org/drawingml/2006/main">
            <a:off x="666750" y="5534025"/>
            <a:ext cx="190500" cy="190500"/>
          </a:xfrm>
          <a:prstGeom xmlns:a="http://schemas.openxmlformats.org/drawingml/2006/main" prst="ellipse">
            <a:avLst/>
          </a:prstGeom>
          <a:solidFill xmlns:a="http://schemas.openxmlformats.org/drawingml/2006/main">
            <a:srgbClr val="E85D5D"/>
          </a:solidFill>
          <a:ln xmlns:a="http://schemas.openxmlformats.org/drawingml/2006/main" w="0">
            <a:noFill/>
            <a:prstDash val="solid"/>
          </a:ln>
        </p:spPr>
      </p:sp>
      <p:sp>
        <p:nvSpPr>
          <p:cNvPr id="14" name="timeline-phase-5-0">
            <a:extLst xmlns:a="http://schemas.openxmlformats.org/drawingml/2006/main">
              <a:ext uri="{FF2B5EF4-FFF2-40B4-BE49-F238E27FC236}">
                <a16:creationId xmlns:a16="http://schemas.microsoft.com/office/drawing/2014/main" id="{7BD5DA3F-8500-4FC0-9FD7-775390108BFE}"/>
              </a:ext>
            </a:extLst>
          </p:cNvPr>
          <p:cNvSpPr>
            <a:spLocks xmlns:a="http://schemas.openxmlformats.org/drawingml/2006/main" noGrp="1"/>
          </p:cNvSpPr>
          <p:nvPr/>
        </p:nvSpPr>
        <p:spPr>
          <a:xfrm xmlns:a="http://schemas.openxmlformats.org/drawingml/2006/main">
            <a:off x="933450" y="57912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defRPr sz="1200" b="1">
                <a:solidFill>
                  <a:srgbClr val="E85D5D"/>
                </a:solidFill>
                <a:latin typeface="Helvetica Neue"/>
                <a:ea typeface="Helvetica Neue"/>
                <a:cs typeface="Helvetica Neue"/>
              </a:defRPr>
            </a:pPr>
            <a:r>
              <a:rPr sz="1200" b="1">
                <a:solidFill>
                  <a:srgbClr val="E85D5D"/>
                </a:solidFill>
                <a:latin typeface="Helvetica Neue"/>
                <a:ea typeface="Helvetica Neue"/>
                <a:cs typeface="Helvetica Neue"/>
              </a:rPr>
              <a:t>PREVENT</a:t>
            </a:r>
          </a:p>
        </p:txBody>
      </p:sp>
      <p:sp>
        <p:nvSpPr>
          <p:cNvPr id="15" name="timeline-card-5-1">
            <a:extLst xmlns:a="http://schemas.openxmlformats.org/drawingml/2006/main">
              <a:ext uri="{FF2B5EF4-FFF2-40B4-BE49-F238E27FC236}">
                <a16:creationId xmlns:a16="http://schemas.microsoft.com/office/drawing/2014/main" id="{C2E31897-55E4-4C60-97C3-401D45ABD91A}"/>
              </a:ext>
            </a:extLst>
          </p:cNvPr>
          <p:cNvSpPr>
            <a:spLocks xmlns:a="http://schemas.openxmlformats.org/drawingml/2006/main" noGrp="1"/>
          </p:cNvSpPr>
          <p:nvPr/>
        </p:nvSpPr>
        <p:spPr>
          <a:xfrm xmlns:a="http://schemas.openxmlformats.org/drawingml/2006/main">
            <a:off x="4343400" y="1524000"/>
            <a:ext cx="3352800" cy="3714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timeline-time-5-1">
            <a:extLst xmlns:a="http://schemas.openxmlformats.org/drawingml/2006/main">
              <a:ext uri="{FF2B5EF4-FFF2-40B4-BE49-F238E27FC236}">
                <a16:creationId xmlns:a16="http://schemas.microsoft.com/office/drawing/2014/main" id="{318A6027-DCA8-408A-8AC1-E3DFEF15E35F}"/>
              </a:ext>
            </a:extLst>
          </p:cNvPr>
          <p:cNvSpPr>
            <a:spLocks xmlns:a="http://schemas.openxmlformats.org/drawingml/2006/main" noGrp="1"/>
          </p:cNvSpPr>
          <p:nvPr/>
        </p:nvSpPr>
        <p:spPr>
          <a:xfrm xmlns:a="http://schemas.openxmlformats.org/drawingml/2006/main">
            <a:off x="4572000" y="1771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00:20</a:t>
            </a:r>
          </a:p>
        </p:txBody>
      </p:sp>
      <p:sp>
        <p:nvSpPr>
          <p:cNvPr id="17" name="timeline-title-5-1">
            <a:extLst xmlns:a="http://schemas.openxmlformats.org/drawingml/2006/main">
              <a:ext uri="{FF2B5EF4-FFF2-40B4-BE49-F238E27FC236}">
                <a16:creationId xmlns:a16="http://schemas.microsoft.com/office/drawing/2014/main" id="{0B56A484-EE05-41A3-BB45-0206E6C6C29E}"/>
              </a:ext>
            </a:extLst>
          </p:cNvPr>
          <p:cNvSpPr>
            <a:spLocks xmlns:a="http://schemas.openxmlformats.org/drawingml/2006/main" noGrp="1"/>
          </p:cNvSpPr>
          <p:nvPr/>
        </p:nvSpPr>
        <p:spPr>
          <a:xfrm xmlns:a="http://schemas.openxmlformats.org/drawingml/2006/main">
            <a:off x="4572000" y="219075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27"/>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Authentication change</a:t>
            </a:r>
          </a:p>
        </p:txBody>
      </p:sp>
      <p:sp>
        <p:nvSpPr>
          <p:cNvPr id="18" name="timeline-red-label-5-1">
            <a:extLst xmlns:a="http://schemas.openxmlformats.org/drawingml/2006/main">
              <a:ext uri="{FF2B5EF4-FFF2-40B4-BE49-F238E27FC236}">
                <a16:creationId xmlns:a16="http://schemas.microsoft.com/office/drawing/2014/main" id="{10EE9994-1F43-45E2-97D9-5EA91E10CE40}"/>
              </a:ext>
            </a:extLst>
          </p:cNvPr>
          <p:cNvSpPr>
            <a:spLocks xmlns:a="http://schemas.openxmlformats.org/drawingml/2006/main" noGrp="1"/>
          </p:cNvSpPr>
          <p:nvPr/>
        </p:nvSpPr>
        <p:spPr>
          <a:xfrm xmlns:a="http://schemas.openxmlformats.org/drawingml/2006/main">
            <a:off x="4572000" y="30670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E85D5D"/>
                </a:solidFill>
                <a:latin typeface="Helvetica Neue"/>
                <a:ea typeface="Helvetica Neue"/>
                <a:cs typeface="Helvetica Neue"/>
              </a:defRPr>
            </a:pPr>
            <a:r>
              <a:rPr sz="975" b="1">
                <a:solidFill>
                  <a:srgbClr val="E85D5D"/>
                </a:solidFill>
                <a:latin typeface="Helvetica Neue"/>
                <a:ea typeface="Helvetica Neue"/>
                <a:cs typeface="Helvetica Neue"/>
              </a:rPr>
              <a:t>RED GENERATES</a:t>
            </a:r>
          </a:p>
        </p:txBody>
      </p:sp>
      <p:sp>
        <p:nvSpPr>
          <p:cNvPr id="19" name="timeline-red-body-5-1">
            <a:extLst xmlns:a="http://schemas.openxmlformats.org/drawingml/2006/main">
              <a:ext uri="{FF2B5EF4-FFF2-40B4-BE49-F238E27FC236}">
                <a16:creationId xmlns:a16="http://schemas.microsoft.com/office/drawing/2014/main" id="{28819846-6FD0-48F9-AD94-9C8F9B19CDEB}"/>
              </a:ext>
            </a:extLst>
          </p:cNvPr>
          <p:cNvSpPr>
            <a:spLocks xmlns:a="http://schemas.openxmlformats.org/drawingml/2006/main" noGrp="1"/>
          </p:cNvSpPr>
          <p:nvPr/>
        </p:nvSpPr>
        <p:spPr>
          <a:xfrm xmlns:a="http://schemas.openxmlformats.org/drawingml/2006/main">
            <a:off x="4572000" y="33147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Changes the security context soon after login.</a:t>
            </a:r>
          </a:p>
        </p:txBody>
      </p:sp>
      <p:sp>
        <p:nvSpPr>
          <p:cNvPr id="20" name="timeline-blue-label-5-1">
            <a:extLst xmlns:a="http://schemas.openxmlformats.org/drawingml/2006/main">
              <a:ext uri="{FF2B5EF4-FFF2-40B4-BE49-F238E27FC236}">
                <a16:creationId xmlns:a16="http://schemas.microsoft.com/office/drawing/2014/main" id="{47F3DDB9-022F-4CDE-84BC-D6F4A2246F74}"/>
              </a:ext>
            </a:extLst>
          </p:cNvPr>
          <p:cNvSpPr>
            <a:spLocks xmlns:a="http://schemas.openxmlformats.org/drawingml/2006/main" noGrp="1"/>
          </p:cNvSpPr>
          <p:nvPr/>
        </p:nvSpPr>
        <p:spPr>
          <a:xfrm xmlns:a="http://schemas.openxmlformats.org/drawingml/2006/main">
            <a:off x="4572000" y="42100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BLUE CAN</a:t>
            </a:r>
          </a:p>
        </p:txBody>
      </p:sp>
      <p:sp>
        <p:nvSpPr>
          <p:cNvPr id="21" name="timeline-blue-body-5-1">
            <a:extLst xmlns:a="http://schemas.openxmlformats.org/drawingml/2006/main">
              <a:ext uri="{FF2B5EF4-FFF2-40B4-BE49-F238E27FC236}">
                <a16:creationId xmlns:a16="http://schemas.microsoft.com/office/drawing/2014/main" id="{BCD24D4A-C111-4774-88CD-553D49C26E10}"/>
              </a:ext>
            </a:extLst>
          </p:cNvPr>
          <p:cNvSpPr>
            <a:spLocks xmlns:a="http://schemas.openxmlformats.org/drawingml/2006/main" noGrp="1"/>
          </p:cNvSpPr>
          <p:nvPr/>
        </p:nvSpPr>
        <p:spPr>
          <a:xfrm xmlns:a="http://schemas.openxmlformats.org/drawingml/2006/main">
            <a:off x="4572000" y="44577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lgn="l">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Apply stronger verification or cooling-off</a:t>
            </a:r>
          </a:p>
        </p:txBody>
      </p:sp>
      <p:sp>
        <p:nvSpPr>
          <p:cNvPr id="22" name="timeline-dot-5-1">
            <a:extLst xmlns:a="http://schemas.openxmlformats.org/drawingml/2006/main">
              <a:ext uri="{FF2B5EF4-FFF2-40B4-BE49-F238E27FC236}">
                <a16:creationId xmlns:a16="http://schemas.microsoft.com/office/drawing/2014/main" id="{89D1B57D-DC8F-4D58-81B5-EB6628E2704E}"/>
              </a:ext>
            </a:extLst>
          </p:cNvPr>
          <p:cNvSpPr>
            <a:spLocks xmlns:a="http://schemas.openxmlformats.org/drawingml/2006/main" noGrp="1"/>
          </p:cNvSpPr>
          <p:nvPr/>
        </p:nvSpPr>
        <p:spPr>
          <a:xfrm xmlns:a="http://schemas.openxmlformats.org/drawingml/2006/main">
            <a:off x="4476750" y="5534025"/>
            <a:ext cx="190500" cy="1905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23" name="timeline-phase-5-1">
            <a:extLst xmlns:a="http://schemas.openxmlformats.org/drawingml/2006/main">
              <a:ext uri="{FF2B5EF4-FFF2-40B4-BE49-F238E27FC236}">
                <a16:creationId xmlns:a16="http://schemas.microsoft.com/office/drawing/2014/main" id="{859A38C7-0A70-4344-AEE3-9894DC75D761}"/>
              </a:ext>
            </a:extLst>
          </p:cNvPr>
          <p:cNvSpPr>
            <a:spLocks xmlns:a="http://schemas.openxmlformats.org/drawingml/2006/main" noGrp="1"/>
          </p:cNvSpPr>
          <p:nvPr/>
        </p:nvSpPr>
        <p:spPr>
          <a:xfrm xmlns:a="http://schemas.openxmlformats.org/drawingml/2006/main">
            <a:off x="4743450" y="57912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PREVENT</a:t>
            </a:r>
          </a:p>
        </p:txBody>
      </p:sp>
      <p:sp>
        <p:nvSpPr>
          <p:cNvPr id="24" name="timeline-card-5-2">
            <a:extLst xmlns:a="http://schemas.openxmlformats.org/drawingml/2006/main">
              <a:ext uri="{FF2B5EF4-FFF2-40B4-BE49-F238E27FC236}">
                <a16:creationId xmlns:a16="http://schemas.microsoft.com/office/drawing/2014/main" id="{A3DED433-AE76-4261-9F69-E4F1D607CB08}"/>
              </a:ext>
            </a:extLst>
          </p:cNvPr>
          <p:cNvSpPr>
            <a:spLocks xmlns:a="http://schemas.openxmlformats.org/drawingml/2006/main" noGrp="1"/>
          </p:cNvSpPr>
          <p:nvPr/>
        </p:nvSpPr>
        <p:spPr>
          <a:xfrm xmlns:a="http://schemas.openxmlformats.org/drawingml/2006/main">
            <a:off x="8153400" y="1524000"/>
            <a:ext cx="3352800" cy="3714750"/>
          </a:xfrm>
          <a:prstGeom xmlns:a="http://schemas.openxmlformats.org/drawingml/2006/main" prst="rect">
            <a:avLst/>
          </a:prstGeom>
          <a:solidFill xmlns:a="http://schemas.openxmlformats.org/drawingml/2006/main">
            <a:srgbClr val="E2EEFF"/>
          </a:solidFill>
          <a:ln xmlns:a="http://schemas.openxmlformats.org/drawingml/2006/main" w="0">
            <a:noFill/>
            <a:prstDash val="solid"/>
          </a:ln>
        </p:spPr>
      </p:sp>
      <p:sp>
        <p:nvSpPr>
          <p:cNvPr id="25" name="timeline-time-5-2">
            <a:extLst xmlns:a="http://schemas.openxmlformats.org/drawingml/2006/main">
              <a:ext uri="{FF2B5EF4-FFF2-40B4-BE49-F238E27FC236}">
                <a16:creationId xmlns:a16="http://schemas.microsoft.com/office/drawing/2014/main" id="{4FF7331B-E819-480F-BDB7-6F3E54859A8F}"/>
              </a:ext>
            </a:extLst>
          </p:cNvPr>
          <p:cNvSpPr>
            <a:spLocks xmlns:a="http://schemas.openxmlformats.org/drawingml/2006/main" noGrp="1"/>
          </p:cNvSpPr>
          <p:nvPr/>
        </p:nvSpPr>
        <p:spPr>
          <a:xfrm xmlns:a="http://schemas.openxmlformats.org/drawingml/2006/main">
            <a:off x="8382000" y="1771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01:00</a:t>
            </a:r>
          </a:p>
        </p:txBody>
      </p:sp>
      <p:sp>
        <p:nvSpPr>
          <p:cNvPr id="26" name="timeline-title-5-2">
            <a:extLst xmlns:a="http://schemas.openxmlformats.org/drawingml/2006/main">
              <a:ext uri="{FF2B5EF4-FFF2-40B4-BE49-F238E27FC236}">
                <a16:creationId xmlns:a16="http://schemas.microsoft.com/office/drawing/2014/main" id="{CF0A1A33-91DF-448A-9844-EE687E9827C0}"/>
              </a:ext>
            </a:extLst>
          </p:cNvPr>
          <p:cNvSpPr>
            <a:spLocks xmlns:a="http://schemas.openxmlformats.org/drawingml/2006/main" noGrp="1"/>
          </p:cNvSpPr>
          <p:nvPr/>
        </p:nvSpPr>
        <p:spPr>
          <a:xfrm xmlns:a="http://schemas.openxmlformats.org/drawingml/2006/main">
            <a:off x="8382000" y="219075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Beneficiary setup</a:t>
            </a:r>
          </a:p>
        </p:txBody>
      </p:sp>
      <p:sp>
        <p:nvSpPr>
          <p:cNvPr id="27" name="timeline-red-label-5-2">
            <a:extLst xmlns:a="http://schemas.openxmlformats.org/drawingml/2006/main">
              <a:ext uri="{FF2B5EF4-FFF2-40B4-BE49-F238E27FC236}">
                <a16:creationId xmlns:a16="http://schemas.microsoft.com/office/drawing/2014/main" id="{03F45F67-DB3C-4FE8-91D9-592A37703CAA}"/>
              </a:ext>
            </a:extLst>
          </p:cNvPr>
          <p:cNvSpPr>
            <a:spLocks xmlns:a="http://schemas.openxmlformats.org/drawingml/2006/main" noGrp="1"/>
          </p:cNvSpPr>
          <p:nvPr/>
        </p:nvSpPr>
        <p:spPr>
          <a:xfrm xmlns:a="http://schemas.openxmlformats.org/drawingml/2006/main">
            <a:off x="8382000" y="30670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E85D5D"/>
                </a:solidFill>
                <a:latin typeface="Helvetica Neue"/>
                <a:ea typeface="Helvetica Neue"/>
                <a:cs typeface="Helvetica Neue"/>
              </a:defRPr>
            </a:pPr>
            <a:r>
              <a:rPr sz="975" b="1">
                <a:solidFill>
                  <a:srgbClr val="E85D5D"/>
                </a:solidFill>
                <a:latin typeface="Helvetica Neue"/>
                <a:ea typeface="Helvetica Neue"/>
                <a:cs typeface="Helvetica Neue"/>
              </a:rPr>
              <a:t>RED GENERATES</a:t>
            </a:r>
          </a:p>
        </p:txBody>
      </p:sp>
      <p:sp>
        <p:nvSpPr>
          <p:cNvPr id="28" name="timeline-red-body-5-2">
            <a:extLst xmlns:a="http://schemas.openxmlformats.org/drawingml/2006/main">
              <a:ext uri="{FF2B5EF4-FFF2-40B4-BE49-F238E27FC236}">
                <a16:creationId xmlns:a16="http://schemas.microsoft.com/office/drawing/2014/main" id="{5385DC4E-6817-4CF5-8E2F-054AB4B6F71C}"/>
              </a:ext>
            </a:extLst>
          </p:cNvPr>
          <p:cNvSpPr>
            <a:spLocks xmlns:a="http://schemas.openxmlformats.org/drawingml/2006/main" noGrp="1"/>
          </p:cNvSpPr>
          <p:nvPr/>
        </p:nvSpPr>
        <p:spPr>
          <a:xfrm xmlns:a="http://schemas.openxmlformats.org/drawingml/2006/main">
            <a:off x="8382000" y="33147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Introduces a beneficiary only five days old.</a:t>
            </a:r>
          </a:p>
        </p:txBody>
      </p:sp>
      <p:sp>
        <p:nvSpPr>
          <p:cNvPr id="29" name="timeline-blue-label-5-2">
            <a:extLst xmlns:a="http://schemas.openxmlformats.org/drawingml/2006/main">
              <a:ext uri="{FF2B5EF4-FFF2-40B4-BE49-F238E27FC236}">
                <a16:creationId xmlns:a16="http://schemas.microsoft.com/office/drawing/2014/main" id="{231DD63F-5F30-455D-96BD-287A0A7F096D}"/>
              </a:ext>
            </a:extLst>
          </p:cNvPr>
          <p:cNvSpPr>
            <a:spLocks xmlns:a="http://schemas.openxmlformats.org/drawingml/2006/main" noGrp="1"/>
          </p:cNvSpPr>
          <p:nvPr/>
        </p:nvSpPr>
        <p:spPr>
          <a:xfrm xmlns:a="http://schemas.openxmlformats.org/drawingml/2006/main">
            <a:off x="8382000" y="42100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BLUE CAN</a:t>
            </a:r>
          </a:p>
        </p:txBody>
      </p:sp>
      <p:sp>
        <p:nvSpPr>
          <p:cNvPr id="30" name="timeline-blue-body-5-2">
            <a:extLst xmlns:a="http://schemas.openxmlformats.org/drawingml/2006/main">
              <a:ext uri="{FF2B5EF4-FFF2-40B4-BE49-F238E27FC236}">
                <a16:creationId xmlns:a16="http://schemas.microsoft.com/office/drawing/2014/main" id="{EF4D663B-2106-446A-B26D-FB2C237257E1}"/>
              </a:ext>
            </a:extLst>
          </p:cNvPr>
          <p:cNvSpPr>
            <a:spLocks xmlns:a="http://schemas.openxmlformats.org/drawingml/2006/main" noGrp="1"/>
          </p:cNvSpPr>
          <p:nvPr/>
        </p:nvSpPr>
        <p:spPr>
          <a:xfrm xmlns:a="http://schemas.openxmlformats.org/drawingml/2006/main">
            <a:off x="8382000" y="44577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lgn="l">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Verify the payee or delay payment rights</a:t>
            </a:r>
          </a:p>
        </p:txBody>
      </p:sp>
      <p:sp>
        <p:nvSpPr>
          <p:cNvPr id="31" name="timeline-dot-5-2">
            <a:extLst xmlns:a="http://schemas.openxmlformats.org/drawingml/2006/main">
              <a:ext uri="{FF2B5EF4-FFF2-40B4-BE49-F238E27FC236}">
                <a16:creationId xmlns:a16="http://schemas.microsoft.com/office/drawing/2014/main" id="{322E80B7-B975-4EEB-BF8D-1D2EEC220FD4}"/>
              </a:ext>
            </a:extLst>
          </p:cNvPr>
          <p:cNvSpPr>
            <a:spLocks xmlns:a="http://schemas.openxmlformats.org/drawingml/2006/main" noGrp="1"/>
          </p:cNvSpPr>
          <p:nvPr/>
        </p:nvSpPr>
        <p:spPr>
          <a:xfrm xmlns:a="http://schemas.openxmlformats.org/drawingml/2006/main">
            <a:off x="8286750" y="5534025"/>
            <a:ext cx="190500" cy="1905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32" name="timeline-phase-5-2">
            <a:extLst xmlns:a="http://schemas.openxmlformats.org/drawingml/2006/main">
              <a:ext uri="{FF2B5EF4-FFF2-40B4-BE49-F238E27FC236}">
                <a16:creationId xmlns:a16="http://schemas.microsoft.com/office/drawing/2014/main" id="{F9414D27-BF7B-4579-8439-78D48D1F7C6E}"/>
              </a:ext>
            </a:extLst>
          </p:cNvPr>
          <p:cNvSpPr>
            <a:spLocks xmlns:a="http://schemas.openxmlformats.org/drawingml/2006/main" noGrp="1"/>
          </p:cNvSpPr>
          <p:nvPr/>
        </p:nvSpPr>
        <p:spPr>
          <a:xfrm xmlns:a="http://schemas.openxmlformats.org/drawingml/2006/main">
            <a:off x="8553450" y="57912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PREVENT</a:t>
            </a:r>
          </a:p>
        </p:txBody>
      </p:sp>
    </p:spTree>
    <p:extLst>
      <p:ext uri="{BB962C8B-B14F-4D97-AF65-F5344CB8AC3E}">
        <p14:creationId xmlns:p14="http://schemas.microsoft.com/office/powerpoint/2010/main" val="5649302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eyebrow-6">
            <a:extLst xmlns:a="http://schemas.openxmlformats.org/drawingml/2006/main">
              <a:ext uri="{FF2B5EF4-FFF2-40B4-BE49-F238E27FC236}">
                <a16:creationId xmlns:a16="http://schemas.microsoft.com/office/drawing/2014/main" id="{90E24B83-AF33-4D45-8DE3-4C27FE77B554}"/>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6">
            <a:extLst xmlns:a="http://schemas.openxmlformats.org/drawingml/2006/main">
              <a:ext uri="{FF2B5EF4-FFF2-40B4-BE49-F238E27FC236}">
                <a16:creationId xmlns:a16="http://schemas.microsoft.com/office/drawing/2014/main" id="{9B982D58-6073-45EE-ACB7-D5357C737684}"/>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Suspicious context becomes a payment decision</a:t>
            </a:r>
          </a:p>
        </p:txBody>
      </p:sp>
      <p:sp>
        <p:nvSpPr>
          <p:cNvPr id="3" name="header-rule-6">
            <a:extLst xmlns:a="http://schemas.openxmlformats.org/drawingml/2006/main">
              <a:ext uri="{FF2B5EF4-FFF2-40B4-BE49-F238E27FC236}">
                <a16:creationId xmlns:a16="http://schemas.microsoft.com/office/drawing/2014/main" id="{27C3A348-0019-42C0-AEAC-E9885E369D45}"/>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6">
            <a:extLst xmlns:a="http://schemas.openxmlformats.org/drawingml/2006/main">
              <a:ext uri="{FF2B5EF4-FFF2-40B4-BE49-F238E27FC236}">
                <a16:creationId xmlns:a16="http://schemas.microsoft.com/office/drawing/2014/main" id="{447E1E3E-5E81-463E-9BB8-BC336ABE20A3}"/>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6</a:t>
            </a:r>
          </a:p>
        </p:txBody>
      </p:sp>
      <p:sp>
        <p:nvSpPr>
          <p:cNvPr id="5" name="timeline-line-6">
            <a:extLst xmlns:a="http://schemas.openxmlformats.org/drawingml/2006/main">
              <a:ext uri="{FF2B5EF4-FFF2-40B4-BE49-F238E27FC236}">
                <a16:creationId xmlns:a16="http://schemas.microsoft.com/office/drawing/2014/main" id="{72871958-C26B-4D80-A8AD-05BB95A07BC6}"/>
              </a:ext>
            </a:extLst>
          </p:cNvPr>
          <p:cNvSpPr>
            <a:spLocks xmlns:a="http://schemas.openxmlformats.org/drawingml/2006/main" noGrp="1"/>
          </p:cNvSpPr>
          <p:nvPr/>
        </p:nvSpPr>
        <p:spPr>
          <a:xfrm xmlns:a="http://schemas.openxmlformats.org/drawingml/2006/main">
            <a:off x="723900" y="5619750"/>
            <a:ext cx="10744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6" name="timeline-card-6-0">
            <a:extLst xmlns:a="http://schemas.openxmlformats.org/drawingml/2006/main">
              <a:ext uri="{FF2B5EF4-FFF2-40B4-BE49-F238E27FC236}">
                <a16:creationId xmlns:a16="http://schemas.microsoft.com/office/drawing/2014/main" id="{8DF91217-89FC-43F9-9B13-262AEA905595}"/>
              </a:ext>
            </a:extLst>
          </p:cNvPr>
          <p:cNvSpPr>
            <a:spLocks xmlns:a="http://schemas.openxmlformats.org/drawingml/2006/main" noGrp="1"/>
          </p:cNvSpPr>
          <p:nvPr/>
        </p:nvSpPr>
        <p:spPr>
          <a:xfrm xmlns:a="http://schemas.openxmlformats.org/drawingml/2006/main">
            <a:off x="533400" y="1524000"/>
            <a:ext cx="3352800" cy="3714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timeline-time-6-0">
            <a:extLst xmlns:a="http://schemas.openxmlformats.org/drawingml/2006/main">
              <a:ext uri="{FF2B5EF4-FFF2-40B4-BE49-F238E27FC236}">
                <a16:creationId xmlns:a16="http://schemas.microsoft.com/office/drawing/2014/main" id="{E4459070-B4E0-4D0D-98ED-A87009E9BBDA}"/>
              </a:ext>
            </a:extLst>
          </p:cNvPr>
          <p:cNvSpPr>
            <a:spLocks xmlns:a="http://schemas.openxmlformats.org/drawingml/2006/main" noGrp="1"/>
          </p:cNvSpPr>
          <p:nvPr/>
        </p:nvSpPr>
        <p:spPr>
          <a:xfrm xmlns:a="http://schemas.openxmlformats.org/drawingml/2006/main">
            <a:off x="762000" y="1771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01:50</a:t>
            </a:r>
          </a:p>
        </p:txBody>
      </p:sp>
      <p:sp>
        <p:nvSpPr>
          <p:cNvPr id="8" name="timeline-title-6-0">
            <a:extLst xmlns:a="http://schemas.openxmlformats.org/drawingml/2006/main">
              <a:ext uri="{FF2B5EF4-FFF2-40B4-BE49-F238E27FC236}">
                <a16:creationId xmlns:a16="http://schemas.microsoft.com/office/drawing/2014/main" id="{9422DA53-9B96-46A5-98C7-546E9D65B29C}"/>
              </a:ext>
            </a:extLst>
          </p:cNvPr>
          <p:cNvSpPr>
            <a:spLocks xmlns:a="http://schemas.openxmlformats.org/drawingml/2006/main" noGrp="1"/>
          </p:cNvSpPr>
          <p:nvPr/>
        </p:nvSpPr>
        <p:spPr>
          <a:xfrm xmlns:a="http://schemas.openxmlformats.org/drawingml/2006/main">
            <a:off x="762000" y="219075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Test transfer</a:t>
            </a:r>
          </a:p>
        </p:txBody>
      </p:sp>
      <p:sp>
        <p:nvSpPr>
          <p:cNvPr id="9" name="timeline-red-label-6-0">
            <a:extLst xmlns:a="http://schemas.openxmlformats.org/drawingml/2006/main">
              <a:ext uri="{FF2B5EF4-FFF2-40B4-BE49-F238E27FC236}">
                <a16:creationId xmlns:a16="http://schemas.microsoft.com/office/drawing/2014/main" id="{428A591B-6928-4638-A2C2-DB4CAD63EC11}"/>
              </a:ext>
            </a:extLst>
          </p:cNvPr>
          <p:cNvSpPr>
            <a:spLocks xmlns:a="http://schemas.openxmlformats.org/drawingml/2006/main" noGrp="1"/>
          </p:cNvSpPr>
          <p:nvPr/>
        </p:nvSpPr>
        <p:spPr>
          <a:xfrm xmlns:a="http://schemas.openxmlformats.org/drawingml/2006/main">
            <a:off x="762000" y="30670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E85D5D"/>
                </a:solidFill>
                <a:latin typeface="Helvetica Neue"/>
                <a:ea typeface="Helvetica Neue"/>
                <a:cs typeface="Helvetica Neue"/>
              </a:defRPr>
            </a:pPr>
            <a:r>
              <a:rPr sz="975" b="1">
                <a:solidFill>
                  <a:srgbClr val="E85D5D"/>
                </a:solidFill>
                <a:latin typeface="Helvetica Neue"/>
                <a:ea typeface="Helvetica Neue"/>
                <a:cs typeface="Helvetica Neue"/>
              </a:rPr>
              <a:t>RED GENERATES</a:t>
            </a:r>
          </a:p>
        </p:txBody>
      </p:sp>
      <p:sp>
        <p:nvSpPr>
          <p:cNvPr id="10" name="timeline-red-body-6-0">
            <a:extLst xmlns:a="http://schemas.openxmlformats.org/drawingml/2006/main">
              <a:ext uri="{FF2B5EF4-FFF2-40B4-BE49-F238E27FC236}">
                <a16:creationId xmlns:a16="http://schemas.microsoft.com/office/drawing/2014/main" id="{4ADFC66C-DE47-4170-9AC1-6D04C1D111D1}"/>
              </a:ext>
            </a:extLst>
          </p:cNvPr>
          <p:cNvSpPr>
            <a:spLocks xmlns:a="http://schemas.openxmlformats.org/drawingml/2006/main" noGrp="1"/>
          </p:cNvSpPr>
          <p:nvPr/>
        </p:nvSpPr>
        <p:spPr>
          <a:xfrm xmlns:a="http://schemas.openxmlformats.org/drawingml/2006/main">
            <a:off x="762000" y="33147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Initiates a small synthetic payment of about INR 4,000.</a:t>
            </a:r>
          </a:p>
        </p:txBody>
      </p:sp>
      <p:sp>
        <p:nvSpPr>
          <p:cNvPr id="11" name="timeline-blue-label-6-0">
            <a:extLst xmlns:a="http://schemas.openxmlformats.org/drawingml/2006/main">
              <a:ext uri="{FF2B5EF4-FFF2-40B4-BE49-F238E27FC236}">
                <a16:creationId xmlns:a16="http://schemas.microsoft.com/office/drawing/2014/main" id="{091E3C58-0B15-44A0-A1A1-4DE9DE00E730}"/>
              </a:ext>
            </a:extLst>
          </p:cNvPr>
          <p:cNvSpPr>
            <a:spLocks xmlns:a="http://schemas.openxmlformats.org/drawingml/2006/main" noGrp="1"/>
          </p:cNvSpPr>
          <p:nvPr/>
        </p:nvSpPr>
        <p:spPr>
          <a:xfrm xmlns:a="http://schemas.openxmlformats.org/drawingml/2006/main">
            <a:off x="762000" y="42100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BLUE CAN</a:t>
            </a:r>
          </a:p>
        </p:txBody>
      </p:sp>
      <p:sp>
        <p:nvSpPr>
          <p:cNvPr id="12" name="timeline-blue-body-6-0">
            <a:extLst xmlns:a="http://schemas.openxmlformats.org/drawingml/2006/main">
              <a:ext uri="{FF2B5EF4-FFF2-40B4-BE49-F238E27FC236}">
                <a16:creationId xmlns:a16="http://schemas.microsoft.com/office/drawing/2014/main" id="{CE6A537A-D19F-4315-A528-ABD5BED3324F}"/>
              </a:ext>
            </a:extLst>
          </p:cNvPr>
          <p:cNvSpPr>
            <a:spLocks xmlns:a="http://schemas.openxmlformats.org/drawingml/2006/main" noGrp="1"/>
          </p:cNvSpPr>
          <p:nvPr/>
        </p:nvSpPr>
        <p:spPr>
          <a:xfrm xmlns:a="http://schemas.openxmlformats.org/drawingml/2006/main">
            <a:off x="762000" y="44577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Allow, challenge, hold or block</a:t>
            </a:r>
          </a:p>
        </p:txBody>
      </p:sp>
      <p:sp>
        <p:nvSpPr>
          <p:cNvPr id="13" name="timeline-dot-6-0">
            <a:extLst xmlns:a="http://schemas.openxmlformats.org/drawingml/2006/main">
              <a:ext uri="{FF2B5EF4-FFF2-40B4-BE49-F238E27FC236}">
                <a16:creationId xmlns:a16="http://schemas.microsoft.com/office/drawing/2014/main" id="{DB8986FA-D19F-40C9-95BB-DBAAF2A5620D}"/>
              </a:ext>
            </a:extLst>
          </p:cNvPr>
          <p:cNvSpPr>
            <a:spLocks xmlns:a="http://schemas.openxmlformats.org/drawingml/2006/main" noGrp="1"/>
          </p:cNvSpPr>
          <p:nvPr/>
        </p:nvSpPr>
        <p:spPr>
          <a:xfrm xmlns:a="http://schemas.openxmlformats.org/drawingml/2006/main">
            <a:off x="666750" y="5534025"/>
            <a:ext cx="190500" cy="1905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4" name="timeline-phase-6-0">
            <a:extLst xmlns:a="http://schemas.openxmlformats.org/drawingml/2006/main">
              <a:ext uri="{FF2B5EF4-FFF2-40B4-BE49-F238E27FC236}">
                <a16:creationId xmlns:a16="http://schemas.microsoft.com/office/drawing/2014/main" id="{206F4A44-EE00-4B06-BE72-74BC62CABB6A}"/>
              </a:ext>
            </a:extLst>
          </p:cNvPr>
          <p:cNvSpPr>
            <a:spLocks xmlns:a="http://schemas.openxmlformats.org/drawingml/2006/main" noGrp="1"/>
          </p:cNvSpPr>
          <p:nvPr/>
        </p:nvSpPr>
        <p:spPr>
          <a:xfrm xmlns:a="http://schemas.openxmlformats.org/drawingml/2006/main">
            <a:off x="933450" y="57912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DECIDE</a:t>
            </a:r>
          </a:p>
        </p:txBody>
      </p:sp>
      <p:sp>
        <p:nvSpPr>
          <p:cNvPr id="15" name="timeline-card-6-1">
            <a:extLst xmlns:a="http://schemas.openxmlformats.org/drawingml/2006/main">
              <a:ext uri="{FF2B5EF4-FFF2-40B4-BE49-F238E27FC236}">
                <a16:creationId xmlns:a16="http://schemas.microsoft.com/office/drawing/2014/main" id="{171A0D69-0201-4699-8264-39CE854949F1}"/>
              </a:ext>
            </a:extLst>
          </p:cNvPr>
          <p:cNvSpPr>
            <a:spLocks xmlns:a="http://schemas.openxmlformats.org/drawingml/2006/main" noGrp="1"/>
          </p:cNvSpPr>
          <p:nvPr/>
        </p:nvSpPr>
        <p:spPr>
          <a:xfrm xmlns:a="http://schemas.openxmlformats.org/drawingml/2006/main">
            <a:off x="4343400" y="1524000"/>
            <a:ext cx="3352800" cy="3714750"/>
          </a:xfrm>
          <a:prstGeom xmlns:a="http://schemas.openxmlformats.org/drawingml/2006/main" prst="rect">
            <a:avLst/>
          </a:prstGeom>
          <a:solidFill xmlns:a="http://schemas.openxmlformats.org/drawingml/2006/main">
            <a:srgbClr val="FBE5E5"/>
          </a:solidFill>
          <a:ln xmlns:a="http://schemas.openxmlformats.org/drawingml/2006/main" w="0">
            <a:noFill/>
            <a:prstDash val="solid"/>
          </a:ln>
        </p:spPr>
      </p:sp>
      <p:sp>
        <p:nvSpPr>
          <p:cNvPr id="16" name="timeline-time-6-1">
            <a:extLst xmlns:a="http://schemas.openxmlformats.org/drawingml/2006/main">
              <a:ext uri="{FF2B5EF4-FFF2-40B4-BE49-F238E27FC236}">
                <a16:creationId xmlns:a16="http://schemas.microsoft.com/office/drawing/2014/main" id="{8835005B-D4E6-411E-9018-47EBCDBD6B69}"/>
              </a:ext>
            </a:extLst>
          </p:cNvPr>
          <p:cNvSpPr>
            <a:spLocks xmlns:a="http://schemas.openxmlformats.org/drawingml/2006/main" noGrp="1"/>
          </p:cNvSpPr>
          <p:nvPr/>
        </p:nvSpPr>
        <p:spPr>
          <a:xfrm xmlns:a="http://schemas.openxmlformats.org/drawingml/2006/main">
            <a:off x="4572000" y="1771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E85D5D"/>
                </a:solidFill>
                <a:latin typeface="Helvetica Neue"/>
                <a:ea typeface="Helvetica Neue"/>
                <a:cs typeface="Helvetica Neue"/>
              </a:defRPr>
            </a:pPr>
            <a:r>
              <a:rPr sz="1200" b="1">
                <a:solidFill>
                  <a:srgbClr val="E85D5D"/>
                </a:solidFill>
                <a:latin typeface="Helvetica Neue"/>
                <a:ea typeface="Helvetica Neue"/>
                <a:cs typeface="Helvetica Neue"/>
              </a:rPr>
              <a:t>04:00</a:t>
            </a:r>
          </a:p>
        </p:txBody>
      </p:sp>
      <p:sp>
        <p:nvSpPr>
          <p:cNvPr id="17" name="timeline-title-6-1">
            <a:extLst xmlns:a="http://schemas.openxmlformats.org/drawingml/2006/main">
              <a:ext uri="{FF2B5EF4-FFF2-40B4-BE49-F238E27FC236}">
                <a16:creationId xmlns:a16="http://schemas.microsoft.com/office/drawing/2014/main" id="{6563C6AD-0BCE-45C8-8E9A-D52276E95156}"/>
              </a:ext>
            </a:extLst>
          </p:cNvPr>
          <p:cNvSpPr>
            <a:spLocks xmlns:a="http://schemas.openxmlformats.org/drawingml/2006/main" noGrp="1"/>
          </p:cNvSpPr>
          <p:nvPr/>
        </p:nvSpPr>
        <p:spPr>
          <a:xfrm xmlns:a="http://schemas.openxmlformats.org/drawingml/2006/main">
            <a:off x="4572000" y="219075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Primary transfer</a:t>
            </a:r>
          </a:p>
        </p:txBody>
      </p:sp>
      <p:sp>
        <p:nvSpPr>
          <p:cNvPr id="18" name="timeline-red-label-6-1">
            <a:extLst xmlns:a="http://schemas.openxmlformats.org/drawingml/2006/main">
              <a:ext uri="{FF2B5EF4-FFF2-40B4-BE49-F238E27FC236}">
                <a16:creationId xmlns:a16="http://schemas.microsoft.com/office/drawing/2014/main" id="{36248505-4C43-4AB0-8C60-3DE59E37BDF9}"/>
              </a:ext>
            </a:extLst>
          </p:cNvPr>
          <p:cNvSpPr>
            <a:spLocks xmlns:a="http://schemas.openxmlformats.org/drawingml/2006/main" noGrp="1"/>
          </p:cNvSpPr>
          <p:nvPr/>
        </p:nvSpPr>
        <p:spPr>
          <a:xfrm xmlns:a="http://schemas.openxmlformats.org/drawingml/2006/main">
            <a:off x="4572000" y="30670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E85D5D"/>
                </a:solidFill>
                <a:latin typeface="Helvetica Neue"/>
                <a:ea typeface="Helvetica Neue"/>
                <a:cs typeface="Helvetica Neue"/>
              </a:defRPr>
            </a:pPr>
            <a:r>
              <a:rPr sz="975" b="1">
                <a:solidFill>
                  <a:srgbClr val="E85D5D"/>
                </a:solidFill>
                <a:latin typeface="Helvetica Neue"/>
                <a:ea typeface="Helvetica Neue"/>
                <a:cs typeface="Helvetica Neue"/>
              </a:rPr>
              <a:t>RED GENERATES</a:t>
            </a:r>
          </a:p>
        </p:txBody>
      </p:sp>
      <p:sp>
        <p:nvSpPr>
          <p:cNvPr id="19" name="timeline-red-body-6-1">
            <a:extLst xmlns:a="http://schemas.openxmlformats.org/drawingml/2006/main">
              <a:ext uri="{FF2B5EF4-FFF2-40B4-BE49-F238E27FC236}">
                <a16:creationId xmlns:a16="http://schemas.microsoft.com/office/drawing/2014/main" id="{6E17490A-1170-4A61-B903-ED9434C13869}"/>
              </a:ext>
            </a:extLst>
          </p:cNvPr>
          <p:cNvSpPr>
            <a:spLocks xmlns:a="http://schemas.openxmlformats.org/drawingml/2006/main" noGrp="1"/>
          </p:cNvSpPr>
          <p:nvPr/>
        </p:nvSpPr>
        <p:spPr>
          <a:xfrm xmlns:a="http://schemas.openxmlformats.org/drawingml/2006/main">
            <a:off x="4572000" y="33147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Raises the payment to about INR 50,000—5× baseline.</a:t>
            </a:r>
          </a:p>
        </p:txBody>
      </p:sp>
      <p:sp>
        <p:nvSpPr>
          <p:cNvPr id="20" name="timeline-blue-label-6-1">
            <a:extLst xmlns:a="http://schemas.openxmlformats.org/drawingml/2006/main">
              <a:ext uri="{FF2B5EF4-FFF2-40B4-BE49-F238E27FC236}">
                <a16:creationId xmlns:a16="http://schemas.microsoft.com/office/drawing/2014/main" id="{46EAF079-C416-4AC7-9EB4-AFCD38F42076}"/>
              </a:ext>
            </a:extLst>
          </p:cNvPr>
          <p:cNvSpPr>
            <a:spLocks xmlns:a="http://schemas.openxmlformats.org/drawingml/2006/main" noGrp="1"/>
          </p:cNvSpPr>
          <p:nvPr/>
        </p:nvSpPr>
        <p:spPr>
          <a:xfrm xmlns:a="http://schemas.openxmlformats.org/drawingml/2006/main">
            <a:off x="4572000" y="42100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BLUE CAN</a:t>
            </a:r>
          </a:p>
        </p:txBody>
      </p:sp>
      <p:sp>
        <p:nvSpPr>
          <p:cNvPr id="21" name="timeline-blue-body-6-1">
            <a:extLst xmlns:a="http://schemas.openxmlformats.org/drawingml/2006/main">
              <a:ext uri="{FF2B5EF4-FFF2-40B4-BE49-F238E27FC236}">
                <a16:creationId xmlns:a16="http://schemas.microsoft.com/office/drawing/2014/main" id="{BDE3D3F2-0236-42F8-A960-804040CE2BD9}"/>
              </a:ext>
            </a:extLst>
          </p:cNvPr>
          <p:cNvSpPr>
            <a:spLocks xmlns:a="http://schemas.openxmlformats.org/drawingml/2006/main" noGrp="1"/>
          </p:cNvSpPr>
          <p:nvPr/>
        </p:nvSpPr>
        <p:spPr>
          <a:xfrm xmlns:a="http://schemas.openxmlformats.org/drawingml/2006/main">
            <a:off x="4572000" y="44577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lgn="l">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Use the full sequence for a real-time action</a:t>
            </a:r>
          </a:p>
        </p:txBody>
      </p:sp>
      <p:sp>
        <p:nvSpPr>
          <p:cNvPr id="22" name="timeline-dot-6-1">
            <a:extLst xmlns:a="http://schemas.openxmlformats.org/drawingml/2006/main">
              <a:ext uri="{FF2B5EF4-FFF2-40B4-BE49-F238E27FC236}">
                <a16:creationId xmlns:a16="http://schemas.microsoft.com/office/drawing/2014/main" id="{F90E35FB-AF21-4D29-B473-B5AA5F5082A6}"/>
              </a:ext>
            </a:extLst>
          </p:cNvPr>
          <p:cNvSpPr>
            <a:spLocks xmlns:a="http://schemas.openxmlformats.org/drawingml/2006/main" noGrp="1"/>
          </p:cNvSpPr>
          <p:nvPr/>
        </p:nvSpPr>
        <p:spPr>
          <a:xfrm xmlns:a="http://schemas.openxmlformats.org/drawingml/2006/main">
            <a:off x="4476750" y="5534025"/>
            <a:ext cx="190500" cy="190500"/>
          </a:xfrm>
          <a:prstGeom xmlns:a="http://schemas.openxmlformats.org/drawingml/2006/main" prst="ellipse">
            <a:avLst/>
          </a:prstGeom>
          <a:solidFill xmlns:a="http://schemas.openxmlformats.org/drawingml/2006/main">
            <a:srgbClr val="E85D5D"/>
          </a:solidFill>
          <a:ln xmlns:a="http://schemas.openxmlformats.org/drawingml/2006/main" w="0">
            <a:noFill/>
            <a:prstDash val="solid"/>
          </a:ln>
        </p:spPr>
      </p:sp>
      <p:sp>
        <p:nvSpPr>
          <p:cNvPr id="23" name="timeline-phase-6-1">
            <a:extLst xmlns:a="http://schemas.openxmlformats.org/drawingml/2006/main">
              <a:ext uri="{FF2B5EF4-FFF2-40B4-BE49-F238E27FC236}">
                <a16:creationId xmlns:a16="http://schemas.microsoft.com/office/drawing/2014/main" id="{B697EDD3-0522-4833-B5D0-376BAD459C7F}"/>
              </a:ext>
            </a:extLst>
          </p:cNvPr>
          <p:cNvSpPr>
            <a:spLocks xmlns:a="http://schemas.openxmlformats.org/drawingml/2006/main" noGrp="1"/>
          </p:cNvSpPr>
          <p:nvPr/>
        </p:nvSpPr>
        <p:spPr>
          <a:xfrm xmlns:a="http://schemas.openxmlformats.org/drawingml/2006/main">
            <a:off x="4743450" y="57912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defRPr sz="1200" b="1">
                <a:solidFill>
                  <a:srgbClr val="E85D5D"/>
                </a:solidFill>
                <a:latin typeface="Helvetica Neue"/>
                <a:ea typeface="Helvetica Neue"/>
                <a:cs typeface="Helvetica Neue"/>
              </a:defRPr>
            </a:pPr>
            <a:r>
              <a:rPr sz="1200" b="1">
                <a:solidFill>
                  <a:srgbClr val="E85D5D"/>
                </a:solidFill>
                <a:latin typeface="Helvetica Neue"/>
                <a:ea typeface="Helvetica Neue"/>
                <a:cs typeface="Helvetica Neue"/>
              </a:rPr>
              <a:t>DECIDE</a:t>
            </a:r>
          </a:p>
        </p:txBody>
      </p:sp>
      <p:sp>
        <p:nvSpPr>
          <p:cNvPr id="24" name="timeline-card-6-2">
            <a:extLst xmlns:a="http://schemas.openxmlformats.org/drawingml/2006/main">
              <a:ext uri="{FF2B5EF4-FFF2-40B4-BE49-F238E27FC236}">
                <a16:creationId xmlns:a16="http://schemas.microsoft.com/office/drawing/2014/main" id="{31F8103E-569F-458F-B50E-1C748A43D92E}"/>
              </a:ext>
            </a:extLst>
          </p:cNvPr>
          <p:cNvSpPr>
            <a:spLocks xmlns:a="http://schemas.openxmlformats.org/drawingml/2006/main" noGrp="1"/>
          </p:cNvSpPr>
          <p:nvPr/>
        </p:nvSpPr>
        <p:spPr>
          <a:xfrm xmlns:a="http://schemas.openxmlformats.org/drawingml/2006/main">
            <a:off x="8153400" y="1524000"/>
            <a:ext cx="3352800" cy="3714750"/>
          </a:xfrm>
          <a:prstGeom xmlns:a="http://schemas.openxmlformats.org/drawingml/2006/main" prst="rect">
            <a:avLst/>
          </a:prstGeom>
          <a:solidFill xmlns:a="http://schemas.openxmlformats.org/drawingml/2006/main">
            <a:srgbClr val="E2EEFF"/>
          </a:solidFill>
          <a:ln xmlns:a="http://schemas.openxmlformats.org/drawingml/2006/main" w="0">
            <a:noFill/>
            <a:prstDash val="solid"/>
          </a:ln>
        </p:spPr>
      </p:sp>
      <p:sp>
        <p:nvSpPr>
          <p:cNvPr id="25" name="timeline-time-6-2">
            <a:extLst xmlns:a="http://schemas.openxmlformats.org/drawingml/2006/main">
              <a:ext uri="{FF2B5EF4-FFF2-40B4-BE49-F238E27FC236}">
                <a16:creationId xmlns:a16="http://schemas.microsoft.com/office/drawing/2014/main" id="{F8F5EBEA-955B-466F-B843-BFB041E5C060}"/>
              </a:ext>
            </a:extLst>
          </p:cNvPr>
          <p:cNvSpPr>
            <a:spLocks xmlns:a="http://schemas.openxmlformats.org/drawingml/2006/main" noGrp="1"/>
          </p:cNvSpPr>
          <p:nvPr/>
        </p:nvSpPr>
        <p:spPr>
          <a:xfrm xmlns:a="http://schemas.openxmlformats.org/drawingml/2006/main">
            <a:off x="8382000" y="1771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06:00</a:t>
            </a:r>
          </a:p>
        </p:txBody>
      </p:sp>
      <p:sp>
        <p:nvSpPr>
          <p:cNvPr id="26" name="timeline-title-6-2">
            <a:extLst xmlns:a="http://schemas.openxmlformats.org/drawingml/2006/main">
              <a:ext uri="{FF2B5EF4-FFF2-40B4-BE49-F238E27FC236}">
                <a16:creationId xmlns:a16="http://schemas.microsoft.com/office/drawing/2014/main" id="{AAAA854C-070E-4216-8FCF-3E142598C5FE}"/>
              </a:ext>
            </a:extLst>
          </p:cNvPr>
          <p:cNvSpPr>
            <a:spLocks xmlns:a="http://schemas.openxmlformats.org/drawingml/2006/main" noGrp="1"/>
          </p:cNvSpPr>
          <p:nvPr/>
        </p:nvSpPr>
        <p:spPr>
          <a:xfrm xmlns:a="http://schemas.openxmlformats.org/drawingml/2006/main">
            <a:off x="8382000" y="219075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Receiver control</a:t>
            </a:r>
          </a:p>
        </p:txBody>
      </p:sp>
      <p:sp>
        <p:nvSpPr>
          <p:cNvPr id="27" name="timeline-red-label-6-2">
            <a:extLst xmlns:a="http://schemas.openxmlformats.org/drawingml/2006/main">
              <a:ext uri="{FF2B5EF4-FFF2-40B4-BE49-F238E27FC236}">
                <a16:creationId xmlns:a16="http://schemas.microsoft.com/office/drawing/2014/main" id="{0363D425-9C40-4E83-822C-8E36ABF2B565}"/>
              </a:ext>
            </a:extLst>
          </p:cNvPr>
          <p:cNvSpPr>
            <a:spLocks xmlns:a="http://schemas.openxmlformats.org/drawingml/2006/main" noGrp="1"/>
          </p:cNvSpPr>
          <p:nvPr/>
        </p:nvSpPr>
        <p:spPr>
          <a:xfrm xmlns:a="http://schemas.openxmlformats.org/drawingml/2006/main">
            <a:off x="8382000" y="30670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E85D5D"/>
                </a:solidFill>
                <a:latin typeface="Helvetica Neue"/>
                <a:ea typeface="Helvetica Neue"/>
                <a:cs typeface="Helvetica Neue"/>
              </a:defRPr>
            </a:pPr>
            <a:r>
              <a:rPr sz="975" b="1">
                <a:solidFill>
                  <a:srgbClr val="E85D5D"/>
                </a:solidFill>
                <a:latin typeface="Helvetica Neue"/>
                <a:ea typeface="Helvetica Neue"/>
                <a:cs typeface="Helvetica Neue"/>
              </a:rPr>
              <a:t>RED GENERATES</a:t>
            </a:r>
          </a:p>
        </p:txBody>
      </p:sp>
      <p:sp>
        <p:nvSpPr>
          <p:cNvPr id="28" name="timeline-red-body-6-2">
            <a:extLst xmlns:a="http://schemas.openxmlformats.org/drawingml/2006/main">
              <a:ext uri="{FF2B5EF4-FFF2-40B4-BE49-F238E27FC236}">
                <a16:creationId xmlns:a16="http://schemas.microsoft.com/office/drawing/2014/main" id="{97E83FF7-61B6-489A-8D2F-A82624242160}"/>
              </a:ext>
            </a:extLst>
          </p:cNvPr>
          <p:cNvSpPr>
            <a:spLocks xmlns:a="http://schemas.openxmlformats.org/drawingml/2006/main" noGrp="1"/>
          </p:cNvSpPr>
          <p:nvPr/>
        </p:nvSpPr>
        <p:spPr>
          <a:xfrm xmlns:a="http://schemas.openxmlformats.org/drawingml/2006/main">
            <a:off x="8382000" y="33147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The synthetic beneficiary records receipt of the value.</a:t>
            </a:r>
          </a:p>
        </p:txBody>
      </p:sp>
      <p:sp>
        <p:nvSpPr>
          <p:cNvPr id="29" name="timeline-blue-label-6-2">
            <a:extLst xmlns:a="http://schemas.openxmlformats.org/drawingml/2006/main">
              <a:ext uri="{FF2B5EF4-FFF2-40B4-BE49-F238E27FC236}">
                <a16:creationId xmlns:a16="http://schemas.microsoft.com/office/drawing/2014/main" id="{37314C27-2A11-48A7-A539-9AE5CEDF8351}"/>
              </a:ext>
            </a:extLst>
          </p:cNvPr>
          <p:cNvSpPr>
            <a:spLocks xmlns:a="http://schemas.openxmlformats.org/drawingml/2006/main" noGrp="1"/>
          </p:cNvSpPr>
          <p:nvPr/>
        </p:nvSpPr>
        <p:spPr>
          <a:xfrm xmlns:a="http://schemas.openxmlformats.org/drawingml/2006/main">
            <a:off x="8382000" y="42100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BLUE CAN</a:t>
            </a:r>
          </a:p>
        </p:txBody>
      </p:sp>
      <p:sp>
        <p:nvSpPr>
          <p:cNvPr id="30" name="timeline-blue-body-6-2">
            <a:extLst xmlns:a="http://schemas.openxmlformats.org/drawingml/2006/main">
              <a:ext uri="{FF2B5EF4-FFF2-40B4-BE49-F238E27FC236}">
                <a16:creationId xmlns:a16="http://schemas.microsoft.com/office/drawing/2014/main" id="{5A9648AA-8460-4586-B05E-6876F13C2EE2}"/>
              </a:ext>
            </a:extLst>
          </p:cNvPr>
          <p:cNvSpPr>
            <a:spLocks xmlns:a="http://schemas.openxmlformats.org/drawingml/2006/main" noGrp="1"/>
          </p:cNvSpPr>
          <p:nvPr/>
        </p:nvSpPr>
        <p:spPr>
          <a:xfrm xmlns:a="http://schemas.openxmlformats.org/drawingml/2006/main">
            <a:off x="8382000" y="44577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lgn="l">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Freeze outflow, investigate or recall</a:t>
            </a:r>
          </a:p>
        </p:txBody>
      </p:sp>
      <p:sp>
        <p:nvSpPr>
          <p:cNvPr id="31" name="timeline-dot-6-2">
            <a:extLst xmlns:a="http://schemas.openxmlformats.org/drawingml/2006/main">
              <a:ext uri="{FF2B5EF4-FFF2-40B4-BE49-F238E27FC236}">
                <a16:creationId xmlns:a16="http://schemas.microsoft.com/office/drawing/2014/main" id="{411472BD-4BA5-4832-A74D-6405DC7D7032}"/>
              </a:ext>
            </a:extLst>
          </p:cNvPr>
          <p:cNvSpPr>
            <a:spLocks xmlns:a="http://schemas.openxmlformats.org/drawingml/2006/main" noGrp="1"/>
          </p:cNvSpPr>
          <p:nvPr/>
        </p:nvSpPr>
        <p:spPr>
          <a:xfrm xmlns:a="http://schemas.openxmlformats.org/drawingml/2006/main">
            <a:off x="8286750" y="5534025"/>
            <a:ext cx="190500" cy="1905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32" name="timeline-phase-6-2">
            <a:extLst xmlns:a="http://schemas.openxmlformats.org/drawingml/2006/main">
              <a:ext uri="{FF2B5EF4-FFF2-40B4-BE49-F238E27FC236}">
                <a16:creationId xmlns:a16="http://schemas.microsoft.com/office/drawing/2014/main" id="{8BF6D912-14DA-4555-8538-0A416EDBC4C7}"/>
              </a:ext>
            </a:extLst>
          </p:cNvPr>
          <p:cNvSpPr>
            <a:spLocks xmlns:a="http://schemas.openxmlformats.org/drawingml/2006/main" noGrp="1"/>
          </p:cNvSpPr>
          <p:nvPr/>
        </p:nvSpPr>
        <p:spPr>
          <a:xfrm xmlns:a="http://schemas.openxmlformats.org/drawingml/2006/main">
            <a:off x="8553450" y="57912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CONTAIN</a:t>
            </a:r>
          </a:p>
        </p:txBody>
      </p:sp>
    </p:spTree>
    <p:extLst>
      <p:ext uri="{BB962C8B-B14F-4D97-AF65-F5344CB8AC3E}">
        <p14:creationId xmlns:p14="http://schemas.microsoft.com/office/powerpoint/2010/main" val="11709820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eyebrow-7">
            <a:extLst xmlns:a="http://schemas.openxmlformats.org/drawingml/2006/main">
              <a:ext uri="{FF2B5EF4-FFF2-40B4-BE49-F238E27FC236}">
                <a16:creationId xmlns:a16="http://schemas.microsoft.com/office/drawing/2014/main" id="{6AB6E027-34FC-4197-8C7B-D717E16BC233}"/>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7">
            <a:extLst xmlns:a="http://schemas.openxmlformats.org/drawingml/2006/main">
              <a:ext uri="{FF2B5EF4-FFF2-40B4-BE49-F238E27FC236}">
                <a16:creationId xmlns:a16="http://schemas.microsoft.com/office/drawing/2014/main" id="{61F1F19A-38B9-4FBE-9C8A-285DF5BD2A98}"/>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The simulator turns one recipe into a fair test population</a:t>
            </a:r>
          </a:p>
        </p:txBody>
      </p:sp>
      <p:sp>
        <p:nvSpPr>
          <p:cNvPr id="3" name="header-rule-7">
            <a:extLst xmlns:a="http://schemas.openxmlformats.org/drawingml/2006/main">
              <a:ext uri="{FF2B5EF4-FFF2-40B4-BE49-F238E27FC236}">
                <a16:creationId xmlns:a16="http://schemas.microsoft.com/office/drawing/2014/main" id="{61581B59-C6FD-45E7-AC7B-826E27E815AE}"/>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7">
            <a:extLst xmlns:a="http://schemas.openxmlformats.org/drawingml/2006/main">
              <a:ext uri="{FF2B5EF4-FFF2-40B4-BE49-F238E27FC236}">
                <a16:creationId xmlns:a16="http://schemas.microsoft.com/office/drawing/2014/main" id="{086C7A45-5A0E-4174-A899-0568C30C2CA7}"/>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7</a:t>
            </a:r>
          </a:p>
        </p:txBody>
      </p:sp>
      <p:sp>
        <p:nvSpPr>
          <p:cNvPr id="5" name="simulator-note">
            <a:extLst xmlns:a="http://schemas.openxmlformats.org/drawingml/2006/main">
              <a:ext uri="{FF2B5EF4-FFF2-40B4-BE49-F238E27FC236}">
                <a16:creationId xmlns:a16="http://schemas.microsoft.com/office/drawing/2014/main" id="{F15FCC57-C62C-4A45-ACA6-F449C5D55535}"/>
              </a:ext>
            </a:extLst>
          </p:cNvPr>
          <p:cNvSpPr>
            <a:spLocks xmlns:a="http://schemas.openxmlformats.org/drawingml/2006/main" noGrp="1"/>
          </p:cNvSpPr>
          <p:nvPr/>
        </p:nvSpPr>
        <p:spPr>
          <a:xfrm xmlns:a="http://schemas.openxmlformats.org/drawingml/2006/main">
            <a:off x="8039100" y="1352550"/>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Illustrative batch configuration—not a measured result</a:t>
            </a:r>
          </a:p>
        </p:txBody>
      </p:sp>
      <p:sp>
        <p:nvSpPr>
          <p:cNvPr id="6" name="recipe-panel">
            <a:extLst xmlns:a="http://schemas.openxmlformats.org/drawingml/2006/main">
              <a:ext uri="{FF2B5EF4-FFF2-40B4-BE49-F238E27FC236}">
                <a16:creationId xmlns:a16="http://schemas.microsoft.com/office/drawing/2014/main" id="{CC042EEC-06EF-4C56-9D0A-66F9209553AC}"/>
              </a:ext>
            </a:extLst>
          </p:cNvPr>
          <p:cNvSpPr>
            <a:spLocks xmlns:a="http://schemas.openxmlformats.org/drawingml/2006/main" noGrp="1"/>
          </p:cNvSpPr>
          <p:nvPr/>
        </p:nvSpPr>
        <p:spPr>
          <a:xfrm xmlns:a="http://schemas.openxmlformats.org/drawingml/2006/main">
            <a:off x="533400" y="1762125"/>
            <a:ext cx="2857500" cy="3714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7" name="recipe-label">
            <a:extLst xmlns:a="http://schemas.openxmlformats.org/drawingml/2006/main">
              <a:ext uri="{FF2B5EF4-FFF2-40B4-BE49-F238E27FC236}">
                <a16:creationId xmlns:a16="http://schemas.microsoft.com/office/drawing/2014/main" id="{239343AB-7AED-4B2B-8E59-9FF735D37368}"/>
              </a:ext>
            </a:extLst>
          </p:cNvPr>
          <p:cNvSpPr>
            <a:spLocks xmlns:a="http://schemas.openxmlformats.org/drawingml/2006/main" noGrp="1"/>
          </p:cNvSpPr>
          <p:nvPr/>
        </p:nvSpPr>
        <p:spPr>
          <a:xfrm xmlns:a="http://schemas.openxmlformats.org/drawingml/2006/main">
            <a:off x="800100" y="20383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6DCBF4"/>
                </a:solidFill>
                <a:latin typeface="Helvetica Neue"/>
                <a:ea typeface="Helvetica Neue"/>
                <a:cs typeface="Helvetica Neue"/>
              </a:defRPr>
            </a:pPr>
            <a:r>
              <a:rPr sz="1050" b="1">
                <a:solidFill>
                  <a:srgbClr val="6DCBF4"/>
                </a:solidFill>
                <a:latin typeface="Helvetica Neue"/>
                <a:ea typeface="Helvetica Neue"/>
                <a:cs typeface="Helvetica Neue"/>
              </a:rPr>
              <a:t>VALIDATED RECIPE</a:t>
            </a:r>
          </a:p>
        </p:txBody>
      </p:sp>
      <p:sp>
        <p:nvSpPr>
          <p:cNvPr id="8" name="recipe-name">
            <a:extLst xmlns:a="http://schemas.openxmlformats.org/drawingml/2006/main">
              <a:ext uri="{FF2B5EF4-FFF2-40B4-BE49-F238E27FC236}">
                <a16:creationId xmlns:a16="http://schemas.microsoft.com/office/drawing/2014/main" id="{77D309F1-C5A0-42F6-8CD7-4FE49520FE9D}"/>
              </a:ext>
            </a:extLst>
          </p:cNvPr>
          <p:cNvSpPr>
            <a:spLocks xmlns:a="http://schemas.openxmlformats.org/drawingml/2006/main" noGrp="1"/>
          </p:cNvSpPr>
          <p:nvPr/>
        </p:nvSpPr>
        <p:spPr>
          <a:xfrm xmlns:a="http://schemas.openxmlformats.org/drawingml/2006/main">
            <a:off x="800100" y="2590800"/>
            <a:ext cx="228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30"/>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ATO-01</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medium</a:t>
            </a:r>
          </a:p>
        </p:txBody>
      </p:sp>
      <p:sp>
        <p:nvSpPr>
          <p:cNvPr id="9" name="recipe-detail">
            <a:extLst xmlns:a="http://schemas.openxmlformats.org/drawingml/2006/main">
              <a:ext uri="{FF2B5EF4-FFF2-40B4-BE49-F238E27FC236}">
                <a16:creationId xmlns:a16="http://schemas.microsoft.com/office/drawing/2014/main" id="{4D5E037A-C9A4-406C-836A-44A5A3D41A4A}"/>
              </a:ext>
            </a:extLst>
          </p:cNvPr>
          <p:cNvSpPr>
            <a:spLocks xmlns:a="http://schemas.openxmlformats.org/drawingml/2006/main" noGrp="1"/>
          </p:cNvSpPr>
          <p:nvPr/>
        </p:nvSpPr>
        <p:spPr>
          <a:xfrm xmlns:a="http://schemas.openxmlformats.org/drawingml/2006/main">
            <a:off x="800100" y="417195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6 stages</a:t>
            </a:r>
          </a:p>
          <a:p xmlns:a="http://schemas.openxmlformats.org/drawingml/2006/main">
            <a:pPr algn="l">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7 bounded parameters</a:t>
            </a:r>
          </a:p>
          <a:p xmlns:a="http://schemas.openxmlformats.org/drawingml/2006/main">
            <a:pPr algn="l">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1 deterministic seed</a:t>
            </a:r>
          </a:p>
        </p:txBody>
      </p:sp>
      <p:sp>
        <p:nvSpPr>
          <p:cNvPr id="10" name="recipe-arrow">
            <a:extLst xmlns:a="http://schemas.openxmlformats.org/drawingml/2006/main">
              <a:ext uri="{FF2B5EF4-FFF2-40B4-BE49-F238E27FC236}">
                <a16:creationId xmlns:a16="http://schemas.microsoft.com/office/drawing/2014/main" id="{F7C6FE51-93B6-453B-93AD-F4E525C15A03}"/>
              </a:ext>
            </a:extLst>
          </p:cNvPr>
          <p:cNvSpPr>
            <a:spLocks xmlns:a="http://schemas.openxmlformats.org/drawingml/2006/main" noGrp="1"/>
          </p:cNvSpPr>
          <p:nvPr/>
        </p:nvSpPr>
        <p:spPr>
          <a:xfrm xmlns:a="http://schemas.openxmlformats.org/drawingml/2006/main">
            <a:off x="3476625" y="3190875"/>
            <a:ext cx="1066800" cy="514350"/>
          </a:xfrm>
          <a:prstGeom xmlns:a="http://schemas.openxmlformats.org/drawingml/2006/main" prst="rightArrow">
            <a:avLst/>
          </a:prstGeom>
          <a:solidFill xmlns:a="http://schemas.openxmlformats.org/drawingml/2006/main">
            <a:srgbClr val="D0EDFA"/>
          </a:solidFill>
          <a:ln xmlns:a="http://schemas.openxmlformats.org/drawingml/2006/main" w="0">
            <a:noFill/>
            <a:prstDash val="solid"/>
          </a:ln>
        </p:spPr>
      </p:sp>
      <p:sp>
        <p:nvSpPr>
          <p:cNvPr id="11" name="stream-panel-0">
            <a:extLst xmlns:a="http://schemas.openxmlformats.org/drawingml/2006/main">
              <a:ext uri="{FF2B5EF4-FFF2-40B4-BE49-F238E27FC236}">
                <a16:creationId xmlns:a16="http://schemas.microsoft.com/office/drawing/2014/main" id="{0A96D0EA-8954-4A6C-84DF-DC78FF5941A0}"/>
              </a:ext>
            </a:extLst>
          </p:cNvPr>
          <p:cNvSpPr>
            <a:spLocks xmlns:a="http://schemas.openxmlformats.org/drawingml/2006/main" noGrp="1"/>
          </p:cNvSpPr>
          <p:nvPr/>
        </p:nvSpPr>
        <p:spPr>
          <a:xfrm xmlns:a="http://schemas.openxmlformats.org/drawingml/2006/main">
            <a:off x="4762500" y="1676400"/>
            <a:ext cx="6896100" cy="11239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stream-number-0">
            <a:extLst xmlns:a="http://schemas.openxmlformats.org/drawingml/2006/main">
              <a:ext uri="{FF2B5EF4-FFF2-40B4-BE49-F238E27FC236}">
                <a16:creationId xmlns:a16="http://schemas.microsoft.com/office/drawing/2014/main" id="{7F0CD2A6-BF7D-4C3A-A5F6-044948D1127C}"/>
              </a:ext>
            </a:extLst>
          </p:cNvPr>
          <p:cNvSpPr>
            <a:spLocks xmlns:a="http://schemas.openxmlformats.org/drawingml/2006/main" noGrp="1"/>
          </p:cNvSpPr>
          <p:nvPr/>
        </p:nvSpPr>
        <p:spPr>
          <a:xfrm xmlns:a="http://schemas.openxmlformats.org/drawingml/2006/main">
            <a:off x="5048250" y="19050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10,000</a:t>
            </a:r>
          </a:p>
        </p:txBody>
      </p:sp>
      <p:sp>
        <p:nvSpPr>
          <p:cNvPr id="13" name="stream-title-0">
            <a:extLst xmlns:a="http://schemas.openxmlformats.org/drawingml/2006/main">
              <a:ext uri="{FF2B5EF4-FFF2-40B4-BE49-F238E27FC236}">
                <a16:creationId xmlns:a16="http://schemas.microsoft.com/office/drawing/2014/main" id="{4A5C46FE-DB9A-40DC-BEDB-86B6C222FAB1}"/>
              </a:ext>
            </a:extLst>
          </p:cNvPr>
          <p:cNvSpPr>
            <a:spLocks xmlns:a="http://schemas.openxmlformats.org/drawingml/2006/main" noGrp="1"/>
          </p:cNvSpPr>
          <p:nvPr/>
        </p:nvSpPr>
        <p:spPr>
          <a:xfrm xmlns:a="http://schemas.openxmlformats.org/drawingml/2006/main">
            <a:off x="6715125" y="1876425"/>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Normal events</a:t>
            </a:r>
          </a:p>
        </p:txBody>
      </p:sp>
      <p:sp>
        <p:nvSpPr>
          <p:cNvPr id="14" name="stream-detail-0">
            <a:extLst xmlns:a="http://schemas.openxmlformats.org/drawingml/2006/main">
              <a:ext uri="{FF2B5EF4-FFF2-40B4-BE49-F238E27FC236}">
                <a16:creationId xmlns:a16="http://schemas.microsoft.com/office/drawing/2014/main" id="{FAC902D1-0AB2-4AE3-8FC8-8D447F65A1CF}"/>
              </a:ext>
            </a:extLst>
          </p:cNvPr>
          <p:cNvSpPr>
            <a:spLocks xmlns:a="http://schemas.openxmlformats.org/drawingml/2006/main" noGrp="1"/>
          </p:cNvSpPr>
          <p:nvPr/>
        </p:nvSpPr>
        <p:spPr>
          <a:xfrm xmlns:a="http://schemas.openxmlformats.org/drawingml/2006/main">
            <a:off x="6715125" y="2276475"/>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Everyday customer behavior</a:t>
            </a:r>
          </a:p>
        </p:txBody>
      </p:sp>
      <p:sp>
        <p:nvSpPr>
          <p:cNvPr id="15" name="stream-panel-1">
            <a:extLst xmlns:a="http://schemas.openxmlformats.org/drawingml/2006/main">
              <a:ext uri="{FF2B5EF4-FFF2-40B4-BE49-F238E27FC236}">
                <a16:creationId xmlns:a16="http://schemas.microsoft.com/office/drawing/2014/main" id="{A3E24225-FD5B-412C-B8C2-BE28407262D5}"/>
              </a:ext>
            </a:extLst>
          </p:cNvPr>
          <p:cNvSpPr>
            <a:spLocks xmlns:a="http://schemas.openxmlformats.org/drawingml/2006/main" noGrp="1"/>
          </p:cNvSpPr>
          <p:nvPr/>
        </p:nvSpPr>
        <p:spPr>
          <a:xfrm xmlns:a="http://schemas.openxmlformats.org/drawingml/2006/main">
            <a:off x="4762500" y="3057525"/>
            <a:ext cx="6896100" cy="1123950"/>
          </a:xfrm>
          <a:prstGeom xmlns:a="http://schemas.openxmlformats.org/drawingml/2006/main" prst="rect">
            <a:avLst/>
          </a:prstGeom>
          <a:solidFill xmlns:a="http://schemas.openxmlformats.org/drawingml/2006/main">
            <a:srgbClr val="FBE5E5"/>
          </a:solidFill>
          <a:ln xmlns:a="http://schemas.openxmlformats.org/drawingml/2006/main" w="0">
            <a:noFill/>
            <a:prstDash val="solid"/>
          </a:ln>
        </p:spPr>
      </p:sp>
      <p:sp>
        <p:nvSpPr>
          <p:cNvPr id="16" name="stream-number-1">
            <a:extLst xmlns:a="http://schemas.openxmlformats.org/drawingml/2006/main">
              <a:ext uri="{FF2B5EF4-FFF2-40B4-BE49-F238E27FC236}">
                <a16:creationId xmlns:a16="http://schemas.microsoft.com/office/drawing/2014/main" id="{0265B513-7DF1-4FD4-9C37-9D98D22F7A89}"/>
              </a:ext>
            </a:extLst>
          </p:cNvPr>
          <p:cNvSpPr>
            <a:spLocks xmlns:a="http://schemas.openxmlformats.org/drawingml/2006/main" noGrp="1"/>
          </p:cNvSpPr>
          <p:nvPr/>
        </p:nvSpPr>
        <p:spPr>
          <a:xfrm xmlns:a="http://schemas.openxmlformats.org/drawingml/2006/main">
            <a:off x="5048250" y="328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500</a:t>
            </a:r>
          </a:p>
        </p:txBody>
      </p:sp>
      <p:sp>
        <p:nvSpPr>
          <p:cNvPr id="17" name="stream-title-1">
            <a:extLst xmlns:a="http://schemas.openxmlformats.org/drawingml/2006/main">
              <a:ext uri="{FF2B5EF4-FFF2-40B4-BE49-F238E27FC236}">
                <a16:creationId xmlns:a16="http://schemas.microsoft.com/office/drawing/2014/main" id="{11CAA5AA-B77A-4DF8-B651-0CA875D21031}"/>
              </a:ext>
            </a:extLst>
          </p:cNvPr>
          <p:cNvSpPr>
            <a:spLocks xmlns:a="http://schemas.openxmlformats.org/drawingml/2006/main" noGrp="1"/>
          </p:cNvSpPr>
          <p:nvPr/>
        </p:nvSpPr>
        <p:spPr>
          <a:xfrm xmlns:a="http://schemas.openxmlformats.org/drawingml/2006/main">
            <a:off x="6715125" y="32575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Attack events</a:t>
            </a:r>
          </a:p>
        </p:txBody>
      </p:sp>
      <p:sp>
        <p:nvSpPr>
          <p:cNvPr id="18" name="stream-detail-1">
            <a:extLst xmlns:a="http://schemas.openxmlformats.org/drawingml/2006/main">
              <a:ext uri="{FF2B5EF4-FFF2-40B4-BE49-F238E27FC236}">
                <a16:creationId xmlns:a16="http://schemas.microsoft.com/office/drawing/2014/main" id="{AA5C6117-65E2-4C31-BDF9-5C6A7831851A}"/>
              </a:ext>
            </a:extLst>
          </p:cNvPr>
          <p:cNvSpPr>
            <a:spLocks xmlns:a="http://schemas.openxmlformats.org/drawingml/2006/main" noGrp="1"/>
          </p:cNvSpPr>
          <p:nvPr/>
        </p:nvSpPr>
        <p:spPr>
          <a:xfrm xmlns:a="http://schemas.openxmlformats.org/drawingml/2006/main">
            <a:off x="6715125" y="36576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ATO stages expanded with controlled variation</a:t>
            </a:r>
          </a:p>
        </p:txBody>
      </p:sp>
      <p:sp>
        <p:nvSpPr>
          <p:cNvPr id="19" name="stream-panel-2">
            <a:extLst xmlns:a="http://schemas.openxmlformats.org/drawingml/2006/main">
              <a:ext uri="{FF2B5EF4-FFF2-40B4-BE49-F238E27FC236}">
                <a16:creationId xmlns:a16="http://schemas.microsoft.com/office/drawing/2014/main" id="{470C022D-0977-4818-AF9C-290E44B4F03B}"/>
              </a:ext>
            </a:extLst>
          </p:cNvPr>
          <p:cNvSpPr>
            <a:spLocks xmlns:a="http://schemas.openxmlformats.org/drawingml/2006/main" noGrp="1"/>
          </p:cNvSpPr>
          <p:nvPr/>
        </p:nvSpPr>
        <p:spPr>
          <a:xfrm xmlns:a="http://schemas.openxmlformats.org/drawingml/2006/main">
            <a:off x="4762500" y="4438650"/>
            <a:ext cx="6896100" cy="1123950"/>
          </a:xfrm>
          <a:prstGeom xmlns:a="http://schemas.openxmlformats.org/drawingml/2006/main" prst="rect">
            <a:avLst/>
          </a:prstGeom>
          <a:solidFill xmlns:a="http://schemas.openxmlformats.org/drawingml/2006/main">
            <a:srgbClr val="E2EEFF"/>
          </a:solidFill>
          <a:ln xmlns:a="http://schemas.openxmlformats.org/drawingml/2006/main" w="0">
            <a:noFill/>
            <a:prstDash val="solid"/>
          </a:ln>
        </p:spPr>
      </p:sp>
      <p:sp>
        <p:nvSpPr>
          <p:cNvPr id="20" name="stream-number-2">
            <a:extLst xmlns:a="http://schemas.openxmlformats.org/drawingml/2006/main">
              <a:ext uri="{FF2B5EF4-FFF2-40B4-BE49-F238E27FC236}">
                <a16:creationId xmlns:a16="http://schemas.microsoft.com/office/drawing/2014/main" id="{A87B9226-80EF-4F44-95B4-9B430348AB31}"/>
              </a:ext>
            </a:extLst>
          </p:cNvPr>
          <p:cNvSpPr>
            <a:spLocks xmlns:a="http://schemas.openxmlformats.org/drawingml/2006/main" noGrp="1"/>
          </p:cNvSpPr>
          <p:nvPr/>
        </p:nvSpPr>
        <p:spPr>
          <a:xfrm xmlns:a="http://schemas.openxmlformats.org/drawingml/2006/main">
            <a:off x="5048250" y="46672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200</a:t>
            </a:r>
          </a:p>
        </p:txBody>
      </p:sp>
      <p:sp>
        <p:nvSpPr>
          <p:cNvPr id="21" name="stream-title-2">
            <a:extLst xmlns:a="http://schemas.openxmlformats.org/drawingml/2006/main">
              <a:ext uri="{FF2B5EF4-FFF2-40B4-BE49-F238E27FC236}">
                <a16:creationId xmlns:a16="http://schemas.microsoft.com/office/drawing/2014/main" id="{B13A7E62-EF0C-4B2F-8531-A816C662C64C}"/>
              </a:ext>
            </a:extLst>
          </p:cNvPr>
          <p:cNvSpPr>
            <a:spLocks xmlns:a="http://schemas.openxmlformats.org/drawingml/2006/main" noGrp="1"/>
          </p:cNvSpPr>
          <p:nvPr/>
        </p:nvSpPr>
        <p:spPr>
          <a:xfrm xmlns:a="http://schemas.openxmlformats.org/drawingml/2006/main">
            <a:off x="6715125" y="4638675"/>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Legitimate look-alikes</a:t>
            </a:r>
          </a:p>
        </p:txBody>
      </p:sp>
      <p:sp>
        <p:nvSpPr>
          <p:cNvPr id="22" name="stream-detail-2">
            <a:extLst xmlns:a="http://schemas.openxmlformats.org/drawingml/2006/main">
              <a:ext uri="{FF2B5EF4-FFF2-40B4-BE49-F238E27FC236}">
                <a16:creationId xmlns:a16="http://schemas.microsoft.com/office/drawing/2014/main" id="{458A59CF-4C47-4F9F-924F-41FDA6D5835C}"/>
              </a:ext>
            </a:extLst>
          </p:cNvPr>
          <p:cNvSpPr>
            <a:spLocks xmlns:a="http://schemas.openxmlformats.org/drawingml/2006/main" noGrp="1"/>
          </p:cNvSpPr>
          <p:nvPr/>
        </p:nvSpPr>
        <p:spPr>
          <a:xfrm xmlns:a="http://schemas.openxmlformats.org/drawingml/2006/main">
            <a:off x="6715125" y="5038725"/>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Travel, phone replacement and genuine new payees</a:t>
            </a:r>
          </a:p>
        </p:txBody>
      </p:sp>
      <p:sp>
        <p:nvSpPr>
          <p:cNvPr id="23" name="simulator-bottom">
            <a:extLst xmlns:a="http://schemas.openxmlformats.org/drawingml/2006/main">
              <a:ext uri="{FF2B5EF4-FFF2-40B4-BE49-F238E27FC236}">
                <a16:creationId xmlns:a16="http://schemas.microsoft.com/office/drawing/2014/main" id="{1E00FCE2-3FF8-4E3E-8837-57FA7194DB26}"/>
              </a:ext>
            </a:extLst>
          </p:cNvPr>
          <p:cNvSpPr>
            <a:spLocks xmlns:a="http://schemas.openxmlformats.org/drawingml/2006/main" noGrp="1"/>
          </p:cNvSpPr>
          <p:nvPr/>
        </p:nvSpPr>
        <p:spPr>
          <a:xfrm xmlns:a="http://schemas.openxmlformats.org/drawingml/2006/main">
            <a:off x="533400" y="5905500"/>
            <a:ext cx="1112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Blue sees the events—not which rows were created by Red. The Referee retains the truth labels.</a:t>
            </a:r>
          </a:p>
        </p:txBody>
      </p:sp>
    </p:spTree>
    <p:extLst>
      <p:ext uri="{BB962C8B-B14F-4D97-AF65-F5344CB8AC3E}">
        <p14:creationId xmlns:p14="http://schemas.microsoft.com/office/powerpoint/2010/main" val="20013893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eyebrow-8">
            <a:extLst xmlns:a="http://schemas.openxmlformats.org/drawingml/2006/main">
              <a:ext uri="{FF2B5EF4-FFF2-40B4-BE49-F238E27FC236}">
                <a16:creationId xmlns:a16="http://schemas.microsoft.com/office/drawing/2014/main" id="{09888940-0374-44D2-93C3-B709848263A0}"/>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8">
            <a:extLst xmlns:a="http://schemas.openxmlformats.org/drawingml/2006/main">
              <a:ext uri="{FF2B5EF4-FFF2-40B4-BE49-F238E27FC236}">
                <a16:creationId xmlns:a16="http://schemas.microsoft.com/office/drawing/2014/main" id="{E22E658A-E810-4019-8DB3-C8DFF291DA7F}"/>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Blue has three moments to intervene</a:t>
            </a:r>
          </a:p>
        </p:txBody>
      </p:sp>
      <p:sp>
        <p:nvSpPr>
          <p:cNvPr id="3" name="header-rule-8">
            <a:extLst xmlns:a="http://schemas.openxmlformats.org/drawingml/2006/main">
              <a:ext uri="{FF2B5EF4-FFF2-40B4-BE49-F238E27FC236}">
                <a16:creationId xmlns:a16="http://schemas.microsoft.com/office/drawing/2014/main" id="{AC3E41CA-F6DA-47BD-A1B0-9E7B1D367BE3}"/>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8">
            <a:extLst xmlns:a="http://schemas.openxmlformats.org/drawingml/2006/main">
              <a:ext uri="{FF2B5EF4-FFF2-40B4-BE49-F238E27FC236}">
                <a16:creationId xmlns:a16="http://schemas.microsoft.com/office/drawing/2014/main" id="{598423CF-885A-45D3-B60F-462ACCE750CC}"/>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8</a:t>
            </a:r>
          </a:p>
        </p:txBody>
      </p:sp>
      <p:sp>
        <p:nvSpPr>
          <p:cNvPr id="5" name="intervention-lead">
            <a:extLst xmlns:a="http://schemas.openxmlformats.org/drawingml/2006/main">
              <a:ext uri="{FF2B5EF4-FFF2-40B4-BE49-F238E27FC236}">
                <a16:creationId xmlns:a16="http://schemas.microsoft.com/office/drawing/2014/main" id="{8F3DDEAE-2786-4054-8AB6-5FF862562BDB}"/>
              </a:ext>
            </a:extLst>
          </p:cNvPr>
          <p:cNvSpPr>
            <a:spLocks xmlns:a="http://schemas.openxmlformats.org/drawingml/2006/main" noGrp="1"/>
          </p:cNvSpPr>
          <p:nvPr/>
        </p:nvSpPr>
        <p:spPr>
          <a:xfrm xmlns:a="http://schemas.openxmlformats.org/drawingml/2006/main">
            <a:off x="533400" y="14668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304"/>
          </a:bodyPr>
          <a:lstStyle xmlns:a="http://schemas.openxmlformats.org/drawingml/2006/main"/>
          <a:p xmlns:a="http://schemas.openxmlformats.org/drawingml/2006/main">
            <a:pPr algn="l">
              <a:defRPr sz="1725" b="0">
                <a:solidFill>
                  <a:srgbClr val="5F6368"/>
                </a:solidFill>
                <a:latin typeface="Helvetica Neue"/>
                <a:ea typeface="Helvetica Neue"/>
                <a:cs typeface="Helvetica Neue"/>
              </a:defRPr>
            </a:pPr>
            <a:r>
              <a:rPr sz="1725" b="0">
                <a:solidFill>
                  <a:srgbClr val="5F6368"/>
                </a:solidFill>
                <a:latin typeface="Helvetica Neue"/>
                <a:ea typeface="Helvetica Neue"/>
                <a:cs typeface="Helvetica Neue"/>
              </a:rPr>
              <a:t>Success is not only whether fraud is detected; it is when the value is protected and how many legitimate customers are affected.</a:t>
            </a:r>
          </a:p>
        </p:txBody>
      </p:sp>
      <p:sp>
        <p:nvSpPr>
          <p:cNvPr id="6" name="mode-panel-0">
            <a:extLst xmlns:a="http://schemas.openxmlformats.org/drawingml/2006/main">
              <a:ext uri="{FF2B5EF4-FFF2-40B4-BE49-F238E27FC236}">
                <a16:creationId xmlns:a16="http://schemas.microsoft.com/office/drawing/2014/main" id="{78BB3C15-22ED-4381-84C2-9A43B027A425}"/>
              </a:ext>
            </a:extLst>
          </p:cNvPr>
          <p:cNvSpPr>
            <a:spLocks xmlns:a="http://schemas.openxmlformats.org/drawingml/2006/main" noGrp="1"/>
          </p:cNvSpPr>
          <p:nvPr/>
        </p:nvSpPr>
        <p:spPr>
          <a:xfrm xmlns:a="http://schemas.openxmlformats.org/drawingml/2006/main">
            <a:off x="533400" y="2381250"/>
            <a:ext cx="3352800" cy="3048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mode-number-0">
            <a:extLst xmlns:a="http://schemas.openxmlformats.org/drawingml/2006/main">
              <a:ext uri="{FF2B5EF4-FFF2-40B4-BE49-F238E27FC236}">
                <a16:creationId xmlns:a16="http://schemas.microsoft.com/office/drawing/2014/main" id="{688BA804-5AC6-41EB-879B-DF45EF8C9CCB}"/>
              </a:ext>
            </a:extLst>
          </p:cNvPr>
          <p:cNvSpPr>
            <a:spLocks xmlns:a="http://schemas.openxmlformats.org/drawingml/2006/main" noGrp="1"/>
          </p:cNvSpPr>
          <p:nvPr/>
        </p:nvSpPr>
        <p:spPr>
          <a:xfrm xmlns:a="http://schemas.openxmlformats.org/drawingml/2006/main">
            <a:off x="742950" y="26098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5F6368"/>
                </a:solidFill>
                <a:latin typeface="Helvetica Neue"/>
                <a:ea typeface="Helvetica Neue"/>
                <a:cs typeface="Helvetica Neue"/>
              </a:defRPr>
            </a:pPr>
            <a:r>
              <a:rPr sz="1200" b="1">
                <a:solidFill>
                  <a:srgbClr val="5F6368"/>
                </a:solidFill>
                <a:latin typeface="Helvetica Neue"/>
                <a:ea typeface="Helvetica Neue"/>
                <a:cs typeface="Helvetica Neue"/>
              </a:rPr>
              <a:t>01</a:t>
            </a:r>
          </a:p>
        </p:txBody>
      </p:sp>
      <p:sp>
        <p:nvSpPr>
          <p:cNvPr id="8" name="mode-title-0">
            <a:extLst xmlns:a="http://schemas.openxmlformats.org/drawingml/2006/main">
              <a:ext uri="{FF2B5EF4-FFF2-40B4-BE49-F238E27FC236}">
                <a16:creationId xmlns:a16="http://schemas.microsoft.com/office/drawing/2014/main" id="{511FA3F1-6213-45DB-8296-38C67419EF58}"/>
              </a:ext>
            </a:extLst>
          </p:cNvPr>
          <p:cNvSpPr>
            <a:spLocks xmlns:a="http://schemas.openxmlformats.org/drawingml/2006/main" noGrp="1"/>
          </p:cNvSpPr>
          <p:nvPr/>
        </p:nvSpPr>
        <p:spPr>
          <a:xfrm xmlns:a="http://schemas.openxmlformats.org/drawingml/2006/main">
            <a:off x="742950" y="31242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PREVENT</a:t>
            </a:r>
          </a:p>
        </p:txBody>
      </p:sp>
      <p:sp>
        <p:nvSpPr>
          <p:cNvPr id="9" name="mode-when-0">
            <a:extLst xmlns:a="http://schemas.openxmlformats.org/drawingml/2006/main">
              <a:ext uri="{FF2B5EF4-FFF2-40B4-BE49-F238E27FC236}">
                <a16:creationId xmlns:a16="http://schemas.microsoft.com/office/drawing/2014/main" id="{E1E76165-E316-4BDA-A018-96CB6A0BB9FF}"/>
              </a:ext>
            </a:extLst>
          </p:cNvPr>
          <p:cNvSpPr>
            <a:spLocks xmlns:a="http://schemas.openxmlformats.org/drawingml/2006/main" noGrp="1"/>
          </p:cNvSpPr>
          <p:nvPr/>
        </p:nvSpPr>
        <p:spPr>
          <a:xfrm xmlns:a="http://schemas.openxmlformats.org/drawingml/2006/main">
            <a:off x="742950" y="3695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Before payment</a:t>
            </a:r>
          </a:p>
        </p:txBody>
      </p:sp>
      <p:sp>
        <p:nvSpPr>
          <p:cNvPr id="10" name="mode-actions-0">
            <a:extLst xmlns:a="http://schemas.openxmlformats.org/drawingml/2006/main">
              <a:ext uri="{FF2B5EF4-FFF2-40B4-BE49-F238E27FC236}">
                <a16:creationId xmlns:a16="http://schemas.microsoft.com/office/drawing/2014/main" id="{04124CD4-E174-4D53-9F2F-703DDC2D8BDE}"/>
              </a:ext>
            </a:extLst>
          </p:cNvPr>
          <p:cNvSpPr>
            <a:spLocks xmlns:a="http://schemas.openxmlformats.org/drawingml/2006/main" noGrp="1"/>
          </p:cNvSpPr>
          <p:nvPr/>
        </p:nvSpPr>
        <p:spPr>
          <a:xfrm xmlns:a="http://schemas.openxmlformats.org/drawingml/2006/main">
            <a:off x="742950" y="4286250"/>
            <a:ext cx="285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Challenge session</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Cooling-off period</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Verify beneficiary</a:t>
            </a:r>
          </a:p>
        </p:txBody>
      </p:sp>
      <p:sp>
        <p:nvSpPr>
          <p:cNvPr id="11" name="mode-panel-1">
            <a:extLst xmlns:a="http://schemas.openxmlformats.org/drawingml/2006/main">
              <a:ext uri="{FF2B5EF4-FFF2-40B4-BE49-F238E27FC236}">
                <a16:creationId xmlns:a16="http://schemas.microsoft.com/office/drawing/2014/main" id="{6C81623C-49B7-45A1-8682-D79D118EBB0C}"/>
              </a:ext>
            </a:extLst>
          </p:cNvPr>
          <p:cNvSpPr>
            <a:spLocks xmlns:a="http://schemas.openxmlformats.org/drawingml/2006/main" noGrp="1"/>
          </p:cNvSpPr>
          <p:nvPr/>
        </p:nvSpPr>
        <p:spPr>
          <a:xfrm xmlns:a="http://schemas.openxmlformats.org/drawingml/2006/main">
            <a:off x="4343400" y="2381250"/>
            <a:ext cx="3352800" cy="3048000"/>
          </a:xfrm>
          <a:prstGeom xmlns:a="http://schemas.openxmlformats.org/drawingml/2006/main" prst="rect">
            <a:avLst/>
          </a:prstGeom>
          <a:solidFill xmlns:a="http://schemas.openxmlformats.org/drawingml/2006/main">
            <a:srgbClr val="E2EEFF"/>
          </a:solidFill>
          <a:ln xmlns:a="http://schemas.openxmlformats.org/drawingml/2006/main" w="0">
            <a:noFill/>
            <a:prstDash val="solid"/>
          </a:ln>
        </p:spPr>
      </p:sp>
      <p:sp>
        <p:nvSpPr>
          <p:cNvPr id="12" name="mode-number-1">
            <a:extLst xmlns:a="http://schemas.openxmlformats.org/drawingml/2006/main">
              <a:ext uri="{FF2B5EF4-FFF2-40B4-BE49-F238E27FC236}">
                <a16:creationId xmlns:a16="http://schemas.microsoft.com/office/drawing/2014/main" id="{29871C9C-A615-473B-8D19-C9A8F866CDF7}"/>
              </a:ext>
            </a:extLst>
          </p:cNvPr>
          <p:cNvSpPr>
            <a:spLocks xmlns:a="http://schemas.openxmlformats.org/drawingml/2006/main" noGrp="1"/>
          </p:cNvSpPr>
          <p:nvPr/>
        </p:nvSpPr>
        <p:spPr>
          <a:xfrm xmlns:a="http://schemas.openxmlformats.org/drawingml/2006/main">
            <a:off x="4552950" y="26098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5F6368"/>
                </a:solidFill>
                <a:latin typeface="Helvetica Neue"/>
                <a:ea typeface="Helvetica Neue"/>
                <a:cs typeface="Helvetica Neue"/>
              </a:defRPr>
            </a:pPr>
            <a:r>
              <a:rPr sz="1200" b="1">
                <a:solidFill>
                  <a:srgbClr val="5F6368"/>
                </a:solidFill>
                <a:latin typeface="Helvetica Neue"/>
                <a:ea typeface="Helvetica Neue"/>
                <a:cs typeface="Helvetica Neue"/>
              </a:rPr>
              <a:t>02</a:t>
            </a:r>
          </a:p>
        </p:txBody>
      </p:sp>
      <p:sp>
        <p:nvSpPr>
          <p:cNvPr id="13" name="mode-title-1">
            <a:extLst xmlns:a="http://schemas.openxmlformats.org/drawingml/2006/main">
              <a:ext uri="{FF2B5EF4-FFF2-40B4-BE49-F238E27FC236}">
                <a16:creationId xmlns:a16="http://schemas.microsoft.com/office/drawing/2014/main" id="{3373EC5C-B28C-49D9-A1C8-30BDF16DEDF2}"/>
              </a:ext>
            </a:extLst>
          </p:cNvPr>
          <p:cNvSpPr>
            <a:spLocks xmlns:a="http://schemas.openxmlformats.org/drawingml/2006/main" noGrp="1"/>
          </p:cNvSpPr>
          <p:nvPr/>
        </p:nvSpPr>
        <p:spPr>
          <a:xfrm xmlns:a="http://schemas.openxmlformats.org/drawingml/2006/main">
            <a:off x="4552950" y="31242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DECIDE</a:t>
            </a:r>
          </a:p>
        </p:txBody>
      </p:sp>
      <p:sp>
        <p:nvSpPr>
          <p:cNvPr id="14" name="mode-when-1">
            <a:extLst xmlns:a="http://schemas.openxmlformats.org/drawingml/2006/main">
              <a:ext uri="{FF2B5EF4-FFF2-40B4-BE49-F238E27FC236}">
                <a16:creationId xmlns:a16="http://schemas.microsoft.com/office/drawing/2014/main" id="{A3929F2A-D077-4938-968B-08E0E8CE3DC6}"/>
              </a:ext>
            </a:extLst>
          </p:cNvPr>
          <p:cNvSpPr>
            <a:spLocks xmlns:a="http://schemas.openxmlformats.org/drawingml/2006/main" noGrp="1"/>
          </p:cNvSpPr>
          <p:nvPr/>
        </p:nvSpPr>
        <p:spPr>
          <a:xfrm xmlns:a="http://schemas.openxmlformats.org/drawingml/2006/main">
            <a:off x="4552950" y="3695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At payment time</a:t>
            </a:r>
          </a:p>
        </p:txBody>
      </p:sp>
      <p:sp>
        <p:nvSpPr>
          <p:cNvPr id="15" name="mode-actions-1">
            <a:extLst xmlns:a="http://schemas.openxmlformats.org/drawingml/2006/main">
              <a:ext uri="{FF2B5EF4-FFF2-40B4-BE49-F238E27FC236}">
                <a16:creationId xmlns:a16="http://schemas.microsoft.com/office/drawing/2014/main" id="{867F507E-4D20-4977-A4F0-D52CAE11BF1B}"/>
              </a:ext>
            </a:extLst>
          </p:cNvPr>
          <p:cNvSpPr>
            <a:spLocks xmlns:a="http://schemas.openxmlformats.org/drawingml/2006/main" noGrp="1"/>
          </p:cNvSpPr>
          <p:nvPr/>
        </p:nvSpPr>
        <p:spPr>
          <a:xfrm xmlns:a="http://schemas.openxmlformats.org/drawingml/2006/main">
            <a:off x="4552950" y="4286250"/>
            <a:ext cx="285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Allow</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Challenge</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Hold or block</a:t>
            </a:r>
          </a:p>
        </p:txBody>
      </p:sp>
      <p:sp>
        <p:nvSpPr>
          <p:cNvPr id="16" name="mode-panel-2">
            <a:extLst xmlns:a="http://schemas.openxmlformats.org/drawingml/2006/main">
              <a:ext uri="{FF2B5EF4-FFF2-40B4-BE49-F238E27FC236}">
                <a16:creationId xmlns:a16="http://schemas.microsoft.com/office/drawing/2014/main" id="{3ADB7083-FA34-426A-8DCB-911986A5FEC6}"/>
              </a:ext>
            </a:extLst>
          </p:cNvPr>
          <p:cNvSpPr>
            <a:spLocks xmlns:a="http://schemas.openxmlformats.org/drawingml/2006/main" noGrp="1"/>
          </p:cNvSpPr>
          <p:nvPr/>
        </p:nvSpPr>
        <p:spPr>
          <a:xfrm xmlns:a="http://schemas.openxmlformats.org/drawingml/2006/main">
            <a:off x="8153400" y="2381250"/>
            <a:ext cx="3352800" cy="3048000"/>
          </a:xfrm>
          <a:prstGeom xmlns:a="http://schemas.openxmlformats.org/drawingml/2006/main" prst="rect">
            <a:avLst/>
          </a:prstGeom>
          <a:solidFill xmlns:a="http://schemas.openxmlformats.org/drawingml/2006/main">
            <a:srgbClr val="FBE5E5"/>
          </a:solidFill>
          <a:ln xmlns:a="http://schemas.openxmlformats.org/drawingml/2006/main" w="0">
            <a:noFill/>
            <a:prstDash val="solid"/>
          </a:ln>
        </p:spPr>
      </p:sp>
      <p:sp>
        <p:nvSpPr>
          <p:cNvPr id="17" name="mode-number-2">
            <a:extLst xmlns:a="http://schemas.openxmlformats.org/drawingml/2006/main">
              <a:ext uri="{FF2B5EF4-FFF2-40B4-BE49-F238E27FC236}">
                <a16:creationId xmlns:a16="http://schemas.microsoft.com/office/drawing/2014/main" id="{1D0779C3-28DD-4092-9CEC-BABA974EABE5}"/>
              </a:ext>
            </a:extLst>
          </p:cNvPr>
          <p:cNvSpPr>
            <a:spLocks xmlns:a="http://schemas.openxmlformats.org/drawingml/2006/main" noGrp="1"/>
          </p:cNvSpPr>
          <p:nvPr/>
        </p:nvSpPr>
        <p:spPr>
          <a:xfrm xmlns:a="http://schemas.openxmlformats.org/drawingml/2006/main">
            <a:off x="8362950" y="26098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5F6368"/>
                </a:solidFill>
                <a:latin typeface="Helvetica Neue"/>
                <a:ea typeface="Helvetica Neue"/>
                <a:cs typeface="Helvetica Neue"/>
              </a:defRPr>
            </a:pPr>
            <a:r>
              <a:rPr sz="1200" b="1">
                <a:solidFill>
                  <a:srgbClr val="5F6368"/>
                </a:solidFill>
                <a:latin typeface="Helvetica Neue"/>
                <a:ea typeface="Helvetica Neue"/>
                <a:cs typeface="Helvetica Neue"/>
              </a:rPr>
              <a:t>03</a:t>
            </a:r>
          </a:p>
        </p:txBody>
      </p:sp>
      <p:sp>
        <p:nvSpPr>
          <p:cNvPr id="18" name="mode-title-2">
            <a:extLst xmlns:a="http://schemas.openxmlformats.org/drawingml/2006/main">
              <a:ext uri="{FF2B5EF4-FFF2-40B4-BE49-F238E27FC236}">
                <a16:creationId xmlns:a16="http://schemas.microsoft.com/office/drawing/2014/main" id="{F2F94D4C-838B-4354-A77C-407FC9B7B026}"/>
              </a:ext>
            </a:extLst>
          </p:cNvPr>
          <p:cNvSpPr>
            <a:spLocks xmlns:a="http://schemas.openxmlformats.org/drawingml/2006/main" noGrp="1"/>
          </p:cNvSpPr>
          <p:nvPr/>
        </p:nvSpPr>
        <p:spPr>
          <a:xfrm xmlns:a="http://schemas.openxmlformats.org/drawingml/2006/main">
            <a:off x="8362950" y="31242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CONTAIN</a:t>
            </a:r>
          </a:p>
        </p:txBody>
      </p:sp>
      <p:sp>
        <p:nvSpPr>
          <p:cNvPr id="19" name="mode-when-2">
            <a:extLst xmlns:a="http://schemas.openxmlformats.org/drawingml/2006/main">
              <a:ext uri="{FF2B5EF4-FFF2-40B4-BE49-F238E27FC236}">
                <a16:creationId xmlns:a16="http://schemas.microsoft.com/office/drawing/2014/main" id="{13399552-423D-486C-906C-B778A25B55B5}"/>
              </a:ext>
            </a:extLst>
          </p:cNvPr>
          <p:cNvSpPr>
            <a:spLocks xmlns:a="http://schemas.openxmlformats.org/drawingml/2006/main" noGrp="1"/>
          </p:cNvSpPr>
          <p:nvPr/>
        </p:nvSpPr>
        <p:spPr>
          <a:xfrm xmlns:a="http://schemas.openxmlformats.org/drawingml/2006/main">
            <a:off x="8362950" y="3695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After receipt</a:t>
            </a:r>
          </a:p>
        </p:txBody>
      </p:sp>
      <p:sp>
        <p:nvSpPr>
          <p:cNvPr id="20" name="mode-actions-2">
            <a:extLst xmlns:a="http://schemas.openxmlformats.org/drawingml/2006/main">
              <a:ext uri="{FF2B5EF4-FFF2-40B4-BE49-F238E27FC236}">
                <a16:creationId xmlns:a16="http://schemas.microsoft.com/office/drawing/2014/main" id="{2221A976-1CC3-4201-A6A9-E82C793060C1}"/>
              </a:ext>
            </a:extLst>
          </p:cNvPr>
          <p:cNvSpPr>
            <a:spLocks xmlns:a="http://schemas.openxmlformats.org/drawingml/2006/main" noGrp="1"/>
          </p:cNvSpPr>
          <p:nvPr/>
        </p:nvSpPr>
        <p:spPr>
          <a:xfrm xmlns:a="http://schemas.openxmlformats.org/drawingml/2006/main">
            <a:off x="8362950" y="4286250"/>
            <a:ext cx="285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Freeze outflow</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Open investigation</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Attempt recall</a:t>
            </a:r>
          </a:p>
        </p:txBody>
      </p:sp>
      <p:sp>
        <p:nvSpPr>
          <p:cNvPr id="21" name="intervention-summary">
            <a:extLst xmlns:a="http://schemas.openxmlformats.org/drawingml/2006/main">
              <a:ext uri="{FF2B5EF4-FFF2-40B4-BE49-F238E27FC236}">
                <a16:creationId xmlns:a16="http://schemas.microsoft.com/office/drawing/2014/main" id="{89AEC7D6-3FE0-4F39-ABB5-BC042F8FD715}"/>
              </a:ext>
            </a:extLst>
          </p:cNvPr>
          <p:cNvSpPr>
            <a:spLocks xmlns:a="http://schemas.openxmlformats.org/drawingml/2006/main" noGrp="1"/>
          </p:cNvSpPr>
          <p:nvPr/>
        </p:nvSpPr>
        <p:spPr>
          <a:xfrm xmlns:a="http://schemas.openxmlformats.org/drawingml/2006/main">
            <a:off x="533400" y="5848350"/>
            <a:ext cx="1112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Earlier is usually better—but only if false positives stay under control.</a:t>
            </a:r>
          </a:p>
        </p:txBody>
      </p:sp>
    </p:spTree>
    <p:extLst>
      <p:ext uri="{BB962C8B-B14F-4D97-AF65-F5344CB8AC3E}">
        <p14:creationId xmlns:p14="http://schemas.microsoft.com/office/powerpoint/2010/main" val="1531736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eyebrow-9">
            <a:extLst xmlns:a="http://schemas.openxmlformats.org/drawingml/2006/main">
              <a:ext uri="{FF2B5EF4-FFF2-40B4-BE49-F238E27FC236}">
                <a16:creationId xmlns:a16="http://schemas.microsoft.com/office/drawing/2014/main" id="{DD2DA846-4465-4D90-A5A3-4AF4DB065A95}"/>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9">
            <a:extLst xmlns:a="http://schemas.openxmlformats.org/drawingml/2006/main">
              <a:ext uri="{FF2B5EF4-FFF2-40B4-BE49-F238E27FC236}">
                <a16:creationId xmlns:a16="http://schemas.microsoft.com/office/drawing/2014/main" id="{EA4AA997-C481-4E67-8F49-DA583B358BB2}"/>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The Referee scores outcomes without exposing Blue</a:t>
            </a:r>
          </a:p>
        </p:txBody>
      </p:sp>
      <p:sp>
        <p:nvSpPr>
          <p:cNvPr id="3" name="header-rule-9">
            <a:extLst xmlns:a="http://schemas.openxmlformats.org/drawingml/2006/main">
              <a:ext uri="{FF2B5EF4-FFF2-40B4-BE49-F238E27FC236}">
                <a16:creationId xmlns:a16="http://schemas.microsoft.com/office/drawing/2014/main" id="{425EA183-C9C7-404F-AC0C-475CCA0E2B56}"/>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9">
            <a:extLst xmlns:a="http://schemas.openxmlformats.org/drawingml/2006/main">
              <a:ext uri="{FF2B5EF4-FFF2-40B4-BE49-F238E27FC236}">
                <a16:creationId xmlns:a16="http://schemas.microsoft.com/office/drawing/2014/main" id="{AB8C23CB-2AD7-4D07-8921-601E3A41A803}"/>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9</a:t>
            </a:r>
          </a:p>
        </p:txBody>
      </p:sp>
      <p:sp>
        <p:nvSpPr>
          <p:cNvPr id="5" name="referee-label">
            <a:extLst xmlns:a="http://schemas.openxmlformats.org/drawingml/2006/main">
              <a:ext uri="{FF2B5EF4-FFF2-40B4-BE49-F238E27FC236}">
                <a16:creationId xmlns:a16="http://schemas.microsoft.com/office/drawing/2014/main" id="{D43DDBBF-FD0E-441F-8713-598122968278}"/>
              </a:ext>
            </a:extLst>
          </p:cNvPr>
          <p:cNvSpPr>
            <a:spLocks xmlns:a="http://schemas.openxmlformats.org/drawingml/2006/main" noGrp="1"/>
          </p:cNvSpPr>
          <p:nvPr/>
        </p:nvSpPr>
        <p:spPr>
          <a:xfrm xmlns:a="http://schemas.openxmlformats.org/drawingml/2006/main">
            <a:off x="533400" y="15240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ILLUSTRATIVE REFEREE RESPONSE</a:t>
            </a:r>
          </a:p>
        </p:txBody>
      </p:sp>
      <p:sp>
        <p:nvSpPr>
          <p:cNvPr id="6" name="referee-verdict">
            <a:extLst xmlns:a="http://schemas.openxmlformats.org/drawingml/2006/main">
              <a:ext uri="{FF2B5EF4-FFF2-40B4-BE49-F238E27FC236}">
                <a16:creationId xmlns:a16="http://schemas.microsoft.com/office/drawing/2014/main" id="{B4EBCAE0-9CA2-46A4-B85E-7AA5062F6B12}"/>
              </a:ext>
            </a:extLst>
          </p:cNvPr>
          <p:cNvSpPr>
            <a:spLocks xmlns:a="http://schemas.openxmlformats.org/drawingml/2006/main" noGrp="1"/>
          </p:cNvSpPr>
          <p:nvPr/>
        </p:nvSpPr>
        <p:spPr>
          <a:xfrm xmlns:a="http://schemas.openxmlformats.org/drawingml/2006/main">
            <a:off x="533400" y="1943100"/>
            <a:ext cx="7620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Blue held the primary transfer</a:t>
            </a:r>
          </a:p>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before value was released.</a:t>
            </a:r>
          </a:p>
        </p:txBody>
      </p:sp>
      <p:sp>
        <p:nvSpPr>
          <p:cNvPr id="7" name="referee-rule">
            <a:extLst xmlns:a="http://schemas.openxmlformats.org/drawingml/2006/main">
              <a:ext uri="{FF2B5EF4-FFF2-40B4-BE49-F238E27FC236}">
                <a16:creationId xmlns:a16="http://schemas.microsoft.com/office/drawing/2014/main" id="{56B3736B-73AD-4F71-85F3-1F6BE070FA4E}"/>
              </a:ext>
            </a:extLst>
          </p:cNvPr>
          <p:cNvSpPr>
            <a:spLocks xmlns:a="http://schemas.openxmlformats.org/drawingml/2006/main" noGrp="1"/>
          </p:cNvSpPr>
          <p:nvPr/>
        </p:nvSpPr>
        <p:spPr>
          <a:xfrm xmlns:a="http://schemas.openxmlformats.org/drawingml/2006/main">
            <a:off x="533400" y="325755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metric-label-0">
            <a:extLst xmlns:a="http://schemas.openxmlformats.org/drawingml/2006/main">
              <a:ext uri="{FF2B5EF4-FFF2-40B4-BE49-F238E27FC236}">
                <a16:creationId xmlns:a16="http://schemas.microsoft.com/office/drawing/2014/main" id="{AFFD303B-EF38-4D37-960F-568A844A932B}"/>
              </a:ext>
            </a:extLst>
          </p:cNvPr>
          <p:cNvSpPr>
            <a:spLocks xmlns:a="http://schemas.openxmlformats.org/drawingml/2006/main" noGrp="1"/>
          </p:cNvSpPr>
          <p:nvPr/>
        </p:nvSpPr>
        <p:spPr>
          <a:xfrm xmlns:a="http://schemas.openxmlformats.org/drawingml/2006/main">
            <a:off x="533400" y="3657600"/>
            <a:ext cx="2457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5F6368"/>
                </a:solidFill>
                <a:latin typeface="Helvetica Neue"/>
                <a:ea typeface="Helvetica Neue"/>
                <a:cs typeface="Helvetica Neue"/>
              </a:defRPr>
            </a:pPr>
            <a:r>
              <a:rPr sz="975" b="1">
                <a:solidFill>
                  <a:srgbClr val="5F6368"/>
                </a:solidFill>
                <a:latin typeface="Helvetica Neue"/>
                <a:ea typeface="Helvetica Neue"/>
                <a:cs typeface="Helvetica Neue"/>
              </a:rPr>
              <a:t>DETECTED STAGE</a:t>
            </a:r>
          </a:p>
        </p:txBody>
      </p:sp>
      <p:sp>
        <p:nvSpPr>
          <p:cNvPr id="9" name="metric-value-0">
            <a:extLst xmlns:a="http://schemas.openxmlformats.org/drawingml/2006/main">
              <a:ext uri="{FF2B5EF4-FFF2-40B4-BE49-F238E27FC236}">
                <a16:creationId xmlns:a16="http://schemas.microsoft.com/office/drawing/2014/main" id="{0448CA58-8950-464D-A673-82D1DE67E39F}"/>
              </a:ext>
            </a:extLst>
          </p:cNvPr>
          <p:cNvSpPr>
            <a:spLocks xmlns:a="http://schemas.openxmlformats.org/drawingml/2006/main" noGrp="1"/>
          </p:cNvSpPr>
          <p:nvPr/>
        </p:nvSpPr>
        <p:spPr>
          <a:xfrm xmlns:a="http://schemas.openxmlformats.org/drawingml/2006/main">
            <a:off x="533400" y="4057650"/>
            <a:ext cx="2457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Primary transfer</a:t>
            </a:r>
          </a:p>
        </p:txBody>
      </p:sp>
      <p:sp>
        <p:nvSpPr>
          <p:cNvPr id="10" name="metric-detail-0">
            <a:extLst xmlns:a="http://schemas.openxmlformats.org/drawingml/2006/main">
              <a:ext uri="{FF2B5EF4-FFF2-40B4-BE49-F238E27FC236}">
                <a16:creationId xmlns:a16="http://schemas.microsoft.com/office/drawing/2014/main" id="{E1096887-74B5-4B96-8FEF-CEF440E85AD0}"/>
              </a:ext>
            </a:extLst>
          </p:cNvPr>
          <p:cNvSpPr>
            <a:spLocks xmlns:a="http://schemas.openxmlformats.org/drawingml/2006/main" noGrp="1"/>
          </p:cNvSpPr>
          <p:nvPr/>
        </p:nvSpPr>
        <p:spPr>
          <a:xfrm xmlns:a="http://schemas.openxmlformats.org/drawingml/2006/main">
            <a:off x="533400" y="46863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F6368"/>
                </a:solidFill>
                <a:latin typeface="Helvetica Neue"/>
                <a:ea typeface="Helvetica Neue"/>
                <a:cs typeface="Helvetica Neue"/>
              </a:defRPr>
            </a:pPr>
            <a:r>
              <a:rPr sz="1275" b="0">
                <a:solidFill>
                  <a:srgbClr val="5F6368"/>
                </a:solidFill>
                <a:latin typeface="Helvetica Neue"/>
                <a:ea typeface="Helvetica Neue"/>
                <a:cs typeface="Helvetica Neue"/>
              </a:rPr>
              <a:t>04:00 in the scenario</a:t>
            </a:r>
          </a:p>
        </p:txBody>
      </p:sp>
      <p:sp>
        <p:nvSpPr>
          <p:cNvPr id="11" name="metric-label-1">
            <a:extLst xmlns:a="http://schemas.openxmlformats.org/drawingml/2006/main">
              <a:ext uri="{FF2B5EF4-FFF2-40B4-BE49-F238E27FC236}">
                <a16:creationId xmlns:a16="http://schemas.microsoft.com/office/drawing/2014/main" id="{C4240AEE-A6BC-4EBC-9B73-BA41E76256C3}"/>
              </a:ext>
            </a:extLst>
          </p:cNvPr>
          <p:cNvSpPr>
            <a:spLocks xmlns:a="http://schemas.openxmlformats.org/drawingml/2006/main" noGrp="1"/>
          </p:cNvSpPr>
          <p:nvPr/>
        </p:nvSpPr>
        <p:spPr>
          <a:xfrm xmlns:a="http://schemas.openxmlformats.org/drawingml/2006/main">
            <a:off x="3314700" y="3657600"/>
            <a:ext cx="2457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5F6368"/>
                </a:solidFill>
                <a:latin typeface="Helvetica Neue"/>
                <a:ea typeface="Helvetica Neue"/>
                <a:cs typeface="Helvetica Neue"/>
              </a:defRPr>
            </a:pPr>
            <a:r>
              <a:rPr sz="975" b="1">
                <a:solidFill>
                  <a:srgbClr val="5F6368"/>
                </a:solidFill>
                <a:latin typeface="Helvetica Neue"/>
                <a:ea typeface="Helvetica Neue"/>
                <a:cs typeface="Helvetica Neue"/>
              </a:rPr>
              <a:t>VALUE PROTECTED</a:t>
            </a:r>
          </a:p>
        </p:txBody>
      </p:sp>
      <p:sp>
        <p:nvSpPr>
          <p:cNvPr id="12" name="metric-value-1">
            <a:extLst xmlns:a="http://schemas.openxmlformats.org/drawingml/2006/main">
              <a:ext uri="{FF2B5EF4-FFF2-40B4-BE49-F238E27FC236}">
                <a16:creationId xmlns:a16="http://schemas.microsoft.com/office/drawing/2014/main" id="{C5C19140-F4FE-4998-B813-82680EB5848E}"/>
              </a:ext>
            </a:extLst>
          </p:cNvPr>
          <p:cNvSpPr>
            <a:spLocks xmlns:a="http://schemas.openxmlformats.org/drawingml/2006/main" noGrp="1"/>
          </p:cNvSpPr>
          <p:nvPr/>
        </p:nvSpPr>
        <p:spPr>
          <a:xfrm xmlns:a="http://schemas.openxmlformats.org/drawingml/2006/main">
            <a:off x="3314700" y="4057650"/>
            <a:ext cx="2457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100%</a:t>
            </a:r>
          </a:p>
        </p:txBody>
      </p:sp>
      <p:sp>
        <p:nvSpPr>
          <p:cNvPr id="13" name="metric-detail-1">
            <a:extLst xmlns:a="http://schemas.openxmlformats.org/drawingml/2006/main">
              <a:ext uri="{FF2B5EF4-FFF2-40B4-BE49-F238E27FC236}">
                <a16:creationId xmlns:a16="http://schemas.microsoft.com/office/drawing/2014/main" id="{BB117E97-DA27-46F4-82C3-42314DD2C2D4}"/>
              </a:ext>
            </a:extLst>
          </p:cNvPr>
          <p:cNvSpPr>
            <a:spLocks xmlns:a="http://schemas.openxmlformats.org/drawingml/2006/main" noGrp="1"/>
          </p:cNvSpPr>
          <p:nvPr/>
        </p:nvSpPr>
        <p:spPr>
          <a:xfrm xmlns:a="http://schemas.openxmlformats.org/drawingml/2006/main">
            <a:off x="3314700" y="46863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F6368"/>
                </a:solidFill>
                <a:latin typeface="Helvetica Neue"/>
                <a:ea typeface="Helvetica Neue"/>
                <a:cs typeface="Helvetica Neue"/>
              </a:defRPr>
            </a:pPr>
            <a:r>
              <a:rPr sz="1275" b="0">
                <a:solidFill>
                  <a:srgbClr val="5F6368"/>
                </a:solidFill>
                <a:latin typeface="Helvetica Neue"/>
                <a:ea typeface="Helvetica Neue"/>
                <a:cs typeface="Helvetica Neue"/>
              </a:rPr>
              <a:t>INR 50,000 held</a:t>
            </a:r>
          </a:p>
        </p:txBody>
      </p:sp>
      <p:sp>
        <p:nvSpPr>
          <p:cNvPr id="14" name="metric-label-2">
            <a:extLst xmlns:a="http://schemas.openxmlformats.org/drawingml/2006/main">
              <a:ext uri="{FF2B5EF4-FFF2-40B4-BE49-F238E27FC236}">
                <a16:creationId xmlns:a16="http://schemas.microsoft.com/office/drawing/2014/main" id="{4323D69D-D0C5-462D-8AB0-11BA4AC097D0}"/>
              </a:ext>
            </a:extLst>
          </p:cNvPr>
          <p:cNvSpPr>
            <a:spLocks xmlns:a="http://schemas.openxmlformats.org/drawingml/2006/main" noGrp="1"/>
          </p:cNvSpPr>
          <p:nvPr/>
        </p:nvSpPr>
        <p:spPr>
          <a:xfrm xmlns:a="http://schemas.openxmlformats.org/drawingml/2006/main">
            <a:off x="6096000" y="3657600"/>
            <a:ext cx="2457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5F6368"/>
                </a:solidFill>
                <a:latin typeface="Helvetica Neue"/>
                <a:ea typeface="Helvetica Neue"/>
                <a:cs typeface="Helvetica Neue"/>
              </a:defRPr>
            </a:pPr>
            <a:r>
              <a:rPr sz="975" b="1">
                <a:solidFill>
                  <a:srgbClr val="5F6368"/>
                </a:solidFill>
                <a:latin typeface="Helvetica Neue"/>
                <a:ea typeface="Helvetica Neue"/>
                <a:cs typeface="Helvetica Neue"/>
              </a:rPr>
              <a:t>DECISION TIME</a:t>
            </a:r>
          </a:p>
        </p:txBody>
      </p:sp>
      <p:sp>
        <p:nvSpPr>
          <p:cNvPr id="15" name="metric-value-2">
            <a:extLst xmlns:a="http://schemas.openxmlformats.org/drawingml/2006/main">
              <a:ext uri="{FF2B5EF4-FFF2-40B4-BE49-F238E27FC236}">
                <a16:creationId xmlns:a16="http://schemas.microsoft.com/office/drawing/2014/main" id="{5E8B334F-DEA2-4534-BC18-C79D43E2B98E}"/>
              </a:ext>
            </a:extLst>
          </p:cNvPr>
          <p:cNvSpPr>
            <a:spLocks xmlns:a="http://schemas.openxmlformats.org/drawingml/2006/main" noGrp="1"/>
          </p:cNvSpPr>
          <p:nvPr/>
        </p:nvSpPr>
        <p:spPr>
          <a:xfrm xmlns:a="http://schemas.openxmlformats.org/drawingml/2006/main">
            <a:off x="6096000" y="4057650"/>
            <a:ext cx="2457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12 sec</a:t>
            </a:r>
          </a:p>
        </p:txBody>
      </p:sp>
      <p:sp>
        <p:nvSpPr>
          <p:cNvPr id="16" name="metric-detail-2">
            <a:extLst xmlns:a="http://schemas.openxmlformats.org/drawingml/2006/main">
              <a:ext uri="{FF2B5EF4-FFF2-40B4-BE49-F238E27FC236}">
                <a16:creationId xmlns:a16="http://schemas.microsoft.com/office/drawing/2014/main" id="{1864AA59-A400-45D2-8188-D57DDADE53B7}"/>
              </a:ext>
            </a:extLst>
          </p:cNvPr>
          <p:cNvSpPr>
            <a:spLocks xmlns:a="http://schemas.openxmlformats.org/drawingml/2006/main" noGrp="1"/>
          </p:cNvSpPr>
          <p:nvPr/>
        </p:nvSpPr>
        <p:spPr>
          <a:xfrm xmlns:a="http://schemas.openxmlformats.org/drawingml/2006/main">
            <a:off x="6096000" y="46863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F6368"/>
                </a:solidFill>
                <a:latin typeface="Helvetica Neue"/>
                <a:ea typeface="Helvetica Neue"/>
                <a:cs typeface="Helvetica Neue"/>
              </a:defRPr>
            </a:pPr>
            <a:r>
              <a:rPr sz="1275" b="0">
                <a:solidFill>
                  <a:srgbClr val="5F6368"/>
                </a:solidFill>
                <a:latin typeface="Helvetica Neue"/>
                <a:ea typeface="Helvetica Neue"/>
                <a:cs typeface="Helvetica Neue"/>
              </a:rPr>
              <a:t>From transaction arrival</a:t>
            </a:r>
          </a:p>
        </p:txBody>
      </p:sp>
      <p:sp>
        <p:nvSpPr>
          <p:cNvPr id="17" name="metric-label-3">
            <a:extLst xmlns:a="http://schemas.openxmlformats.org/drawingml/2006/main">
              <a:ext uri="{FF2B5EF4-FFF2-40B4-BE49-F238E27FC236}">
                <a16:creationId xmlns:a16="http://schemas.microsoft.com/office/drawing/2014/main" id="{76870A7C-22A6-426E-903C-6711F90D5B54}"/>
              </a:ext>
            </a:extLst>
          </p:cNvPr>
          <p:cNvSpPr>
            <a:spLocks xmlns:a="http://schemas.openxmlformats.org/drawingml/2006/main" noGrp="1"/>
          </p:cNvSpPr>
          <p:nvPr/>
        </p:nvSpPr>
        <p:spPr>
          <a:xfrm xmlns:a="http://schemas.openxmlformats.org/drawingml/2006/main">
            <a:off x="8877300" y="3657600"/>
            <a:ext cx="2457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5F6368"/>
                </a:solidFill>
                <a:latin typeface="Helvetica Neue"/>
                <a:ea typeface="Helvetica Neue"/>
                <a:cs typeface="Helvetica Neue"/>
              </a:defRPr>
            </a:pPr>
            <a:r>
              <a:rPr sz="975" b="1">
                <a:solidFill>
                  <a:srgbClr val="5F6368"/>
                </a:solidFill>
                <a:latin typeface="Helvetica Neue"/>
                <a:ea typeface="Helvetica Neue"/>
                <a:cs typeface="Helvetica Neue"/>
              </a:rPr>
              <a:t>FALSE-POSITIVE RATE</a:t>
            </a:r>
          </a:p>
        </p:txBody>
      </p:sp>
      <p:sp>
        <p:nvSpPr>
          <p:cNvPr id="18" name="metric-value-3">
            <a:extLst xmlns:a="http://schemas.openxmlformats.org/drawingml/2006/main">
              <a:ext uri="{FF2B5EF4-FFF2-40B4-BE49-F238E27FC236}">
                <a16:creationId xmlns:a16="http://schemas.microsoft.com/office/drawing/2014/main" id="{8B3F7EE4-CAEA-4618-B866-F3127DD68186}"/>
              </a:ext>
            </a:extLst>
          </p:cNvPr>
          <p:cNvSpPr>
            <a:spLocks xmlns:a="http://schemas.openxmlformats.org/drawingml/2006/main" noGrp="1"/>
          </p:cNvSpPr>
          <p:nvPr/>
        </p:nvSpPr>
        <p:spPr>
          <a:xfrm xmlns:a="http://schemas.openxmlformats.org/drawingml/2006/main">
            <a:off x="8877300" y="4057650"/>
            <a:ext cx="2457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1%</a:t>
            </a:r>
          </a:p>
        </p:txBody>
      </p:sp>
      <p:sp>
        <p:nvSpPr>
          <p:cNvPr id="19" name="metric-detail-3">
            <a:extLst xmlns:a="http://schemas.openxmlformats.org/drawingml/2006/main">
              <a:ext uri="{FF2B5EF4-FFF2-40B4-BE49-F238E27FC236}">
                <a16:creationId xmlns:a16="http://schemas.microsoft.com/office/drawing/2014/main" id="{631B2968-1EA1-4238-8E85-84345B24EC1C}"/>
              </a:ext>
            </a:extLst>
          </p:cNvPr>
          <p:cNvSpPr>
            <a:spLocks xmlns:a="http://schemas.openxmlformats.org/drawingml/2006/main" noGrp="1"/>
          </p:cNvSpPr>
          <p:nvPr/>
        </p:nvSpPr>
        <p:spPr>
          <a:xfrm xmlns:a="http://schemas.openxmlformats.org/drawingml/2006/main">
            <a:off x="8877300" y="4686300"/>
            <a:ext cx="2457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F6368"/>
                </a:solidFill>
                <a:latin typeface="Helvetica Neue"/>
                <a:ea typeface="Helvetica Neue"/>
                <a:cs typeface="Helvetica Neue"/>
              </a:defRPr>
            </a:pPr>
            <a:r>
              <a:rPr sz="1275" b="0">
                <a:solidFill>
                  <a:srgbClr val="5F6368"/>
                </a:solidFill>
                <a:latin typeface="Helvetica Neue"/>
                <a:ea typeface="Helvetica Neue"/>
                <a:cs typeface="Helvetica Neue"/>
              </a:rPr>
              <a:t>Across the illustrative batch</a:t>
            </a:r>
          </a:p>
        </p:txBody>
      </p:sp>
      <p:sp>
        <p:nvSpPr>
          <p:cNvPr id="20" name="referee-feedback-strip">
            <a:extLst xmlns:a="http://schemas.openxmlformats.org/drawingml/2006/main">
              <a:ext uri="{FF2B5EF4-FFF2-40B4-BE49-F238E27FC236}">
                <a16:creationId xmlns:a16="http://schemas.microsoft.com/office/drawing/2014/main" id="{81CFDFF7-EC95-4540-8A4A-8841F482D81B}"/>
              </a:ext>
            </a:extLst>
          </p:cNvPr>
          <p:cNvSpPr>
            <a:spLocks xmlns:a="http://schemas.openxmlformats.org/drawingml/2006/main" noGrp="1"/>
          </p:cNvSpPr>
          <p:nvPr/>
        </p:nvSpPr>
        <p:spPr>
          <a:xfrm xmlns:a="http://schemas.openxmlformats.org/drawingml/2006/main">
            <a:off x="533400" y="5524500"/>
            <a:ext cx="11125200" cy="552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1" name="referee-feedback-text">
            <a:extLst xmlns:a="http://schemas.openxmlformats.org/drawingml/2006/main">
              <a:ext uri="{FF2B5EF4-FFF2-40B4-BE49-F238E27FC236}">
                <a16:creationId xmlns:a16="http://schemas.microsoft.com/office/drawing/2014/main" id="{E7C2F256-C85D-49D2-9A34-612D90131B3D}"/>
              </a:ext>
            </a:extLst>
          </p:cNvPr>
          <p:cNvSpPr>
            <a:spLocks xmlns:a="http://schemas.openxmlformats.org/drawingml/2006/main" noGrp="1"/>
          </p:cNvSpPr>
          <p:nvPr/>
        </p:nvSpPr>
        <p:spPr>
          <a:xfrm xmlns:a="http://schemas.openxmlformats.org/drawingml/2006/main">
            <a:off x="723900" y="5676900"/>
            <a:ext cx="1074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ctr">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Red receives: detected + device novelty + network novelty     |     Red never receives: rule, feature weight or threshold</a:t>
            </a:r>
          </a:p>
        </p:txBody>
      </p:sp>
    </p:spTree>
    <p:extLst>
      <p:ext uri="{BB962C8B-B14F-4D97-AF65-F5344CB8AC3E}">
        <p14:creationId xmlns:p14="http://schemas.microsoft.com/office/powerpoint/2010/main" val="6176060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10">
            <a:extLst xmlns:a="http://schemas.openxmlformats.org/drawingml/2006/main">
              <a:ext uri="{FF2B5EF4-FFF2-40B4-BE49-F238E27FC236}">
                <a16:creationId xmlns:a16="http://schemas.microsoft.com/office/drawing/2014/main" id="{F79AB216-6A2E-4381-A0C7-A817F55E85C8}"/>
              </a:ext>
            </a:extLst>
          </p:cNvPr>
          <p:cNvSpPr>
            <a:spLocks xmlns:a="http://schemas.openxmlformats.org/drawingml/2006/main" noGrp="1"/>
          </p:cNvSpPr>
          <p:nvPr/>
        </p:nvSpPr>
        <p:spPr>
          <a:xfrm xmlns:a="http://schemas.openxmlformats.org/drawingml/2006/main">
            <a:off x="533400" y="2476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5F6368"/>
                </a:solidFill>
                <a:latin typeface="Helvetica Neue"/>
                <a:ea typeface="Helvetica Neue"/>
                <a:cs typeface="Helvetica Neue"/>
              </a:defRPr>
            </a:pPr>
            <a:r>
              <a:rPr sz="1050" b="1">
                <a:solidFill>
                  <a:srgbClr val="5F6368"/>
                </a:solidFill>
                <a:latin typeface="Helvetica Neue"/>
                <a:ea typeface="Helvetica Neue"/>
                <a:cs typeface="Helvetica Neue"/>
              </a:rPr>
              <a:t>SENTINELLOOP · RED TEAM AGENT</a:t>
            </a:r>
          </a:p>
        </p:txBody>
      </p:sp>
      <p:sp>
        <p:nvSpPr>
          <p:cNvPr id="2" name="title-10">
            <a:extLst xmlns:a="http://schemas.openxmlformats.org/drawingml/2006/main">
              <a:ext uri="{FF2B5EF4-FFF2-40B4-BE49-F238E27FC236}">
                <a16:creationId xmlns:a16="http://schemas.microsoft.com/office/drawing/2014/main" id="{3AF02D6A-15EE-42C0-9D1D-3DE80B82B7C6}"/>
              </a:ext>
            </a:extLst>
          </p:cNvPr>
          <p:cNvSpPr>
            <a:spLocks xmlns:a="http://schemas.openxmlformats.org/drawingml/2006/main" noGrp="1"/>
          </p:cNvSpPr>
          <p:nvPr/>
        </p:nvSpPr>
        <p:spPr>
          <a:xfrm xmlns:a="http://schemas.openxmlformats.org/drawingml/2006/main">
            <a:off x="533400" y="5524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Coarse feedback creates a bounded round two</a:t>
            </a:r>
          </a:p>
        </p:txBody>
      </p:sp>
      <p:sp>
        <p:nvSpPr>
          <p:cNvPr id="3" name="header-rule-10">
            <a:extLst xmlns:a="http://schemas.openxmlformats.org/drawingml/2006/main">
              <a:ext uri="{FF2B5EF4-FFF2-40B4-BE49-F238E27FC236}">
                <a16:creationId xmlns:a16="http://schemas.microsoft.com/office/drawing/2014/main" id="{A2952DCF-61D0-4522-BCF2-97CCA1113414}"/>
              </a:ext>
            </a:extLst>
          </p:cNvPr>
          <p:cNvSpPr>
            <a:spLocks xmlns:a="http://schemas.openxmlformats.org/drawingml/2006/main" noGrp="1"/>
          </p:cNvSpPr>
          <p:nvPr/>
        </p:nvSpPr>
        <p:spPr>
          <a:xfrm xmlns:a="http://schemas.openxmlformats.org/drawingml/2006/main">
            <a:off x="533400" y="121920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page-10">
            <a:extLst xmlns:a="http://schemas.openxmlformats.org/drawingml/2006/main">
              <a:ext uri="{FF2B5EF4-FFF2-40B4-BE49-F238E27FC236}">
                <a16:creationId xmlns:a16="http://schemas.microsoft.com/office/drawing/2014/main" id="{A011860E-51FE-4A05-803C-E8EE2E943DD3}"/>
              </a:ext>
            </a:extLst>
          </p:cNvPr>
          <p:cNvSpPr>
            <a:spLocks xmlns:a="http://schemas.openxmlformats.org/drawingml/2006/main" noGrp="1"/>
          </p:cNvSpPr>
          <p:nvPr/>
        </p:nvSpPr>
        <p:spPr>
          <a:xfrm xmlns:a="http://schemas.openxmlformats.org/drawingml/2006/main">
            <a:off x="11163300" y="6419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F6368"/>
                </a:solidFill>
                <a:latin typeface="Helvetica Neue"/>
                <a:ea typeface="Helvetica Neue"/>
                <a:cs typeface="Helvetica Neue"/>
              </a:defRPr>
            </a:pPr>
            <a:r>
              <a:rPr sz="1050" b="0">
                <a:solidFill>
                  <a:srgbClr val="5F6368"/>
                </a:solidFill>
                <a:latin typeface="Helvetica Neue"/>
                <a:ea typeface="Helvetica Neue"/>
                <a:cs typeface="Helvetica Neue"/>
              </a:rPr>
              <a:t>10</a:t>
            </a:r>
          </a:p>
        </p:txBody>
      </p:sp>
      <p:sp>
        <p:nvSpPr>
          <p:cNvPr id="5" name="mutation-lead">
            <a:extLst xmlns:a="http://schemas.openxmlformats.org/drawingml/2006/main">
              <a:ext uri="{FF2B5EF4-FFF2-40B4-BE49-F238E27FC236}">
                <a16:creationId xmlns:a16="http://schemas.microsoft.com/office/drawing/2014/main" id="{5C7C467F-A546-4931-A458-2911F5B56421}"/>
              </a:ext>
            </a:extLst>
          </p:cNvPr>
          <p:cNvSpPr>
            <a:spLocks xmlns:a="http://schemas.openxmlformats.org/drawingml/2006/main" noGrp="1"/>
          </p:cNvSpPr>
          <p:nvPr/>
        </p:nvSpPr>
        <p:spPr>
          <a:xfrm xmlns:a="http://schemas.openxmlformats.org/drawingml/2006/main">
            <a:off x="533400" y="14668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p xmlns:a="http://schemas.openxmlformats.org/drawingml/2006/main">
            <a:pPr algn="l">
              <a:defRPr sz="1725" b="0">
                <a:solidFill>
                  <a:srgbClr val="5F6368"/>
                </a:solidFill>
                <a:latin typeface="Helvetica Neue"/>
                <a:ea typeface="Helvetica Neue"/>
                <a:cs typeface="Helvetica Neue"/>
              </a:defRPr>
            </a:pPr>
            <a:r>
              <a:rPr sz="1725" b="0">
                <a:solidFill>
                  <a:srgbClr val="5F6368"/>
                </a:solidFill>
                <a:latin typeface="Helvetica Neue"/>
                <a:ea typeface="Helvetica Neue"/>
                <a:cs typeface="Helvetica Neue"/>
              </a:rPr>
              <a:t>The mutation controller changes only parameters approved by the ATO-01 card, then sends the variant through the same safety gate.</a:t>
            </a:r>
          </a:p>
        </p:txBody>
      </p:sp>
      <p:sp>
        <p:nvSpPr>
          <p:cNvPr id="6" name="ROUND 1 · DETECTED-band">
            <a:extLst xmlns:a="http://schemas.openxmlformats.org/drawingml/2006/main">
              <a:ext uri="{FF2B5EF4-FFF2-40B4-BE49-F238E27FC236}">
                <a16:creationId xmlns:a16="http://schemas.microsoft.com/office/drawing/2014/main" id="{79E2558D-CD7D-4E4B-84F4-DA965A606A4F}"/>
              </a:ext>
            </a:extLst>
          </p:cNvPr>
          <p:cNvSpPr>
            <a:spLocks xmlns:a="http://schemas.openxmlformats.org/drawingml/2006/main" noGrp="1"/>
          </p:cNvSpPr>
          <p:nvPr/>
        </p:nvSpPr>
        <p:spPr>
          <a:xfrm xmlns:a="http://schemas.openxmlformats.org/drawingml/2006/main">
            <a:off x="533400" y="2324100"/>
            <a:ext cx="4762500" cy="304800"/>
          </a:xfrm>
          <a:prstGeom xmlns:a="http://schemas.openxmlformats.org/drawingml/2006/main" prst="rect">
            <a:avLst/>
          </a:prstGeom>
          <a:solidFill xmlns:a="http://schemas.openxmlformats.org/drawingml/2006/main">
            <a:srgbClr val="FBE5E5"/>
          </a:solidFill>
          <a:ln xmlns:a="http://schemas.openxmlformats.org/drawingml/2006/main" w="0">
            <a:noFill/>
            <a:prstDash val="solid"/>
          </a:ln>
        </p:spPr>
      </p:sp>
      <p:sp>
        <p:nvSpPr>
          <p:cNvPr id="7" name="ROUND 1 · DETECTED-band-text">
            <a:extLst xmlns:a="http://schemas.openxmlformats.org/drawingml/2006/main">
              <a:ext uri="{FF2B5EF4-FFF2-40B4-BE49-F238E27FC236}">
                <a16:creationId xmlns:a16="http://schemas.microsoft.com/office/drawing/2014/main" id="{80F1B64A-FEF5-4528-AED3-7221AFF595D8}"/>
              </a:ext>
            </a:extLst>
          </p:cNvPr>
          <p:cNvSpPr>
            <a:spLocks xmlns:a="http://schemas.openxmlformats.org/drawingml/2006/main" noGrp="1"/>
          </p:cNvSpPr>
          <p:nvPr/>
        </p:nvSpPr>
        <p:spPr>
          <a:xfrm xmlns:a="http://schemas.openxmlformats.org/drawingml/2006/main">
            <a:off x="628650" y="23717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1">
                <a:solidFill>
                  <a:srgbClr val="E85D5D"/>
                </a:solidFill>
                <a:latin typeface="Helvetica Neue"/>
                <a:ea typeface="Helvetica Neue"/>
                <a:cs typeface="Helvetica Neue"/>
              </a:defRPr>
            </a:pPr>
            <a:r>
              <a:rPr sz="1050" b="1">
                <a:solidFill>
                  <a:srgbClr val="E85D5D"/>
                </a:solidFill>
                <a:latin typeface="Helvetica Neue"/>
                <a:ea typeface="Helvetica Neue"/>
                <a:cs typeface="Helvetica Neue"/>
              </a:rPr>
              <a:t>ROUND 1 · DETECTED</a:t>
            </a:r>
          </a:p>
        </p:txBody>
      </p:sp>
      <p:sp>
        <p:nvSpPr>
          <p:cNvPr id="8" name="ROUND 2 · MUTATED-band">
            <a:extLst xmlns:a="http://schemas.openxmlformats.org/drawingml/2006/main">
              <a:ext uri="{FF2B5EF4-FFF2-40B4-BE49-F238E27FC236}">
                <a16:creationId xmlns:a16="http://schemas.microsoft.com/office/drawing/2014/main" id="{19E9DD59-124E-46BE-81CE-D83BF0E53039}"/>
              </a:ext>
            </a:extLst>
          </p:cNvPr>
          <p:cNvSpPr>
            <a:spLocks xmlns:a="http://schemas.openxmlformats.org/drawingml/2006/main" noGrp="1"/>
          </p:cNvSpPr>
          <p:nvPr/>
        </p:nvSpPr>
        <p:spPr>
          <a:xfrm xmlns:a="http://schemas.openxmlformats.org/drawingml/2006/main">
            <a:off x="6896100" y="2324100"/>
            <a:ext cx="4762500" cy="304800"/>
          </a:xfrm>
          <a:prstGeom xmlns:a="http://schemas.openxmlformats.org/drawingml/2006/main" prst="rect">
            <a:avLst/>
          </a:prstGeom>
          <a:solidFill xmlns:a="http://schemas.openxmlformats.org/drawingml/2006/main">
            <a:srgbClr val="E2EEFF"/>
          </a:solidFill>
          <a:ln xmlns:a="http://schemas.openxmlformats.org/drawingml/2006/main" w="0">
            <a:noFill/>
            <a:prstDash val="solid"/>
          </a:ln>
        </p:spPr>
      </p:sp>
      <p:sp>
        <p:nvSpPr>
          <p:cNvPr id="9" name="ROUND 2 · MUTATED-band-text">
            <a:extLst xmlns:a="http://schemas.openxmlformats.org/drawingml/2006/main">
              <a:ext uri="{FF2B5EF4-FFF2-40B4-BE49-F238E27FC236}">
                <a16:creationId xmlns:a16="http://schemas.microsoft.com/office/drawing/2014/main" id="{D672B5C4-4CAC-45DC-B54A-7EEAC65ADF83}"/>
              </a:ext>
            </a:extLst>
          </p:cNvPr>
          <p:cNvSpPr>
            <a:spLocks xmlns:a="http://schemas.openxmlformats.org/drawingml/2006/main" noGrp="1"/>
          </p:cNvSpPr>
          <p:nvPr/>
        </p:nvSpPr>
        <p:spPr>
          <a:xfrm xmlns:a="http://schemas.openxmlformats.org/drawingml/2006/main">
            <a:off x="6991350" y="23717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ROUND 2 · MUTATED</a:t>
            </a:r>
          </a:p>
        </p:txBody>
      </p:sp>
      <p:sp>
        <p:nvSpPr>
          <p:cNvPr id="10" name="mutation-arrow">
            <a:extLst xmlns:a="http://schemas.openxmlformats.org/drawingml/2006/main">
              <a:ext uri="{FF2B5EF4-FFF2-40B4-BE49-F238E27FC236}">
                <a16:creationId xmlns:a16="http://schemas.microsoft.com/office/drawing/2014/main" id="{910B9661-20D6-4569-AFF0-682A71DBDA92}"/>
              </a:ext>
            </a:extLst>
          </p:cNvPr>
          <p:cNvSpPr>
            <a:spLocks xmlns:a="http://schemas.openxmlformats.org/drawingml/2006/main" noGrp="1"/>
          </p:cNvSpPr>
          <p:nvPr/>
        </p:nvSpPr>
        <p:spPr>
          <a:xfrm xmlns:a="http://schemas.openxmlformats.org/drawingml/2006/main">
            <a:off x="5476875" y="3581400"/>
            <a:ext cx="1238250" cy="552450"/>
          </a:xfrm>
          <a:prstGeom xmlns:a="http://schemas.openxmlformats.org/drawingml/2006/main" prst="rightArrow">
            <a:avLst/>
          </a:prstGeom>
          <a:solidFill xmlns:a="http://schemas.openxmlformats.org/drawingml/2006/main">
            <a:srgbClr val="D0EDFA"/>
          </a:solidFill>
          <a:ln xmlns:a="http://schemas.openxmlformats.org/drawingml/2006/main" w="0">
            <a:noFill/>
            <a:prstDash val="solid"/>
          </a:ln>
        </p:spPr>
      </p:sp>
      <p:sp>
        <p:nvSpPr>
          <p:cNvPr id="11" name="round1-label-0">
            <a:extLst xmlns:a="http://schemas.openxmlformats.org/drawingml/2006/main">
              <a:ext uri="{FF2B5EF4-FFF2-40B4-BE49-F238E27FC236}">
                <a16:creationId xmlns:a16="http://schemas.microsoft.com/office/drawing/2014/main" id="{AE4E9719-7F5B-477D-A891-9C5AB63C7C7C}"/>
              </a:ext>
            </a:extLst>
          </p:cNvPr>
          <p:cNvSpPr>
            <a:spLocks xmlns:a="http://schemas.openxmlformats.org/drawingml/2006/main" noGrp="1"/>
          </p:cNvSpPr>
          <p:nvPr/>
        </p:nvSpPr>
        <p:spPr>
          <a:xfrm xmlns:a="http://schemas.openxmlformats.org/drawingml/2006/main">
            <a:off x="800100" y="29908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New-device probability</a:t>
            </a:r>
          </a:p>
        </p:txBody>
      </p:sp>
      <p:sp>
        <p:nvSpPr>
          <p:cNvPr id="12" name="round1-value-0">
            <a:extLst xmlns:a="http://schemas.openxmlformats.org/drawingml/2006/main">
              <a:ext uri="{FF2B5EF4-FFF2-40B4-BE49-F238E27FC236}">
                <a16:creationId xmlns:a16="http://schemas.microsoft.com/office/drawing/2014/main" id="{6275CAEA-2BA2-4778-AFD4-0CE758EA2852}"/>
              </a:ext>
            </a:extLst>
          </p:cNvPr>
          <p:cNvSpPr>
            <a:spLocks xmlns:a="http://schemas.openxmlformats.org/drawingml/2006/main" noGrp="1"/>
          </p:cNvSpPr>
          <p:nvPr/>
        </p:nvSpPr>
        <p:spPr>
          <a:xfrm xmlns:a="http://schemas.openxmlformats.org/drawingml/2006/main">
            <a:off x="3943350" y="29527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583"/>
          </a:bodyPr>
          <a:lstStyle xmlns:a="http://schemas.openxmlformats.org/drawingml/2006/main"/>
          <a:p xmlns:a="http://schemas.openxmlformats.org/drawingml/2006/main">
            <a:pPr algn="r">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0.8</a:t>
            </a:r>
          </a:p>
        </p:txBody>
      </p:sp>
      <p:sp>
        <p:nvSpPr>
          <p:cNvPr id="13" name="round2-label-0">
            <a:extLst xmlns:a="http://schemas.openxmlformats.org/drawingml/2006/main">
              <a:ext uri="{FF2B5EF4-FFF2-40B4-BE49-F238E27FC236}">
                <a16:creationId xmlns:a16="http://schemas.microsoft.com/office/drawing/2014/main" id="{C45D288C-D418-4112-BE73-CDC2A3AB64C3}"/>
              </a:ext>
            </a:extLst>
          </p:cNvPr>
          <p:cNvSpPr>
            <a:spLocks xmlns:a="http://schemas.openxmlformats.org/drawingml/2006/main" noGrp="1"/>
          </p:cNvSpPr>
          <p:nvPr/>
        </p:nvSpPr>
        <p:spPr>
          <a:xfrm xmlns:a="http://schemas.openxmlformats.org/drawingml/2006/main">
            <a:off x="7162800" y="29908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New-device probability</a:t>
            </a:r>
          </a:p>
        </p:txBody>
      </p:sp>
      <p:sp>
        <p:nvSpPr>
          <p:cNvPr id="14" name="round2-value-0">
            <a:extLst xmlns:a="http://schemas.openxmlformats.org/drawingml/2006/main">
              <a:ext uri="{FF2B5EF4-FFF2-40B4-BE49-F238E27FC236}">
                <a16:creationId xmlns:a16="http://schemas.microsoft.com/office/drawing/2014/main" id="{54BC1301-1DEF-4B4F-AAD5-04BB080DE598}"/>
              </a:ext>
            </a:extLst>
          </p:cNvPr>
          <p:cNvSpPr>
            <a:spLocks xmlns:a="http://schemas.openxmlformats.org/drawingml/2006/main" noGrp="1"/>
          </p:cNvSpPr>
          <p:nvPr/>
        </p:nvSpPr>
        <p:spPr>
          <a:xfrm xmlns:a="http://schemas.openxmlformats.org/drawingml/2006/main">
            <a:off x="10306050" y="29527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583"/>
          </a:bodyPr>
          <a:lstStyle xmlns:a="http://schemas.openxmlformats.org/drawingml/2006/main"/>
          <a:p xmlns:a="http://schemas.openxmlformats.org/drawingml/2006/main">
            <a:pPr algn="r">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0.6</a:t>
            </a:r>
          </a:p>
        </p:txBody>
      </p:sp>
      <p:sp>
        <p:nvSpPr>
          <p:cNvPr id="15" name="round1-label-1">
            <a:extLst xmlns:a="http://schemas.openxmlformats.org/drawingml/2006/main">
              <a:ext uri="{FF2B5EF4-FFF2-40B4-BE49-F238E27FC236}">
                <a16:creationId xmlns:a16="http://schemas.microsoft.com/office/drawing/2014/main" id="{3D703496-6EDC-4BF3-BDA3-C2322006E7BF}"/>
              </a:ext>
            </a:extLst>
          </p:cNvPr>
          <p:cNvSpPr>
            <a:spLocks xmlns:a="http://schemas.openxmlformats.org/drawingml/2006/main" noGrp="1"/>
          </p:cNvSpPr>
          <p:nvPr/>
        </p:nvSpPr>
        <p:spPr>
          <a:xfrm xmlns:a="http://schemas.openxmlformats.org/drawingml/2006/main">
            <a:off x="800100" y="41338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New-network probability</a:t>
            </a:r>
          </a:p>
        </p:txBody>
      </p:sp>
      <p:sp>
        <p:nvSpPr>
          <p:cNvPr id="16" name="round1-value-1">
            <a:extLst xmlns:a="http://schemas.openxmlformats.org/drawingml/2006/main">
              <a:ext uri="{FF2B5EF4-FFF2-40B4-BE49-F238E27FC236}">
                <a16:creationId xmlns:a16="http://schemas.microsoft.com/office/drawing/2014/main" id="{02CC4BAD-19DD-475D-90B4-76896B485C84}"/>
              </a:ext>
            </a:extLst>
          </p:cNvPr>
          <p:cNvSpPr>
            <a:spLocks xmlns:a="http://schemas.openxmlformats.org/drawingml/2006/main" noGrp="1"/>
          </p:cNvSpPr>
          <p:nvPr/>
        </p:nvSpPr>
        <p:spPr>
          <a:xfrm xmlns:a="http://schemas.openxmlformats.org/drawingml/2006/main">
            <a:off x="3943350" y="40957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583"/>
          </a:bodyPr>
          <a:lstStyle xmlns:a="http://schemas.openxmlformats.org/drawingml/2006/main"/>
          <a:p xmlns:a="http://schemas.openxmlformats.org/drawingml/2006/main">
            <a:pPr algn="r">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0.7</a:t>
            </a:r>
          </a:p>
        </p:txBody>
      </p:sp>
      <p:sp>
        <p:nvSpPr>
          <p:cNvPr id="17" name="round2-label-1">
            <a:extLst xmlns:a="http://schemas.openxmlformats.org/drawingml/2006/main">
              <a:ext uri="{FF2B5EF4-FFF2-40B4-BE49-F238E27FC236}">
                <a16:creationId xmlns:a16="http://schemas.microsoft.com/office/drawing/2014/main" id="{F0CEEF9E-D252-44BE-815B-E10BEB82C4B3}"/>
              </a:ext>
            </a:extLst>
          </p:cNvPr>
          <p:cNvSpPr>
            <a:spLocks xmlns:a="http://schemas.openxmlformats.org/drawingml/2006/main" noGrp="1"/>
          </p:cNvSpPr>
          <p:nvPr/>
        </p:nvSpPr>
        <p:spPr>
          <a:xfrm xmlns:a="http://schemas.openxmlformats.org/drawingml/2006/main">
            <a:off x="7162800" y="41338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0">
                <a:solidFill>
                  <a:srgbClr val="5F6368"/>
                </a:solidFill>
                <a:latin typeface="Helvetica Neue"/>
                <a:ea typeface="Helvetica Neue"/>
                <a:cs typeface="Helvetica Neue"/>
              </a:defRPr>
            </a:pPr>
            <a:r>
              <a:rPr sz="1350" b="0">
                <a:solidFill>
                  <a:srgbClr val="5F6368"/>
                </a:solidFill>
                <a:latin typeface="Helvetica Neue"/>
                <a:ea typeface="Helvetica Neue"/>
                <a:cs typeface="Helvetica Neue"/>
              </a:rPr>
              <a:t>New-network probability</a:t>
            </a:r>
          </a:p>
        </p:txBody>
      </p:sp>
      <p:sp>
        <p:nvSpPr>
          <p:cNvPr id="18" name="round2-value-1">
            <a:extLst xmlns:a="http://schemas.openxmlformats.org/drawingml/2006/main">
              <a:ext uri="{FF2B5EF4-FFF2-40B4-BE49-F238E27FC236}">
                <a16:creationId xmlns:a16="http://schemas.microsoft.com/office/drawing/2014/main" id="{54E64E07-9BBF-4146-ADE5-965B72C50C9C}"/>
              </a:ext>
            </a:extLst>
          </p:cNvPr>
          <p:cNvSpPr>
            <a:spLocks xmlns:a="http://schemas.openxmlformats.org/drawingml/2006/main" noGrp="1"/>
          </p:cNvSpPr>
          <p:nvPr/>
        </p:nvSpPr>
        <p:spPr>
          <a:xfrm xmlns:a="http://schemas.openxmlformats.org/drawingml/2006/main">
            <a:off x="10306050" y="40957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583"/>
          </a:bodyPr>
          <a:lstStyle xmlns:a="http://schemas.openxmlformats.org/drawingml/2006/main"/>
          <a:p xmlns:a="http://schemas.openxmlformats.org/drawingml/2006/main">
            <a:pPr algn="r">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0.5</a:t>
            </a:r>
          </a:p>
        </p:txBody>
      </p:sp>
      <p:sp>
        <p:nvSpPr>
          <p:cNvPr id="19" name="mutation-constant-panel">
            <a:extLst xmlns:a="http://schemas.openxmlformats.org/drawingml/2006/main">
              <a:ext uri="{FF2B5EF4-FFF2-40B4-BE49-F238E27FC236}">
                <a16:creationId xmlns:a16="http://schemas.microsoft.com/office/drawing/2014/main" id="{E1CA989A-FB2B-4A85-ACE2-D1FCEF0534C5}"/>
              </a:ext>
            </a:extLst>
          </p:cNvPr>
          <p:cNvSpPr>
            <a:spLocks xmlns:a="http://schemas.openxmlformats.org/drawingml/2006/main" noGrp="1"/>
          </p:cNvSpPr>
          <p:nvPr/>
        </p:nvSpPr>
        <p:spPr>
          <a:xfrm xmlns:a="http://schemas.openxmlformats.org/drawingml/2006/main">
            <a:off x="533400" y="5238750"/>
            <a:ext cx="11125200" cy="666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0" name="mutation-constant">
            <a:extLst xmlns:a="http://schemas.openxmlformats.org/drawingml/2006/main">
              <a:ext uri="{FF2B5EF4-FFF2-40B4-BE49-F238E27FC236}">
                <a16:creationId xmlns:a16="http://schemas.microsoft.com/office/drawing/2014/main" id="{0CF9A3F4-3298-4173-B334-6350724C60D5}"/>
              </a:ext>
            </a:extLst>
          </p:cNvPr>
          <p:cNvSpPr>
            <a:spLocks xmlns:a="http://schemas.openxmlformats.org/drawingml/2006/main" noGrp="1"/>
          </p:cNvSpPr>
          <p:nvPr/>
        </p:nvSpPr>
        <p:spPr>
          <a:xfrm xmlns:a="http://schemas.openxmlformats.org/drawingml/2006/main">
            <a:off x="762000" y="54387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Unchanged: attack family, stage order, synthetic-only entities, no live rails, no credentials, reproducible lineage</a:t>
            </a:r>
          </a:p>
        </p:txBody>
      </p:sp>
    </p:spTree>
    <p:extLst>
      <p:ext uri="{BB962C8B-B14F-4D97-AF65-F5344CB8AC3E}">
        <p14:creationId xmlns:p14="http://schemas.microsoft.com/office/powerpoint/2010/main" val="9126769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lose-eyebrow">
            <a:extLst xmlns:a="http://schemas.openxmlformats.org/drawingml/2006/main">
              <a:ext uri="{FF2B5EF4-FFF2-40B4-BE49-F238E27FC236}">
                <a16:creationId xmlns:a16="http://schemas.microsoft.com/office/drawing/2014/main" id="{3E371351-D666-4B79-BBBB-0DF38061BAA9}"/>
              </a:ext>
            </a:extLst>
          </p:cNvPr>
          <p:cNvSpPr>
            <a:spLocks xmlns:a="http://schemas.openxmlformats.org/drawingml/2006/main" noGrp="1"/>
          </p:cNvSpPr>
          <p:nvPr/>
        </p:nvSpPr>
        <p:spPr>
          <a:xfrm xmlns:a="http://schemas.openxmlformats.org/drawingml/2006/main">
            <a:off x="533400" y="4572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THE COMPLETE LEARNING LOOP</a:t>
            </a:r>
          </a:p>
        </p:txBody>
      </p:sp>
      <p:sp>
        <p:nvSpPr>
          <p:cNvPr id="2" name="close-title">
            <a:extLst xmlns:a="http://schemas.openxmlformats.org/drawingml/2006/main">
              <a:ext uri="{FF2B5EF4-FFF2-40B4-BE49-F238E27FC236}">
                <a16:creationId xmlns:a16="http://schemas.microsoft.com/office/drawing/2014/main" id="{9A9EF542-1338-4F37-9C2B-215658096A10}"/>
              </a:ext>
            </a:extLst>
          </p:cNvPr>
          <p:cNvSpPr>
            <a:spLocks xmlns:a="http://schemas.openxmlformats.org/drawingml/2006/main" noGrp="1"/>
          </p:cNvSpPr>
          <p:nvPr/>
        </p:nvSpPr>
        <p:spPr>
          <a:xfrm xmlns:a="http://schemas.openxmlformats.org/drawingml/2006/main">
            <a:off x="533400" y="1314450"/>
            <a:ext cx="10287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750" b="1">
                <a:solidFill>
                  <a:srgbClr val="000000"/>
                </a:solidFill>
                <a:latin typeface="Helvetica Neue"/>
                <a:ea typeface="Helvetica Neue"/>
                <a:cs typeface="Helvetica Neue"/>
              </a:defRPr>
            </a:pPr>
            <a:r>
              <a:rPr sz="3750" b="1">
                <a:solidFill>
                  <a:srgbClr val="000000"/>
                </a:solidFill>
                <a:latin typeface="Helvetica Neue"/>
                <a:ea typeface="Helvetica Neue"/>
                <a:cs typeface="Helvetica Neue"/>
              </a:rPr>
              <a:t>Red evolves the test.</a:t>
            </a:r>
          </a:p>
          <a:p xmlns:a="http://schemas.openxmlformats.org/drawingml/2006/main">
            <a:pPr algn="l">
              <a:defRPr sz="3750" b="1">
                <a:solidFill>
                  <a:srgbClr val="000000"/>
                </a:solidFill>
                <a:latin typeface="Helvetica Neue"/>
                <a:ea typeface="Helvetica Neue"/>
                <a:cs typeface="Helvetica Neue"/>
              </a:defRPr>
            </a:pPr>
            <a:r>
              <a:rPr sz="3750" b="1">
                <a:solidFill>
                  <a:srgbClr val="000000"/>
                </a:solidFill>
                <a:latin typeface="Helvetica Neue"/>
                <a:ea typeface="Helvetica Neue"/>
                <a:cs typeface="Helvetica Neue"/>
              </a:rPr>
              <a:t>Blue evolves the defense.</a:t>
            </a:r>
          </a:p>
          <a:p xmlns:a="http://schemas.openxmlformats.org/drawingml/2006/main">
            <a:pPr algn="l">
              <a:defRPr sz="3750" b="1">
                <a:solidFill>
                  <a:srgbClr val="000000"/>
                </a:solidFill>
                <a:latin typeface="Helvetica Neue"/>
                <a:ea typeface="Helvetica Neue"/>
                <a:cs typeface="Helvetica Neue"/>
              </a:defRPr>
            </a:pPr>
            <a:r>
              <a:rPr sz="3750" b="1">
                <a:solidFill>
                  <a:srgbClr val="000000"/>
                </a:solidFill>
                <a:latin typeface="Helvetica Neue"/>
                <a:ea typeface="Helvetica Neue"/>
                <a:cs typeface="Helvetica Neue"/>
              </a:rPr>
              <a:t>The Referee keeps it honest.</a:t>
            </a:r>
          </a:p>
        </p:txBody>
      </p:sp>
      <p:sp>
        <p:nvSpPr>
          <p:cNvPr id="3" name="close-rule">
            <a:extLst xmlns:a="http://schemas.openxmlformats.org/drawingml/2006/main">
              <a:ext uri="{FF2B5EF4-FFF2-40B4-BE49-F238E27FC236}">
                <a16:creationId xmlns:a16="http://schemas.microsoft.com/office/drawing/2014/main" id="{EF96088E-D03D-443E-8B7A-763313732F77}"/>
              </a:ext>
            </a:extLst>
          </p:cNvPr>
          <p:cNvSpPr>
            <a:spLocks xmlns:a="http://schemas.openxmlformats.org/drawingml/2006/main" noGrp="1"/>
          </p:cNvSpPr>
          <p:nvPr/>
        </p:nvSpPr>
        <p:spPr>
          <a:xfrm xmlns:a="http://schemas.openxmlformats.org/drawingml/2006/main">
            <a:off x="533400" y="3981450"/>
            <a:ext cx="111252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close-role-0">
            <a:extLst xmlns:a="http://schemas.openxmlformats.org/drawingml/2006/main">
              <a:ext uri="{FF2B5EF4-FFF2-40B4-BE49-F238E27FC236}">
                <a16:creationId xmlns:a16="http://schemas.microsoft.com/office/drawing/2014/main" id="{F540B65C-0886-4769-84B7-600A0B7007D5}"/>
              </a:ext>
            </a:extLst>
          </p:cNvPr>
          <p:cNvSpPr>
            <a:spLocks xmlns:a="http://schemas.openxmlformats.org/drawingml/2006/main" noGrp="1"/>
          </p:cNvSpPr>
          <p:nvPr/>
        </p:nvSpPr>
        <p:spPr>
          <a:xfrm xmlns:a="http://schemas.openxmlformats.org/drawingml/2006/main">
            <a:off x="533400" y="43624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E85D5D"/>
                </a:solidFill>
                <a:latin typeface="Helvetica Neue"/>
                <a:ea typeface="Helvetica Neue"/>
                <a:cs typeface="Helvetica Neue"/>
              </a:defRPr>
            </a:pPr>
            <a:r>
              <a:rPr sz="1800" b="1">
                <a:solidFill>
                  <a:srgbClr val="E85D5D"/>
                </a:solidFill>
                <a:latin typeface="Helvetica Neue"/>
                <a:ea typeface="Helvetica Neue"/>
                <a:cs typeface="Helvetica Neue"/>
              </a:rPr>
              <a:t>Red</a:t>
            </a:r>
          </a:p>
        </p:txBody>
      </p:sp>
      <p:sp>
        <p:nvSpPr>
          <p:cNvPr id="5" name="close-detail-0">
            <a:extLst xmlns:a="http://schemas.openxmlformats.org/drawingml/2006/main">
              <a:ext uri="{FF2B5EF4-FFF2-40B4-BE49-F238E27FC236}">
                <a16:creationId xmlns:a16="http://schemas.microsoft.com/office/drawing/2014/main" id="{18F43257-9D98-44D1-80B5-47A3402D10E0}"/>
              </a:ext>
            </a:extLst>
          </p:cNvPr>
          <p:cNvSpPr>
            <a:spLocks xmlns:a="http://schemas.openxmlformats.org/drawingml/2006/main" noGrp="1"/>
          </p:cNvSpPr>
          <p:nvPr/>
        </p:nvSpPr>
        <p:spPr>
          <a:xfrm xmlns:a="http://schemas.openxmlformats.org/drawingml/2006/main">
            <a:off x="533400" y="48577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Adapts only reviewed scenario parameters</a:t>
            </a:r>
          </a:p>
        </p:txBody>
      </p:sp>
      <p:sp>
        <p:nvSpPr>
          <p:cNvPr id="6" name="close-role-1">
            <a:extLst xmlns:a="http://schemas.openxmlformats.org/drawingml/2006/main">
              <a:ext uri="{FF2B5EF4-FFF2-40B4-BE49-F238E27FC236}">
                <a16:creationId xmlns:a16="http://schemas.microsoft.com/office/drawing/2014/main" id="{9C7EF890-4C85-466B-B422-03C618A67933}"/>
              </a:ext>
            </a:extLst>
          </p:cNvPr>
          <p:cNvSpPr>
            <a:spLocks xmlns:a="http://schemas.openxmlformats.org/drawingml/2006/main" noGrp="1"/>
          </p:cNvSpPr>
          <p:nvPr/>
        </p:nvSpPr>
        <p:spPr>
          <a:xfrm xmlns:a="http://schemas.openxmlformats.org/drawingml/2006/main">
            <a:off x="4248150" y="43624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Blue</a:t>
            </a:r>
          </a:p>
        </p:txBody>
      </p:sp>
      <p:sp>
        <p:nvSpPr>
          <p:cNvPr id="7" name="close-detail-1">
            <a:extLst xmlns:a="http://schemas.openxmlformats.org/drawingml/2006/main">
              <a:ext uri="{FF2B5EF4-FFF2-40B4-BE49-F238E27FC236}">
                <a16:creationId xmlns:a16="http://schemas.microsoft.com/office/drawing/2014/main" id="{536E4974-F545-4FF0-B67C-DE3105142AE5}"/>
              </a:ext>
            </a:extLst>
          </p:cNvPr>
          <p:cNvSpPr>
            <a:spLocks xmlns:a="http://schemas.openxmlformats.org/drawingml/2006/main" noGrp="1"/>
          </p:cNvSpPr>
          <p:nvPr/>
        </p:nvSpPr>
        <p:spPr>
          <a:xfrm xmlns:a="http://schemas.openxmlformats.org/drawingml/2006/main">
            <a:off x="4248150" y="48577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Learns across attacks and legitimate look-alikes</a:t>
            </a:r>
          </a:p>
        </p:txBody>
      </p:sp>
      <p:sp>
        <p:nvSpPr>
          <p:cNvPr id="8" name="close-role-2">
            <a:extLst xmlns:a="http://schemas.openxmlformats.org/drawingml/2006/main">
              <a:ext uri="{FF2B5EF4-FFF2-40B4-BE49-F238E27FC236}">
                <a16:creationId xmlns:a16="http://schemas.microsoft.com/office/drawing/2014/main" id="{0DF51E50-3F12-4CAC-A17B-855D8D3F13C2}"/>
              </a:ext>
            </a:extLst>
          </p:cNvPr>
          <p:cNvSpPr>
            <a:spLocks xmlns:a="http://schemas.openxmlformats.org/drawingml/2006/main" noGrp="1"/>
          </p:cNvSpPr>
          <p:nvPr/>
        </p:nvSpPr>
        <p:spPr>
          <a:xfrm xmlns:a="http://schemas.openxmlformats.org/drawingml/2006/main">
            <a:off x="7962900" y="43624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Referee</a:t>
            </a:r>
          </a:p>
        </p:txBody>
      </p:sp>
      <p:sp>
        <p:nvSpPr>
          <p:cNvPr id="9" name="close-detail-2">
            <a:extLst xmlns:a="http://schemas.openxmlformats.org/drawingml/2006/main">
              <a:ext uri="{FF2B5EF4-FFF2-40B4-BE49-F238E27FC236}">
                <a16:creationId xmlns:a16="http://schemas.microsoft.com/office/drawing/2014/main" id="{AD0CBA54-58AB-4F31-B9B0-CCB66B10B4B3}"/>
              </a:ext>
            </a:extLst>
          </p:cNvPr>
          <p:cNvSpPr>
            <a:spLocks xmlns:a="http://schemas.openxmlformats.org/drawingml/2006/main" noGrp="1"/>
          </p:cNvSpPr>
          <p:nvPr/>
        </p:nvSpPr>
        <p:spPr>
          <a:xfrm xmlns:a="http://schemas.openxmlformats.org/drawingml/2006/main">
            <a:off x="7962900" y="48577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Controls truth, scoring and the feedback boundary</a:t>
            </a:r>
          </a:p>
        </p:txBody>
      </p:sp>
      <p:sp>
        <p:nvSpPr>
          <p:cNvPr id="10" name="next-step-strip">
            <a:extLst xmlns:a="http://schemas.openxmlformats.org/drawingml/2006/main">
              <a:ext uri="{FF2B5EF4-FFF2-40B4-BE49-F238E27FC236}">
                <a16:creationId xmlns:a16="http://schemas.microsoft.com/office/drawing/2014/main" id="{DA483FBA-676E-4289-A206-C4A17AAF5C0B}"/>
              </a:ext>
            </a:extLst>
          </p:cNvPr>
          <p:cNvSpPr>
            <a:spLocks xmlns:a="http://schemas.openxmlformats.org/drawingml/2006/main" noGrp="1"/>
          </p:cNvSpPr>
          <p:nvPr/>
        </p:nvSpPr>
        <p:spPr>
          <a:xfrm xmlns:a="http://schemas.openxmlformats.org/drawingml/2006/main">
            <a:off x="533400" y="5924550"/>
            <a:ext cx="11125200" cy="4572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next-step">
            <a:extLst xmlns:a="http://schemas.openxmlformats.org/drawingml/2006/main">
              <a:ext uri="{FF2B5EF4-FFF2-40B4-BE49-F238E27FC236}">
                <a16:creationId xmlns:a16="http://schemas.microsoft.com/office/drawing/2014/main" id="{20CB8223-58ED-4854-B667-07849C5A2EF4}"/>
              </a:ext>
            </a:extLst>
          </p:cNvPr>
          <p:cNvSpPr>
            <a:spLocks xmlns:a="http://schemas.openxmlformats.org/drawingml/2006/main" noGrp="1"/>
          </p:cNvSpPr>
          <p:nvPr/>
        </p:nvSpPr>
        <p:spPr>
          <a:xfrm xmlns:a="http://schemas.openxmlformats.org/drawingml/2006/main">
            <a:off x="723900" y="6038850"/>
            <a:ext cx="1074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ctr">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Next build: the simulator that expands validated recipes into timestamped synthetic event streams.</a:t>
            </a:r>
          </a:p>
        </p:txBody>
      </p:sp>
    </p:spTree>
    <p:extLst>
      <p:ext uri="{BB962C8B-B14F-4D97-AF65-F5344CB8AC3E}">
        <p14:creationId xmlns:p14="http://schemas.microsoft.com/office/powerpoint/2010/main" val="19418116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2026-08-19T07:25:23.7140000Z</dcterms:created>
  <dcterms:modified xsi:type="dcterms:W3CDTF">2026-08-19T07:25:23.7140000Z</dcterms:modified>
</coreProperties>
</file>