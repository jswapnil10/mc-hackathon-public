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582b7aaf3241d1" /><Relationship Type="http://schemas.openxmlformats.org/officeDocument/2006/relationships/extended-properties" Target="/docProps/app.xml" Id="Rb11bb07e9e5a44cd" /><Relationship Type="http://schemas.openxmlformats.org/officeDocument/2006/relationships/officeDocument" Target="/ppt/presentation.xml" Id="Rc216a5bf0c774444" /></Relationships>
</file>

<file path=ppt/presentation.xml><?xml version="1.0" encoding="utf-8"?>
<p:presentation xmlns:p="http://schemas.openxmlformats.org/presentationml/2006/main">
  <p:sldMasterIdLst>
    <p:sldMasterId xmlns:r="http://schemas.openxmlformats.org/officeDocument/2006/relationships" id="2147483648" r:id="R08526aca15bd48f9"/>
  </p:sldMasterIdLst>
  <p:notesMasterIdLst>
    <p:notesMasterId xmlns:r="http://schemas.openxmlformats.org/officeDocument/2006/relationships" r:id="R645e521b46fd4ef9"/>
  </p:notesMasterIdLst>
  <p:sldIdLst>
    <p:sldId xmlns:r="http://schemas.openxmlformats.org/officeDocument/2006/relationships" id="256" r:id="Rac20c1c10b0e47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a5eb7460784adb" /><Relationship Type="http://schemas.openxmlformats.org/officeDocument/2006/relationships/slideMaster" Target="/ppt/slideMasters/slideMaster1.xml" Id="R08526aca15bd48f9" /><Relationship Type="http://schemas.openxmlformats.org/officeDocument/2006/relationships/notesMaster" Target="/ppt/notesMasters/notesMaster1.xml" Id="R645e521b46fd4ef9" /><Relationship Type="http://schemas.openxmlformats.org/officeDocument/2006/relationships/presProps" Target="/ppt/presProps.xml" Id="Rd5ea9b89c7014780" /><Relationship Type="http://schemas.openxmlformats.org/officeDocument/2006/relationships/tableStyles" Target="/ppt/tableStyles.xml" Id="R168bc12a9cd7403a" /><Relationship Type="http://schemas.openxmlformats.org/officeDocument/2006/relationships/slide" Target="/ppt/slides/slide1.xml" Id="Rac20c1c10b0e47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2104d1d46b49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9cadfd46ac44a8" /><Relationship Type="http://schemas.openxmlformats.org/officeDocument/2006/relationships/notesMaster" Target="/ppt/notesMasters/notesMaster1.xml" Id="R297c58d455c645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answer is: both — and the strongest project should do more than either alone.</a:t>
            </a:r>
          </a:p>
          <a:p xmlns:a="http://schemas.openxmlformats.org/drawingml/2006/main">
            <a:r>
              <a:t/>
            </a:r>
          </a:p>
          <a:p xmlns:a="http://schemas.openxmlformats.org/drawingml/2006/main">
            <a:r>
              <a:t>The Red Team is not supposed to attack real users, banks or payment systems. It safely creates synthetic fraud campaigns inside the lab.</a:t>
            </a:r>
          </a:p>
          <a:p xmlns:a="http://schemas.openxmlformats.org/drawingml/2006/main">
            <a:r>
              <a:t/>
            </a:r>
          </a:p>
          <a:p xmlns:a="http://schemas.openxmlformats.org/drawingml/2006/main">
            <a:r>
              <a:t>Imagine a fictional customer named Riya. She normally makes payments of around ₹1,000 from the same phone and the same region.</a:t>
            </a:r>
          </a:p>
          <a:p xmlns:a="http://schemas.openxmlformats.org/drawingml/2006/main">
            <a:r>
              <a:t/>
            </a:r>
          </a:p>
          <a:p xmlns:a="http://schemas.openxmlformats.org/drawingml/2006/main">
            <a:r>
              <a:t>The Red Team simulates the consequences of an AI-assisted account takeover. A login appears from an unfamiliar device. Account or security details change. A new beneficiary is added. A small test payment is attempted. A much larger payment follows. Then the money starts moving through synthetic mule accounts.</a:t>
            </a:r>
          </a:p>
          <a:p xmlns:a="http://schemas.openxmlformats.org/drawingml/2006/main">
            <a:r>
              <a:t/>
            </a:r>
          </a:p>
          <a:p xmlns:a="http://schemas.openxmlformats.org/drawingml/2006/main">
            <a:r>
              <a:t>We do not build or execute real phishing, credential theft or attacks against external systems. We recreate the observable payment behavior that those attacks would cause.</a:t>
            </a:r>
          </a:p>
          <a:p xmlns:a="http://schemas.openxmlformats.org/drawingml/2006/main">
            <a:r>
              <a:t/>
            </a:r>
          </a:p>
          <a:p xmlns:a="http://schemas.openxmlformats.org/drawingml/2006/main">
            <a:r>
              <a:t>The Blue Team can then act at three different moments.</a:t>
            </a:r>
          </a:p>
          <a:p xmlns:a="http://schemas.openxmlformats.org/drawingml/2006/main">
            <a:r>
              <a:t/>
            </a:r>
          </a:p>
          <a:p xmlns:a="http://schemas.openxmlformats.org/drawingml/2006/main">
            <a:r>
              <a:t>1. Before the payment attempt</a:t>
            </a:r>
          </a:p>
          <a:p xmlns:a="http://schemas.openxmlformats.org/drawingml/2006/main">
            <a:r>
              <a:t/>
            </a:r>
          </a:p>
          <a:p xmlns:a="http://schemas.openxmlformats.org/drawingml/2006/main">
            <a:r>
              <a:t>The system may already see warning signs: an unfamiliar device or session, recent account or security changes, a newly added beneficiary, a recipient connected to risky entities, or a synthetic identity pattern.</a:t>
            </a:r>
          </a:p>
          <a:p xmlns:a="http://schemas.openxmlformats.org/drawingml/2006/main">
            <a:r>
              <a:t/>
            </a:r>
          </a:p>
          <a:p xmlns:a="http://schemas.openxmlformats.org/drawingml/2006/main">
            <a:r>
              <a:t>The defense can ask for stronger verification, apply a cooling period, or increase monitoring. This is prevention before money moves.</a:t>
            </a:r>
          </a:p>
          <a:p xmlns:a="http://schemas.openxmlformats.org/drawingml/2006/main">
            <a:r>
              <a:t/>
            </a:r>
          </a:p>
          <a:p xmlns:a="http://schemas.openxmlformats.org/drawingml/2006/main">
            <a:r>
              <a:t>2. During the payment attempt</a:t>
            </a:r>
          </a:p>
          <a:p xmlns:a="http://schemas.openxmlformats.org/drawingml/2006/main">
            <a:r>
              <a:t/>
            </a:r>
          </a:p>
          <a:p xmlns:a="http://schemas.openxmlformats.org/drawingml/2006/main">
            <a:r>
              <a:t>The transaction enters the system with the status INITIATED. The Blue Team calculates a risk score and provides the evidence behind that score.</a:t>
            </a:r>
          </a:p>
          <a:p xmlns:a="http://schemas.openxmlformats.org/drawingml/2006/main">
            <a:r>
              <a:t/>
            </a:r>
          </a:p>
          <a:p xmlns:a="http://schemas.openxmlformats.org/drawingml/2006/main">
            <a:r>
              <a:t>The decision can be ALLOW, MONITOR, CHALLENGE, TEMPORARILY HOLD, DECLINE or REVIEW. The goal is to intercept the payment before authorization or settlement whenever the evidence is strong enough.</a:t>
            </a:r>
          </a:p>
          <a:p xmlns:a="http://schemas.openxmlformats.org/drawingml/2006/main">
            <a:r>
              <a:t/>
            </a:r>
          </a:p>
          <a:p xmlns:a="http://schemas.openxmlformats.org/drawingml/2006/main">
            <a:r>
              <a:t>3. After an individual payment, but still in near real time</a:t>
            </a:r>
          </a:p>
          <a:p xmlns:a="http://schemas.openxmlformats.org/drawingml/2006/main">
            <a:r>
              <a:t/>
            </a:r>
          </a:p>
          <a:p xmlns:a="http://schemas.openxmlformats.org/drawingml/2006/main">
            <a:r>
              <a:t>Some fraud only becomes obvious when the system sees several transactions together. A graph may reveal that many accounts are paying the same recipient, that funds are moving through a chain of mule accounts, or that devices, beneficiaries and identities are linked.</a:t>
            </a:r>
          </a:p>
          <a:p xmlns:a="http://schemas.openxmlformats.org/drawingml/2006/main">
            <a:r>
              <a:t/>
            </a:r>
          </a:p>
          <a:p xmlns:a="http://schemas.openxmlformats.org/drawingml/2006/main">
            <a:r>
              <a:t>At this point the system can stop subsequent transfers, hold settlement where possible, restrict the beneficiary, review linked accounts and contain the wider campaign. This is not merely a report produced days later; it is near-real-time containment.</a:t>
            </a:r>
          </a:p>
          <a:p xmlns:a="http://schemas.openxmlformats.org/drawingml/2006/main">
            <a:r>
              <a:t/>
            </a:r>
          </a:p>
          <a:p xmlns:a="http://schemas.openxmlformats.org/drawingml/2006/main">
            <a:r>
              <a:t>The problem statement uses the words detect, flag and mitigate. Mitigate implies that detection must lead to an action. It also asks for a closed-loop system that discovers attacks, recreates them and uses them as training ground for a stronger defense. That points to two connected modes.</a:t>
            </a:r>
          </a:p>
          <a:p xmlns:a="http://schemas.openxmlformats.org/drawingml/2006/main">
            <a:r>
              <a:t/>
            </a:r>
          </a:p>
          <a:p xmlns:a="http://schemas.openxmlformats.org/drawingml/2006/main">
            <a:r>
              <a:t>Lab Mode: Red Team agents generate safe synthetic fraud campaigns. Blue Team models train and stress-test against them. Weaknesses produce harder attack variants, so the loop keeps improving the defense.</a:t>
            </a:r>
          </a:p>
          <a:p xmlns:a="http://schemas.openxmlformats.org/drawingml/2006/main">
            <a:r>
              <a:t/>
            </a:r>
          </a:p>
          <a:p xmlns:a="http://schemas.openxmlformats.org/drawingml/2006/main">
            <a:r>
              <a:t>Live Defense Mode: a simulated payment is initiated, the Blue Team scores it in real time, and the system chooses to allow, challenge, hold, decline or review it. Graph analysis then detects and contains wider campaigns as new evidence appears.</a:t>
            </a:r>
          </a:p>
          <a:p xmlns:a="http://schemas.openxmlformats.org/drawingml/2006/main">
            <a:r>
              <a:t/>
            </a:r>
          </a:p>
          <a:p xmlns:a="http://schemas.openxmlformats.org/drawingml/2006/main">
            <a:r>
              <a:t>So the final interpretation is a multi-stage defense: prevent when precursor evidence is strong, decide at authorization, contain what could not be identified immediately, and learn offline from every simulation. The final prototype should visibly demonstrate the lifecycle INITIATED → APPROVED / CHALLENGED / HELD / DECLINED, rather than only labeling completed transactions afterward.</a:t>
            </a:r>
          </a:p>
          <a:p xmlns:a="http://schemas.openxmlformats.org/drawingml/2006/main">
            <a:r>
              <a:t/>
            </a:r>
          </a:p>
          <a:p xmlns:a="http://schemas.openxmlformats.org/drawingml/2006/main">
            <a:r>
              <a:t>[Sources]</a:t>
            </a:r>
          </a:p>
          <a:p xmlns:a="http://schemas.openxmlformats.org/drawingml/2006/main">
            <a:r>
              <a:t>- User-provided Mastercard Innovation Challenge problem statement and working-session synthesis.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b36295f9934d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95f96d782b4738" /><Relationship Type="http://schemas.openxmlformats.org/officeDocument/2006/relationships/slideLayout" Target="/ppt/slideLayouts/slideLayout1.xml" Id="R76db60c339aa40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db60c339aa40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c1c51f243d4020" /><Relationship Type="http://schemas.openxmlformats.org/officeDocument/2006/relationships/notesSlide" Target="/ppt/notesSlides/notesSlide1.xml" Id="Rc7c49a87e82c4ec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eyebrow">
            <a:extLst xmlns:a="http://schemas.openxmlformats.org/drawingml/2006/main">
              <a:ext uri="{FF2B5EF4-FFF2-40B4-BE49-F238E27FC236}">
                <a16:creationId xmlns:a16="http://schemas.microsoft.com/office/drawing/2014/main" id="{03B0D512-A591-4BB6-A200-93557505F672}"/>
              </a:ext>
            </a:extLst>
          </p:cNvPr>
          <p:cNvSpPr>
            <a:spLocks xmlns:a="http://schemas.openxmlformats.org/drawingml/2006/main" noGrp="1"/>
          </p:cNvSpPr>
          <p:nvPr/>
        </p:nvSpPr>
        <p:spPr>
          <a:xfrm xmlns:a="http://schemas.openxmlformats.org/drawingml/2006/main">
            <a:off x="457200" y="2667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975" b="1">
                <a:solidFill>
                  <a:srgbClr val="2364D2"/>
                </a:solidFill>
                <a:latin typeface="Helvetica Neue"/>
                <a:ea typeface="Helvetica Neue"/>
                <a:cs typeface="Helvetica Neue"/>
              </a:defRPr>
            </a:pPr>
            <a:r>
              <a:rPr sz="975" b="1">
                <a:solidFill>
                  <a:srgbClr val="2364D2"/>
                </a:solidFill>
                <a:latin typeface="Helvetica Neue"/>
                <a:ea typeface="Helvetica Neue"/>
                <a:cs typeface="Helvetica Neue"/>
              </a:rPr>
              <a:t>AI DEFENSE LAB  /  PAYMENT SECURITY</a:t>
            </a:r>
          </a:p>
        </p:txBody>
      </p:sp>
      <p:sp>
        <p:nvSpPr>
          <p:cNvPr id="2" name="slide-title">
            <a:extLst xmlns:a="http://schemas.openxmlformats.org/drawingml/2006/main">
              <a:ext uri="{FF2B5EF4-FFF2-40B4-BE49-F238E27FC236}">
                <a16:creationId xmlns:a16="http://schemas.microsoft.com/office/drawing/2014/main" id="{DFD30500-BECA-41D3-9E96-2ACCADACFAB3}"/>
              </a:ext>
            </a:extLst>
          </p:cNvPr>
          <p:cNvSpPr>
            <a:spLocks xmlns:a="http://schemas.openxmlformats.org/drawingml/2006/main" noGrp="1"/>
          </p:cNvSpPr>
          <p:nvPr/>
        </p:nvSpPr>
        <p:spPr>
          <a:xfrm xmlns:a="http://schemas.openxmlformats.org/drawingml/2006/main">
            <a:off x="457200" y="495300"/>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167"/>
          </a:bodyPr>
          <a:lstStyle xmlns:a="http://schemas.openxmlformats.org/drawingml/2006/main"/>
          <a:p xmlns:a="http://schemas.openxmlformats.org/drawingml/2006/main">
            <a:pPr algn="l">
              <a:defRPr sz="3000" b="1">
                <a:solidFill>
                  <a:srgbClr val="0A1728"/>
                </a:solidFill>
                <a:latin typeface="Helvetica Neue"/>
                <a:ea typeface="Helvetica Neue"/>
                <a:cs typeface="Helvetica Neue"/>
              </a:defRPr>
            </a:pPr>
            <a:r>
              <a:rPr sz="3000" b="1">
                <a:solidFill>
                  <a:srgbClr val="0A1728"/>
                </a:solidFill>
                <a:latin typeface="Helvetica Neue"/>
                <a:ea typeface="Helvetica Neue"/>
                <a:cs typeface="Helvetica Neue"/>
              </a:rPr>
              <a:t>The defense acts at three moments—not only after payment</a:t>
            </a:r>
          </a:p>
        </p:txBody>
      </p:sp>
      <p:sp>
        <p:nvSpPr>
          <p:cNvPr id="3" name="subtitle">
            <a:extLst xmlns:a="http://schemas.openxmlformats.org/drawingml/2006/main">
              <a:ext uri="{FF2B5EF4-FFF2-40B4-BE49-F238E27FC236}">
                <a16:creationId xmlns:a16="http://schemas.microsoft.com/office/drawing/2014/main" id="{5AB665B4-6685-4BF1-A685-588893FB8ED0}"/>
              </a:ext>
            </a:extLst>
          </p:cNvPr>
          <p:cNvSpPr>
            <a:spLocks xmlns:a="http://schemas.openxmlformats.org/drawingml/2006/main" noGrp="1"/>
          </p:cNvSpPr>
          <p:nvPr/>
        </p:nvSpPr>
        <p:spPr>
          <a:xfrm xmlns:a="http://schemas.openxmlformats.org/drawingml/2006/main">
            <a:off x="457200" y="990600"/>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defRPr sz="1350" b="0">
                <a:solidFill>
                  <a:srgbClr val="526173"/>
                </a:solidFill>
                <a:latin typeface="Helvetica Neue"/>
                <a:ea typeface="Helvetica Neue"/>
                <a:cs typeface="Helvetica Neue"/>
              </a:defRPr>
            </a:pPr>
            <a:r>
              <a:rPr sz="1350" b="0">
                <a:solidFill>
                  <a:srgbClr val="526173"/>
                </a:solidFill>
                <a:latin typeface="Helvetica Neue"/>
                <a:ea typeface="Helvetica Neue"/>
                <a:cs typeface="Helvetica Neue"/>
              </a:rPr>
              <a:t>Red Team creates safe synthetic campaigns; Blue Team prevents, decides and contains.</a:t>
            </a:r>
          </a:p>
        </p:txBody>
      </p:sp>
      <p:sp>
        <p:nvSpPr>
          <p:cNvPr id="4" name="attack-flow-arrow">
            <a:extLst xmlns:a="http://schemas.openxmlformats.org/drawingml/2006/main">
              <a:ext uri="{FF2B5EF4-FFF2-40B4-BE49-F238E27FC236}">
                <a16:creationId xmlns:a16="http://schemas.microsoft.com/office/drawing/2014/main" id="{BF5FA7B2-B772-47EF-8F1E-B7A57ACCF185}"/>
              </a:ext>
            </a:extLst>
          </p:cNvPr>
          <p:cNvSpPr>
            <a:spLocks xmlns:a="http://schemas.openxmlformats.org/drawingml/2006/main" noGrp="1"/>
          </p:cNvSpPr>
          <p:nvPr/>
        </p:nvSpPr>
        <p:spPr>
          <a:xfrm xmlns:a="http://schemas.openxmlformats.org/drawingml/2006/main">
            <a:off x="723900" y="1676400"/>
            <a:ext cx="10725150" cy="114300"/>
          </a:xfrm>
          <a:prstGeom xmlns:a="http://schemas.openxmlformats.org/drawingml/2006/main" prst="rightArrow">
            <a:avLst/>
          </a:prstGeom>
          <a:solidFill xmlns:a="http://schemas.openxmlformats.org/drawingml/2006/main">
            <a:srgbClr val="D74646"/>
          </a:solidFill>
          <a:ln xmlns:a="http://schemas.openxmlformats.org/drawingml/2006/main" w="0">
            <a:noFill/>
            <a:prstDash val="solid"/>
          </a:ln>
        </p:spPr>
      </p:sp>
      <p:cxnSp>
        <p:nvCxnSpPr>
          <p:cNvPr id="52" name="intervention-guide-1"/>
          <p:cNvCxnSpPr/>
          <p:nvPr/>
        </p:nvCxnSpPr>
        <p:spPr>
          <a:xfrm xmlns:a="http://schemas.openxmlformats.org/drawingml/2006/main">
            <a:off x="3429000" y="1790700"/>
            <a:ext cx="9525" cy="914400"/>
          </a:xfrm>
          <a:prstGeom xmlns:a="http://schemas.openxmlformats.org/drawingml/2006/main" prst="straightConnector1">
            <a:avLst/>
          </a:prstGeom>
          <a:ln xmlns:a="http://schemas.openxmlformats.org/drawingml/2006/main" w="19050">
            <a:solidFill>
              <a:srgbClr val="C8D0DA"/>
            </a:solidFill>
            <a:prstDash val="dash"/>
          </a:ln>
        </p:spPr>
      </p:cxnSp>
      <p:cxnSp>
        <p:nvCxnSpPr>
          <p:cNvPr id="53" name="intervention-guide-2"/>
          <p:cNvCxnSpPr/>
          <p:nvPr/>
        </p:nvCxnSpPr>
        <p:spPr>
          <a:xfrm xmlns:a="http://schemas.openxmlformats.org/drawingml/2006/main">
            <a:off x="7686675" y="1790700"/>
            <a:ext cx="9525" cy="914400"/>
          </a:xfrm>
          <a:prstGeom xmlns:a="http://schemas.openxmlformats.org/drawingml/2006/main" prst="straightConnector1">
            <a:avLst/>
          </a:prstGeom>
          <a:ln xmlns:a="http://schemas.openxmlformats.org/drawingml/2006/main" w="19050">
            <a:solidFill>
              <a:srgbClr val="2364D2"/>
            </a:solidFill>
            <a:prstDash val="dash"/>
          </a:ln>
        </p:spPr>
      </p:cxnSp>
      <p:cxnSp>
        <p:nvCxnSpPr>
          <p:cNvPr id="54" name="intervention-guide-3"/>
          <p:cNvCxnSpPr/>
          <p:nvPr/>
        </p:nvCxnSpPr>
        <p:spPr>
          <a:xfrm xmlns:a="http://schemas.openxmlformats.org/drawingml/2006/main">
            <a:off x="10363200" y="1790700"/>
            <a:ext cx="9525" cy="914400"/>
          </a:xfrm>
          <a:prstGeom xmlns:a="http://schemas.openxmlformats.org/drawingml/2006/main" prst="straightConnector1">
            <a:avLst/>
          </a:prstGeom>
          <a:ln xmlns:a="http://schemas.openxmlformats.org/drawingml/2006/main" w="19050">
            <a:solidFill>
              <a:srgbClr val="C8D0DA"/>
            </a:solidFill>
            <a:prstDash val="dash"/>
          </a:ln>
        </p:spPr>
      </p:cxnSp>
      <p:sp>
        <p:nvSpPr>
          <p:cNvPr id="8" name="red-team-label">
            <a:extLst xmlns:a="http://schemas.openxmlformats.org/drawingml/2006/main">
              <a:ext uri="{FF2B5EF4-FFF2-40B4-BE49-F238E27FC236}">
                <a16:creationId xmlns:a16="http://schemas.microsoft.com/office/drawing/2014/main" id="{78E26328-8A79-4BDE-BE2F-D6CF93975155}"/>
              </a:ext>
            </a:extLst>
          </p:cNvPr>
          <p:cNvSpPr>
            <a:spLocks xmlns:a="http://schemas.openxmlformats.org/drawingml/2006/main" noGrp="1"/>
          </p:cNvSpPr>
          <p:nvPr/>
        </p:nvSpPr>
        <p:spPr>
          <a:xfrm xmlns:a="http://schemas.openxmlformats.org/drawingml/2006/main">
            <a:off x="457200" y="13335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l">
              <a:defRPr sz="1050" b="1">
                <a:solidFill>
                  <a:srgbClr val="D74646"/>
                </a:solidFill>
                <a:latin typeface="Helvetica Neue"/>
                <a:ea typeface="Helvetica Neue"/>
                <a:cs typeface="Helvetica Neue"/>
              </a:defRPr>
            </a:pPr>
            <a:r>
              <a:rPr sz="1050" b="1">
                <a:solidFill>
                  <a:srgbClr val="D74646"/>
                </a:solidFill>
                <a:latin typeface="Helvetica Neue"/>
                <a:ea typeface="Helvetica Neue"/>
                <a:cs typeface="Helvetica Neue"/>
              </a:rPr>
              <a:t>RED TEAM  ·  SAFE SYNTHETIC ATTACK JOURNEY</a:t>
            </a:r>
          </a:p>
        </p:txBody>
      </p:sp>
      <p:sp>
        <p:nvSpPr>
          <p:cNvPr id="9" name="red-team-safety">
            <a:extLst xmlns:a="http://schemas.openxmlformats.org/drawingml/2006/main">
              <a:ext uri="{FF2B5EF4-FFF2-40B4-BE49-F238E27FC236}">
                <a16:creationId xmlns:a16="http://schemas.microsoft.com/office/drawing/2014/main" id="{9174756A-5E46-4E28-BEA8-6C4EAB787D92}"/>
              </a:ext>
            </a:extLst>
          </p:cNvPr>
          <p:cNvSpPr>
            <a:spLocks xmlns:a="http://schemas.openxmlformats.org/drawingml/2006/main" noGrp="1"/>
          </p:cNvSpPr>
          <p:nvPr/>
        </p:nvSpPr>
        <p:spPr>
          <a:xfrm xmlns:a="http://schemas.openxmlformats.org/drawingml/2006/main">
            <a:off x="6429375" y="1333500"/>
            <a:ext cx="53054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r">
              <a:defRPr sz="1050" b="0">
                <a:solidFill>
                  <a:srgbClr val="526173"/>
                </a:solidFill>
                <a:latin typeface="Helvetica Neue"/>
                <a:ea typeface="Helvetica Neue"/>
                <a:cs typeface="Helvetica Neue"/>
              </a:defRPr>
            </a:pPr>
            <a:r>
              <a:rPr sz="1050" b="0">
                <a:solidFill>
                  <a:srgbClr val="526173"/>
                </a:solidFill>
                <a:latin typeface="Helvetica Neue"/>
                <a:ea typeface="Helvetica Neue"/>
                <a:cs typeface="Helvetica Neue"/>
              </a:rPr>
              <a:t>Fictional ATO campaign—not an attack on real users or systems</a:t>
            </a:r>
          </a:p>
        </p:txBody>
      </p:sp>
      <p:sp>
        <p:nvSpPr>
          <p:cNvPr id="10" name="attack-node-1">
            <a:extLst xmlns:a="http://schemas.openxmlformats.org/drawingml/2006/main">
              <a:ext uri="{FF2B5EF4-FFF2-40B4-BE49-F238E27FC236}">
                <a16:creationId xmlns:a16="http://schemas.microsoft.com/office/drawing/2014/main" id="{DCA47D61-114E-4A8D-8619-48F1A26D0B3D}"/>
              </a:ext>
            </a:extLst>
          </p:cNvPr>
          <p:cNvSpPr>
            <a:spLocks xmlns:a="http://schemas.openxmlformats.org/drawingml/2006/main" noGrp="1"/>
          </p:cNvSpPr>
          <p:nvPr/>
        </p:nvSpPr>
        <p:spPr>
          <a:xfrm xmlns:a="http://schemas.openxmlformats.org/drawingml/2006/main">
            <a:off x="838200" y="1543050"/>
            <a:ext cx="381000" cy="381000"/>
          </a:xfrm>
          <a:prstGeom xmlns:a="http://schemas.openxmlformats.org/drawingml/2006/main" prst="ellipse">
            <a:avLst/>
          </a:prstGeom>
          <a:solidFill xmlns:a="http://schemas.openxmlformats.org/drawingml/2006/main">
            <a:srgbClr val="FFFFFF"/>
          </a:solidFill>
          <a:ln xmlns:a="http://schemas.openxmlformats.org/drawingml/2006/main" w="19050">
            <a:solidFill>
              <a:srgbClr val="D74646"/>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74646"/>
                </a:solidFill>
                <a:latin typeface="Helvetica Neue"/>
                <a:ea typeface="Helvetica Neue"/>
                <a:cs typeface="Helvetica Neue"/>
              </a:defRPr>
            </a:pPr>
            <a:r>
              <a:rPr sz="1275" b="1">
                <a:solidFill>
                  <a:srgbClr val="D74646"/>
                </a:solidFill>
                <a:latin typeface="Helvetica Neue"/>
                <a:ea typeface="Helvetica Neue"/>
                <a:cs typeface="Helvetica Neue"/>
              </a:rPr>
              <a:t>1</a:t>
            </a:r>
          </a:p>
        </p:txBody>
      </p:sp>
      <p:sp>
        <p:nvSpPr>
          <p:cNvPr id="11" name="attack-label-1">
            <a:extLst xmlns:a="http://schemas.openxmlformats.org/drawingml/2006/main">
              <a:ext uri="{FF2B5EF4-FFF2-40B4-BE49-F238E27FC236}">
                <a16:creationId xmlns:a16="http://schemas.microsoft.com/office/drawing/2014/main" id="{1E147847-64E0-482E-8A92-A33CE08F923F}"/>
              </a:ext>
            </a:extLst>
          </p:cNvPr>
          <p:cNvSpPr>
            <a:spLocks xmlns:a="http://schemas.openxmlformats.org/drawingml/2006/main" noGrp="1"/>
          </p:cNvSpPr>
          <p:nvPr/>
        </p:nvSpPr>
        <p:spPr>
          <a:xfrm xmlns:a="http://schemas.openxmlformats.org/drawingml/2006/main">
            <a:off x="590550" y="19812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Riya’s usual</a:t>
            </a:r>
          </a:p>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behavior</a:t>
            </a:r>
          </a:p>
        </p:txBody>
      </p:sp>
      <p:sp>
        <p:nvSpPr>
          <p:cNvPr id="12" name="attack-node-2">
            <a:extLst xmlns:a="http://schemas.openxmlformats.org/drawingml/2006/main">
              <a:ext uri="{FF2B5EF4-FFF2-40B4-BE49-F238E27FC236}">
                <a16:creationId xmlns:a16="http://schemas.microsoft.com/office/drawing/2014/main" id="{2F5EAFDB-7474-4CE8-8C52-A320DBF85808}"/>
              </a:ext>
            </a:extLst>
          </p:cNvPr>
          <p:cNvSpPr>
            <a:spLocks xmlns:a="http://schemas.openxmlformats.org/drawingml/2006/main" noGrp="1"/>
          </p:cNvSpPr>
          <p:nvPr/>
        </p:nvSpPr>
        <p:spPr>
          <a:xfrm xmlns:a="http://schemas.openxmlformats.org/drawingml/2006/main">
            <a:off x="2990850" y="1543050"/>
            <a:ext cx="381000" cy="381000"/>
          </a:xfrm>
          <a:prstGeom xmlns:a="http://schemas.openxmlformats.org/drawingml/2006/main" prst="ellipse">
            <a:avLst/>
          </a:prstGeom>
          <a:solidFill xmlns:a="http://schemas.openxmlformats.org/drawingml/2006/main">
            <a:srgbClr val="FBECEC"/>
          </a:solidFill>
          <a:ln xmlns:a="http://schemas.openxmlformats.org/drawingml/2006/main" w="19050">
            <a:solidFill>
              <a:srgbClr val="D74646"/>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74646"/>
                </a:solidFill>
                <a:latin typeface="Helvetica Neue"/>
                <a:ea typeface="Helvetica Neue"/>
                <a:cs typeface="Helvetica Neue"/>
              </a:defRPr>
            </a:pPr>
            <a:r>
              <a:rPr sz="1275" b="1">
                <a:solidFill>
                  <a:srgbClr val="D74646"/>
                </a:solidFill>
                <a:latin typeface="Helvetica Neue"/>
                <a:ea typeface="Helvetica Neue"/>
                <a:cs typeface="Helvetica Neue"/>
              </a:rPr>
              <a:t>2</a:t>
            </a:r>
          </a:p>
        </p:txBody>
      </p:sp>
      <p:sp>
        <p:nvSpPr>
          <p:cNvPr id="13" name="attack-label-2">
            <a:extLst xmlns:a="http://schemas.openxmlformats.org/drawingml/2006/main">
              <a:ext uri="{FF2B5EF4-FFF2-40B4-BE49-F238E27FC236}">
                <a16:creationId xmlns:a16="http://schemas.microsoft.com/office/drawing/2014/main" id="{ECB4A1FB-C7DF-4357-94C7-E10F6DFF8797}"/>
              </a:ext>
            </a:extLst>
          </p:cNvPr>
          <p:cNvSpPr>
            <a:spLocks xmlns:a="http://schemas.openxmlformats.org/drawingml/2006/main" noGrp="1"/>
          </p:cNvSpPr>
          <p:nvPr/>
        </p:nvSpPr>
        <p:spPr>
          <a:xfrm xmlns:a="http://schemas.openxmlformats.org/drawingml/2006/main">
            <a:off x="2743200" y="19812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Unfamiliar device +</a:t>
            </a:r>
          </a:p>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account changes</a:t>
            </a:r>
          </a:p>
        </p:txBody>
      </p:sp>
      <p:sp>
        <p:nvSpPr>
          <p:cNvPr id="14" name="attack-node-3">
            <a:extLst xmlns:a="http://schemas.openxmlformats.org/drawingml/2006/main">
              <a:ext uri="{FF2B5EF4-FFF2-40B4-BE49-F238E27FC236}">
                <a16:creationId xmlns:a16="http://schemas.microsoft.com/office/drawing/2014/main" id="{E3BDD937-A15C-402A-A4B4-9CF973733536}"/>
              </a:ext>
            </a:extLst>
          </p:cNvPr>
          <p:cNvSpPr>
            <a:spLocks xmlns:a="http://schemas.openxmlformats.org/drawingml/2006/main" noGrp="1"/>
          </p:cNvSpPr>
          <p:nvPr/>
        </p:nvSpPr>
        <p:spPr>
          <a:xfrm xmlns:a="http://schemas.openxmlformats.org/drawingml/2006/main">
            <a:off x="5153025" y="1543050"/>
            <a:ext cx="381000" cy="381000"/>
          </a:xfrm>
          <a:prstGeom xmlns:a="http://schemas.openxmlformats.org/drawingml/2006/main" prst="ellipse">
            <a:avLst/>
          </a:prstGeom>
          <a:solidFill xmlns:a="http://schemas.openxmlformats.org/drawingml/2006/main">
            <a:srgbClr val="FBECEC"/>
          </a:solidFill>
          <a:ln xmlns:a="http://schemas.openxmlformats.org/drawingml/2006/main" w="19050">
            <a:solidFill>
              <a:srgbClr val="D74646"/>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74646"/>
                </a:solidFill>
                <a:latin typeface="Helvetica Neue"/>
                <a:ea typeface="Helvetica Neue"/>
                <a:cs typeface="Helvetica Neue"/>
              </a:defRPr>
            </a:pPr>
            <a:r>
              <a:rPr sz="1275" b="1">
                <a:solidFill>
                  <a:srgbClr val="D74646"/>
                </a:solidFill>
                <a:latin typeface="Helvetica Neue"/>
                <a:ea typeface="Helvetica Neue"/>
                <a:cs typeface="Helvetica Neue"/>
              </a:rPr>
              <a:t>3</a:t>
            </a:r>
          </a:p>
        </p:txBody>
      </p:sp>
      <p:sp>
        <p:nvSpPr>
          <p:cNvPr id="15" name="attack-label-3">
            <a:extLst xmlns:a="http://schemas.openxmlformats.org/drawingml/2006/main">
              <a:ext uri="{FF2B5EF4-FFF2-40B4-BE49-F238E27FC236}">
                <a16:creationId xmlns:a16="http://schemas.microsoft.com/office/drawing/2014/main" id="{F0FEBF6C-F265-4CD2-8024-25ABA0CFB4EF}"/>
              </a:ext>
            </a:extLst>
          </p:cNvPr>
          <p:cNvSpPr>
            <a:spLocks xmlns:a="http://schemas.openxmlformats.org/drawingml/2006/main" noGrp="1"/>
          </p:cNvSpPr>
          <p:nvPr/>
        </p:nvSpPr>
        <p:spPr>
          <a:xfrm xmlns:a="http://schemas.openxmlformats.org/drawingml/2006/main">
            <a:off x="4905375" y="19812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New beneficiary +</a:t>
            </a:r>
          </a:p>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test transfer</a:t>
            </a:r>
          </a:p>
        </p:txBody>
      </p:sp>
      <p:sp>
        <p:nvSpPr>
          <p:cNvPr id="16" name="attack-node-4">
            <a:extLst xmlns:a="http://schemas.openxmlformats.org/drawingml/2006/main">
              <a:ext uri="{FF2B5EF4-FFF2-40B4-BE49-F238E27FC236}">
                <a16:creationId xmlns:a16="http://schemas.microsoft.com/office/drawing/2014/main" id="{414BA586-C6C5-4C0E-B3D1-216DCC5768EA}"/>
              </a:ext>
            </a:extLst>
          </p:cNvPr>
          <p:cNvSpPr>
            <a:spLocks xmlns:a="http://schemas.openxmlformats.org/drawingml/2006/main" noGrp="1"/>
          </p:cNvSpPr>
          <p:nvPr/>
        </p:nvSpPr>
        <p:spPr>
          <a:xfrm xmlns:a="http://schemas.openxmlformats.org/drawingml/2006/main">
            <a:off x="7315200" y="1543050"/>
            <a:ext cx="381000" cy="381000"/>
          </a:xfrm>
          <a:prstGeom xmlns:a="http://schemas.openxmlformats.org/drawingml/2006/main" prst="ellipse">
            <a:avLst/>
          </a:prstGeom>
          <a:solidFill xmlns:a="http://schemas.openxmlformats.org/drawingml/2006/main">
            <a:srgbClr val="FBECEC"/>
          </a:solidFill>
          <a:ln xmlns:a="http://schemas.openxmlformats.org/drawingml/2006/main" w="19050">
            <a:solidFill>
              <a:srgbClr val="D74646"/>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74646"/>
                </a:solidFill>
                <a:latin typeface="Helvetica Neue"/>
                <a:ea typeface="Helvetica Neue"/>
                <a:cs typeface="Helvetica Neue"/>
              </a:defRPr>
            </a:pPr>
            <a:r>
              <a:rPr sz="1275" b="1">
                <a:solidFill>
                  <a:srgbClr val="D74646"/>
                </a:solidFill>
                <a:latin typeface="Helvetica Neue"/>
                <a:ea typeface="Helvetica Neue"/>
                <a:cs typeface="Helvetica Neue"/>
              </a:rPr>
              <a:t>4</a:t>
            </a:r>
          </a:p>
        </p:txBody>
      </p:sp>
      <p:sp>
        <p:nvSpPr>
          <p:cNvPr id="17" name="attack-label-4">
            <a:extLst xmlns:a="http://schemas.openxmlformats.org/drawingml/2006/main">
              <a:ext uri="{FF2B5EF4-FFF2-40B4-BE49-F238E27FC236}">
                <a16:creationId xmlns:a16="http://schemas.microsoft.com/office/drawing/2014/main" id="{784C5021-9A88-418A-916A-4059EE1C67D7}"/>
              </a:ext>
            </a:extLst>
          </p:cNvPr>
          <p:cNvSpPr>
            <a:spLocks xmlns:a="http://schemas.openxmlformats.org/drawingml/2006/main" noGrp="1"/>
          </p:cNvSpPr>
          <p:nvPr/>
        </p:nvSpPr>
        <p:spPr>
          <a:xfrm xmlns:a="http://schemas.openxmlformats.org/drawingml/2006/main">
            <a:off x="7067550" y="19812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0A1728"/>
                </a:solidFill>
                <a:latin typeface="Helvetica Neue"/>
                <a:ea typeface="Helvetica Neue"/>
                <a:cs typeface="Helvetica Neue"/>
              </a:defRPr>
            </a:pPr>
            <a:r>
              <a:rPr sz="1125" b="1">
                <a:solidFill>
                  <a:srgbClr val="0A1728"/>
                </a:solidFill>
                <a:latin typeface="Helvetica Neue"/>
                <a:ea typeface="Helvetica Neue"/>
                <a:cs typeface="Helvetica Neue"/>
              </a:rPr>
              <a:t>Large payment</a:t>
            </a:r>
          </a:p>
          <a:p xmlns:a="http://schemas.openxmlformats.org/drawingml/2006/main">
            <a:pPr algn="l">
              <a:defRPr sz="1125" b="1">
                <a:solidFill>
                  <a:srgbClr val="0A1728"/>
                </a:solidFill>
                <a:latin typeface="Helvetica Neue"/>
                <a:ea typeface="Helvetica Neue"/>
                <a:cs typeface="Helvetica Neue"/>
              </a:defRPr>
            </a:pPr>
            <a:r>
              <a:rPr sz="1125" b="1">
                <a:solidFill>
                  <a:srgbClr val="0A1728"/>
                </a:solidFill>
                <a:latin typeface="Helvetica Neue"/>
                <a:ea typeface="Helvetica Neue"/>
                <a:cs typeface="Helvetica Neue"/>
              </a:rPr>
              <a:t>INITIATED</a:t>
            </a:r>
          </a:p>
        </p:txBody>
      </p:sp>
      <p:sp>
        <p:nvSpPr>
          <p:cNvPr id="18" name="attack-node-5">
            <a:extLst xmlns:a="http://schemas.openxmlformats.org/drawingml/2006/main">
              <a:ext uri="{FF2B5EF4-FFF2-40B4-BE49-F238E27FC236}">
                <a16:creationId xmlns:a16="http://schemas.microsoft.com/office/drawing/2014/main" id="{067EED81-94B1-42F6-A8BD-CB0837450622}"/>
              </a:ext>
            </a:extLst>
          </p:cNvPr>
          <p:cNvSpPr>
            <a:spLocks xmlns:a="http://schemas.openxmlformats.org/drawingml/2006/main" noGrp="1"/>
          </p:cNvSpPr>
          <p:nvPr/>
        </p:nvSpPr>
        <p:spPr>
          <a:xfrm xmlns:a="http://schemas.openxmlformats.org/drawingml/2006/main">
            <a:off x="9477375" y="1543050"/>
            <a:ext cx="381000" cy="381000"/>
          </a:xfrm>
          <a:prstGeom xmlns:a="http://schemas.openxmlformats.org/drawingml/2006/main" prst="ellipse">
            <a:avLst/>
          </a:prstGeom>
          <a:solidFill xmlns:a="http://schemas.openxmlformats.org/drawingml/2006/main">
            <a:srgbClr val="FBECEC"/>
          </a:solidFill>
          <a:ln xmlns:a="http://schemas.openxmlformats.org/drawingml/2006/main" w="19050">
            <a:solidFill>
              <a:srgbClr val="D74646"/>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74646"/>
                </a:solidFill>
                <a:latin typeface="Helvetica Neue"/>
                <a:ea typeface="Helvetica Neue"/>
                <a:cs typeface="Helvetica Neue"/>
              </a:defRPr>
            </a:pPr>
            <a:r>
              <a:rPr sz="1275" b="1">
                <a:solidFill>
                  <a:srgbClr val="D74646"/>
                </a:solidFill>
                <a:latin typeface="Helvetica Neue"/>
                <a:ea typeface="Helvetica Neue"/>
                <a:cs typeface="Helvetica Neue"/>
              </a:rPr>
              <a:t>5</a:t>
            </a:r>
          </a:p>
        </p:txBody>
      </p:sp>
      <p:sp>
        <p:nvSpPr>
          <p:cNvPr id="19" name="attack-label-5">
            <a:extLst xmlns:a="http://schemas.openxmlformats.org/drawingml/2006/main">
              <a:ext uri="{FF2B5EF4-FFF2-40B4-BE49-F238E27FC236}">
                <a16:creationId xmlns:a16="http://schemas.microsoft.com/office/drawing/2014/main" id="{8F07EA1F-7EFF-414A-85C5-20F3E0E2C29A}"/>
              </a:ext>
            </a:extLst>
          </p:cNvPr>
          <p:cNvSpPr>
            <a:spLocks xmlns:a="http://schemas.openxmlformats.org/drawingml/2006/main" noGrp="1"/>
          </p:cNvSpPr>
          <p:nvPr/>
        </p:nvSpPr>
        <p:spPr>
          <a:xfrm xmlns:a="http://schemas.openxmlformats.org/drawingml/2006/main">
            <a:off x="9229725" y="1981200"/>
            <a:ext cx="148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Funds move toward</a:t>
            </a:r>
          </a:p>
          <a:p xmlns:a="http://schemas.openxmlformats.org/drawingml/2006/main">
            <a:pPr algn="l">
              <a:defRPr sz="1125" b="0">
                <a:solidFill>
                  <a:srgbClr val="0A1728"/>
                </a:solidFill>
                <a:latin typeface="Helvetica Neue"/>
                <a:ea typeface="Helvetica Neue"/>
                <a:cs typeface="Helvetica Neue"/>
              </a:defRPr>
            </a:pPr>
            <a:r>
              <a:rPr sz="1125" b="0">
                <a:solidFill>
                  <a:srgbClr val="0A1728"/>
                </a:solidFill>
                <a:latin typeface="Helvetica Neue"/>
                <a:ea typeface="Helvetica Neue"/>
                <a:cs typeface="Helvetica Neue"/>
              </a:rPr>
              <a:t>mule network</a:t>
            </a:r>
          </a:p>
        </p:txBody>
      </p:sp>
      <p:sp>
        <p:nvSpPr>
          <p:cNvPr id="20" name="before-panel">
            <a:extLst xmlns:a="http://schemas.openxmlformats.org/drawingml/2006/main">
              <a:ext uri="{FF2B5EF4-FFF2-40B4-BE49-F238E27FC236}">
                <a16:creationId xmlns:a16="http://schemas.microsoft.com/office/drawing/2014/main" id="{A0174E0E-D5D6-426B-9201-189B50511893}"/>
              </a:ext>
            </a:extLst>
          </p:cNvPr>
          <p:cNvSpPr>
            <a:spLocks xmlns:a="http://schemas.openxmlformats.org/drawingml/2006/main" noGrp="1"/>
          </p:cNvSpPr>
          <p:nvPr/>
        </p:nvSpPr>
        <p:spPr>
          <a:xfrm xmlns:a="http://schemas.openxmlformats.org/drawingml/2006/main">
            <a:off x="457200" y="2705100"/>
            <a:ext cx="3562350" cy="2209800"/>
          </a:xfrm>
          <a:prstGeom xmlns:a="http://schemas.openxmlformats.org/drawingml/2006/main" prst="rect">
            <a:avLst/>
          </a:prstGeom>
          <a:solidFill xmlns:a="http://schemas.openxmlformats.org/drawingml/2006/main">
            <a:srgbClr val="F3F5F7"/>
          </a:solidFill>
          <a:ln xmlns:a="http://schemas.openxmlformats.org/drawingml/2006/main" w="9525">
            <a:solidFill>
              <a:srgbClr val="C8D0DA"/>
            </a:solidFill>
            <a:prstDash val="solid"/>
          </a:ln>
        </p:spPr>
      </p:sp>
      <p:sp>
        <p:nvSpPr>
          <p:cNvPr id="21" name="before-accent">
            <a:extLst xmlns:a="http://schemas.openxmlformats.org/drawingml/2006/main">
              <a:ext uri="{FF2B5EF4-FFF2-40B4-BE49-F238E27FC236}">
                <a16:creationId xmlns:a16="http://schemas.microsoft.com/office/drawing/2014/main" id="{8737DD35-D314-444E-A210-9761D25D6683}"/>
              </a:ext>
            </a:extLst>
          </p:cNvPr>
          <p:cNvSpPr>
            <a:spLocks xmlns:a="http://schemas.openxmlformats.org/drawingml/2006/main" noGrp="1"/>
          </p:cNvSpPr>
          <p:nvPr/>
        </p:nvSpPr>
        <p:spPr>
          <a:xfrm xmlns:a="http://schemas.openxmlformats.org/drawingml/2006/main">
            <a:off x="457200" y="2705100"/>
            <a:ext cx="3562350" cy="66675"/>
          </a:xfrm>
          <a:prstGeom xmlns:a="http://schemas.openxmlformats.org/drawingml/2006/main" prst="rect">
            <a:avLst/>
          </a:prstGeom>
          <a:solidFill xmlns:a="http://schemas.openxmlformats.org/drawingml/2006/main">
            <a:srgbClr val="16866B"/>
          </a:solidFill>
          <a:ln xmlns:a="http://schemas.openxmlformats.org/drawingml/2006/main" w="0">
            <a:noFill/>
            <a:prstDash val="solid"/>
          </a:ln>
        </p:spPr>
      </p:sp>
      <p:sp>
        <p:nvSpPr>
          <p:cNvPr id="22" name="before-eyebrow">
            <a:extLst xmlns:a="http://schemas.openxmlformats.org/drawingml/2006/main">
              <a:ext uri="{FF2B5EF4-FFF2-40B4-BE49-F238E27FC236}">
                <a16:creationId xmlns:a16="http://schemas.microsoft.com/office/drawing/2014/main" id="{C0C95D3B-4301-443C-9878-D4DDCBC7C03C}"/>
              </a:ext>
            </a:extLst>
          </p:cNvPr>
          <p:cNvSpPr>
            <a:spLocks xmlns:a="http://schemas.openxmlformats.org/drawingml/2006/main" noGrp="1"/>
          </p:cNvSpPr>
          <p:nvPr/>
        </p:nvSpPr>
        <p:spPr>
          <a:xfrm xmlns:a="http://schemas.openxmlformats.org/drawingml/2006/main">
            <a:off x="685800" y="2914650"/>
            <a:ext cx="3105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16866B"/>
                </a:solidFill>
                <a:latin typeface="Helvetica Neue"/>
                <a:ea typeface="Helvetica Neue"/>
                <a:cs typeface="Helvetica Neue"/>
              </a:defRPr>
            </a:pPr>
            <a:r>
              <a:rPr sz="1050" b="1">
                <a:solidFill>
                  <a:srgbClr val="16866B"/>
                </a:solidFill>
                <a:latin typeface="Helvetica Neue"/>
                <a:ea typeface="Helvetica Neue"/>
                <a:cs typeface="Helvetica Neue"/>
              </a:rPr>
              <a:t>01  ·  BEFORE PAYMENT</a:t>
            </a:r>
          </a:p>
        </p:txBody>
      </p:sp>
      <p:sp>
        <p:nvSpPr>
          <p:cNvPr id="23" name="before-title">
            <a:extLst xmlns:a="http://schemas.openxmlformats.org/drawingml/2006/main">
              <a:ext uri="{FF2B5EF4-FFF2-40B4-BE49-F238E27FC236}">
                <a16:creationId xmlns:a16="http://schemas.microsoft.com/office/drawing/2014/main" id="{B4013691-2BF5-4956-8D18-F2B290435110}"/>
              </a:ext>
            </a:extLst>
          </p:cNvPr>
          <p:cNvSpPr>
            <a:spLocks xmlns:a="http://schemas.openxmlformats.org/drawingml/2006/main" noGrp="1"/>
          </p:cNvSpPr>
          <p:nvPr/>
        </p:nvSpPr>
        <p:spPr>
          <a:xfrm xmlns:a="http://schemas.openxmlformats.org/drawingml/2006/main">
            <a:off x="685800" y="31527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l">
              <a:defRPr sz="2025" b="1">
                <a:solidFill>
                  <a:srgbClr val="0A1728"/>
                </a:solidFill>
                <a:latin typeface="Helvetica Neue"/>
                <a:ea typeface="Helvetica Neue"/>
                <a:cs typeface="Helvetica Neue"/>
              </a:defRPr>
            </a:pPr>
            <a:r>
              <a:rPr sz="2025" b="1">
                <a:solidFill>
                  <a:srgbClr val="0A1728"/>
                </a:solidFill>
                <a:latin typeface="Helvetica Neue"/>
                <a:ea typeface="Helvetica Neue"/>
                <a:cs typeface="Helvetica Neue"/>
              </a:rPr>
              <a:t>PREVENT</a:t>
            </a:r>
          </a:p>
        </p:txBody>
      </p:sp>
      <p:sp>
        <p:nvSpPr>
          <p:cNvPr id="24" name="before-signal">
            <a:extLst xmlns:a="http://schemas.openxmlformats.org/drawingml/2006/main">
              <a:ext uri="{FF2B5EF4-FFF2-40B4-BE49-F238E27FC236}">
                <a16:creationId xmlns:a16="http://schemas.microsoft.com/office/drawing/2014/main" id="{3055199C-D4CE-475E-BAD6-BEDE3124031A}"/>
              </a:ext>
            </a:extLst>
          </p:cNvPr>
          <p:cNvSpPr>
            <a:spLocks xmlns:a="http://schemas.openxmlformats.org/drawingml/2006/main" noGrp="1"/>
          </p:cNvSpPr>
          <p:nvPr/>
        </p:nvSpPr>
        <p:spPr>
          <a:xfrm xmlns:a="http://schemas.openxmlformats.org/drawingml/2006/main">
            <a:off x="685800" y="3590925"/>
            <a:ext cx="3105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173"/>
                </a:solidFill>
                <a:latin typeface="Helvetica Neue"/>
                <a:ea typeface="Helvetica Neue"/>
                <a:cs typeface="Helvetica Neue"/>
              </a:defRPr>
            </a:pPr>
            <a:r>
              <a:rPr sz="1275" b="0">
                <a:solidFill>
                  <a:srgbClr val="526173"/>
                </a:solidFill>
                <a:latin typeface="Helvetica Neue"/>
                <a:ea typeface="Helvetica Neue"/>
                <a:cs typeface="Helvetica Neue"/>
              </a:rPr>
              <a:t>New device, security changes, new beneficiary or risky recipient.</a:t>
            </a:r>
          </a:p>
        </p:txBody>
      </p:sp>
      <p:sp>
        <p:nvSpPr>
          <p:cNvPr id="25" name="before-rule">
            <a:extLst xmlns:a="http://schemas.openxmlformats.org/drawingml/2006/main">
              <a:ext uri="{FF2B5EF4-FFF2-40B4-BE49-F238E27FC236}">
                <a16:creationId xmlns:a16="http://schemas.microsoft.com/office/drawing/2014/main" id="{883AFA93-F440-42D3-A9D7-E609E354866F}"/>
              </a:ext>
            </a:extLst>
          </p:cNvPr>
          <p:cNvSpPr>
            <a:spLocks xmlns:a="http://schemas.openxmlformats.org/drawingml/2006/main" noGrp="1"/>
          </p:cNvSpPr>
          <p:nvPr/>
        </p:nvSpPr>
        <p:spPr>
          <a:xfrm xmlns:a="http://schemas.openxmlformats.org/drawingml/2006/main">
            <a:off x="685800" y="4210050"/>
            <a:ext cx="3105150" cy="9525"/>
          </a:xfrm>
          <a:prstGeom xmlns:a="http://schemas.openxmlformats.org/drawingml/2006/main" prst="rect">
            <a:avLst/>
          </a:prstGeom>
          <a:solidFill xmlns:a="http://schemas.openxmlformats.org/drawingml/2006/main">
            <a:srgbClr val="C8D0DA"/>
          </a:solidFill>
          <a:ln xmlns:a="http://schemas.openxmlformats.org/drawingml/2006/main" w="0">
            <a:noFill/>
            <a:prstDash val="solid"/>
          </a:ln>
        </p:spPr>
      </p:sp>
      <p:sp>
        <p:nvSpPr>
          <p:cNvPr id="26" name="before-action">
            <a:extLst xmlns:a="http://schemas.openxmlformats.org/drawingml/2006/main">
              <a:ext uri="{FF2B5EF4-FFF2-40B4-BE49-F238E27FC236}">
                <a16:creationId xmlns:a16="http://schemas.microsoft.com/office/drawing/2014/main" id="{0D8620D5-2D9F-4BF8-A102-A5269A729B09}"/>
              </a:ext>
            </a:extLst>
          </p:cNvPr>
          <p:cNvSpPr>
            <a:spLocks xmlns:a="http://schemas.openxmlformats.org/drawingml/2006/main" noGrp="1"/>
          </p:cNvSpPr>
          <p:nvPr/>
        </p:nvSpPr>
        <p:spPr>
          <a:xfrm xmlns:a="http://schemas.openxmlformats.org/drawingml/2006/main">
            <a:off x="685800" y="4333875"/>
            <a:ext cx="3105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79"/>
          </a:bodyPr>
          <a:lstStyle xmlns:a="http://schemas.openxmlformats.org/drawingml/2006/main"/>
          <a:p xmlns:a="http://schemas.openxmlformats.org/drawingml/2006/main">
            <a:pPr algn="l">
              <a:defRPr sz="1200" b="1">
                <a:solidFill>
                  <a:srgbClr val="16866B"/>
                </a:solidFill>
                <a:latin typeface="Helvetica Neue"/>
                <a:ea typeface="Helvetica Neue"/>
                <a:cs typeface="Helvetica Neue"/>
              </a:defRPr>
            </a:pPr>
            <a:r>
              <a:rPr sz="1200" b="1">
                <a:solidFill>
                  <a:srgbClr val="16866B"/>
                </a:solidFill>
                <a:latin typeface="Helvetica Neue"/>
                <a:ea typeface="Helvetica Neue"/>
                <a:cs typeface="Helvetica Neue"/>
              </a:rPr>
              <a:t>STEP-UP VERIFICATION  ·  COOLING PERIOD  ·  MONITOR</a:t>
            </a:r>
          </a:p>
        </p:txBody>
      </p:sp>
      <p:sp>
        <p:nvSpPr>
          <p:cNvPr id="27" name="during-panel">
            <a:extLst xmlns:a="http://schemas.openxmlformats.org/drawingml/2006/main">
              <a:ext uri="{FF2B5EF4-FFF2-40B4-BE49-F238E27FC236}">
                <a16:creationId xmlns:a16="http://schemas.microsoft.com/office/drawing/2014/main" id="{1380245F-9165-4801-8B96-355A957F683C}"/>
              </a:ext>
            </a:extLst>
          </p:cNvPr>
          <p:cNvSpPr>
            <a:spLocks xmlns:a="http://schemas.openxmlformats.org/drawingml/2006/main" noGrp="1"/>
          </p:cNvSpPr>
          <p:nvPr/>
        </p:nvSpPr>
        <p:spPr>
          <a:xfrm xmlns:a="http://schemas.openxmlformats.org/drawingml/2006/main">
            <a:off x="4314825" y="2705100"/>
            <a:ext cx="3562350" cy="2209800"/>
          </a:xfrm>
          <a:prstGeom xmlns:a="http://schemas.openxmlformats.org/drawingml/2006/main" prst="rect">
            <a:avLst/>
          </a:prstGeom>
          <a:solidFill xmlns:a="http://schemas.openxmlformats.org/drawingml/2006/main">
            <a:srgbClr val="EAF2FF"/>
          </a:solidFill>
          <a:ln xmlns:a="http://schemas.openxmlformats.org/drawingml/2006/main" w="9525">
            <a:solidFill>
              <a:srgbClr val="C8D0DA"/>
            </a:solidFill>
            <a:prstDash val="solid"/>
          </a:ln>
        </p:spPr>
      </p:sp>
      <p:sp>
        <p:nvSpPr>
          <p:cNvPr id="28" name="during-accent">
            <a:extLst xmlns:a="http://schemas.openxmlformats.org/drawingml/2006/main">
              <a:ext uri="{FF2B5EF4-FFF2-40B4-BE49-F238E27FC236}">
                <a16:creationId xmlns:a16="http://schemas.microsoft.com/office/drawing/2014/main" id="{6D9A177D-DD4B-46B5-91E4-511197FACAB6}"/>
              </a:ext>
            </a:extLst>
          </p:cNvPr>
          <p:cNvSpPr>
            <a:spLocks xmlns:a="http://schemas.openxmlformats.org/drawingml/2006/main" noGrp="1"/>
          </p:cNvSpPr>
          <p:nvPr/>
        </p:nvSpPr>
        <p:spPr>
          <a:xfrm xmlns:a="http://schemas.openxmlformats.org/drawingml/2006/main">
            <a:off x="4314825" y="2705100"/>
            <a:ext cx="3562350" cy="66675"/>
          </a:xfrm>
          <a:prstGeom xmlns:a="http://schemas.openxmlformats.org/drawingml/2006/main" prst="rect">
            <a:avLst/>
          </a:prstGeom>
          <a:solidFill xmlns:a="http://schemas.openxmlformats.org/drawingml/2006/main">
            <a:srgbClr val="2364D2"/>
          </a:solidFill>
          <a:ln xmlns:a="http://schemas.openxmlformats.org/drawingml/2006/main" w="0">
            <a:noFill/>
            <a:prstDash val="solid"/>
          </a:ln>
        </p:spPr>
      </p:sp>
      <p:sp>
        <p:nvSpPr>
          <p:cNvPr id="29" name="during-eyebrow">
            <a:extLst xmlns:a="http://schemas.openxmlformats.org/drawingml/2006/main">
              <a:ext uri="{FF2B5EF4-FFF2-40B4-BE49-F238E27FC236}">
                <a16:creationId xmlns:a16="http://schemas.microsoft.com/office/drawing/2014/main" id="{649D44A7-D334-4F46-9E53-942DF65606A6}"/>
              </a:ext>
            </a:extLst>
          </p:cNvPr>
          <p:cNvSpPr>
            <a:spLocks xmlns:a="http://schemas.openxmlformats.org/drawingml/2006/main" noGrp="1"/>
          </p:cNvSpPr>
          <p:nvPr/>
        </p:nvSpPr>
        <p:spPr>
          <a:xfrm xmlns:a="http://schemas.openxmlformats.org/drawingml/2006/main">
            <a:off x="4543425" y="2914650"/>
            <a:ext cx="3105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2364D2"/>
                </a:solidFill>
                <a:latin typeface="Helvetica Neue"/>
                <a:ea typeface="Helvetica Neue"/>
                <a:cs typeface="Helvetica Neue"/>
              </a:defRPr>
            </a:pPr>
            <a:r>
              <a:rPr sz="1050" b="1">
                <a:solidFill>
                  <a:srgbClr val="2364D2"/>
                </a:solidFill>
                <a:latin typeface="Helvetica Neue"/>
                <a:ea typeface="Helvetica Neue"/>
                <a:cs typeface="Helvetica Neue"/>
              </a:rPr>
              <a:t>02  ·  DURING AUTHORIZATION</a:t>
            </a:r>
          </a:p>
        </p:txBody>
      </p:sp>
      <p:sp>
        <p:nvSpPr>
          <p:cNvPr id="30" name="during-title">
            <a:extLst xmlns:a="http://schemas.openxmlformats.org/drawingml/2006/main">
              <a:ext uri="{FF2B5EF4-FFF2-40B4-BE49-F238E27FC236}">
                <a16:creationId xmlns:a16="http://schemas.microsoft.com/office/drawing/2014/main" id="{F6EB49FE-34A8-45D9-B8BE-ECF09B5E3BE4}"/>
              </a:ext>
            </a:extLst>
          </p:cNvPr>
          <p:cNvSpPr>
            <a:spLocks xmlns:a="http://schemas.openxmlformats.org/drawingml/2006/main" noGrp="1"/>
          </p:cNvSpPr>
          <p:nvPr/>
        </p:nvSpPr>
        <p:spPr>
          <a:xfrm xmlns:a="http://schemas.openxmlformats.org/drawingml/2006/main">
            <a:off x="4543425" y="31527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l">
              <a:defRPr sz="2025" b="1">
                <a:solidFill>
                  <a:srgbClr val="0A1728"/>
                </a:solidFill>
                <a:latin typeface="Helvetica Neue"/>
                <a:ea typeface="Helvetica Neue"/>
                <a:cs typeface="Helvetica Neue"/>
              </a:defRPr>
            </a:pPr>
            <a:r>
              <a:rPr sz="2025" b="1">
                <a:solidFill>
                  <a:srgbClr val="0A1728"/>
                </a:solidFill>
                <a:latin typeface="Helvetica Neue"/>
                <a:ea typeface="Helvetica Neue"/>
                <a:cs typeface="Helvetica Neue"/>
              </a:rPr>
              <a:t>DECIDE</a:t>
            </a:r>
          </a:p>
        </p:txBody>
      </p:sp>
      <p:sp>
        <p:nvSpPr>
          <p:cNvPr id="31" name="during-signal">
            <a:extLst xmlns:a="http://schemas.openxmlformats.org/drawingml/2006/main">
              <a:ext uri="{FF2B5EF4-FFF2-40B4-BE49-F238E27FC236}">
                <a16:creationId xmlns:a16="http://schemas.microsoft.com/office/drawing/2014/main" id="{657F4C3E-EFFC-4E0B-B8D2-AC1688370DCB}"/>
              </a:ext>
            </a:extLst>
          </p:cNvPr>
          <p:cNvSpPr>
            <a:spLocks xmlns:a="http://schemas.openxmlformats.org/drawingml/2006/main" noGrp="1"/>
          </p:cNvSpPr>
          <p:nvPr/>
        </p:nvSpPr>
        <p:spPr>
          <a:xfrm xmlns:a="http://schemas.openxmlformats.org/drawingml/2006/main">
            <a:off x="4543425" y="3590925"/>
            <a:ext cx="3105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26173"/>
                </a:solidFill>
                <a:latin typeface="Helvetica Neue"/>
                <a:ea typeface="Helvetica Neue"/>
                <a:cs typeface="Helvetica Neue"/>
              </a:defRPr>
            </a:pPr>
            <a:r>
              <a:rPr sz="1275" b="0">
                <a:solidFill>
                  <a:srgbClr val="526173"/>
                </a:solidFill>
                <a:latin typeface="Helvetica Neue"/>
                <a:ea typeface="Helvetica Neue"/>
                <a:cs typeface="Helvetica Neue"/>
              </a:rPr>
              <a:t>Transaction is INITIATED; score risk and explain the evidence inline.</a:t>
            </a:r>
          </a:p>
        </p:txBody>
      </p:sp>
      <p:sp>
        <p:nvSpPr>
          <p:cNvPr id="32" name="during-rule">
            <a:extLst xmlns:a="http://schemas.openxmlformats.org/drawingml/2006/main">
              <a:ext uri="{FF2B5EF4-FFF2-40B4-BE49-F238E27FC236}">
                <a16:creationId xmlns:a16="http://schemas.microsoft.com/office/drawing/2014/main" id="{6CA5104A-090A-4081-B946-5697B69E908D}"/>
              </a:ext>
            </a:extLst>
          </p:cNvPr>
          <p:cNvSpPr>
            <a:spLocks xmlns:a="http://schemas.openxmlformats.org/drawingml/2006/main" noGrp="1"/>
          </p:cNvSpPr>
          <p:nvPr/>
        </p:nvSpPr>
        <p:spPr>
          <a:xfrm xmlns:a="http://schemas.openxmlformats.org/drawingml/2006/main">
            <a:off x="4543425" y="4210050"/>
            <a:ext cx="3105150" cy="9525"/>
          </a:xfrm>
          <a:prstGeom xmlns:a="http://schemas.openxmlformats.org/drawingml/2006/main" prst="rect">
            <a:avLst/>
          </a:prstGeom>
          <a:solidFill xmlns:a="http://schemas.openxmlformats.org/drawingml/2006/main">
            <a:srgbClr val="C8D0DA"/>
          </a:solidFill>
          <a:ln xmlns:a="http://schemas.openxmlformats.org/drawingml/2006/main" w="0">
            <a:noFill/>
            <a:prstDash val="solid"/>
          </a:ln>
        </p:spPr>
      </p:sp>
      <p:sp>
        <p:nvSpPr>
          <p:cNvPr id="33" name="during-action">
            <a:extLst xmlns:a="http://schemas.openxmlformats.org/drawingml/2006/main">
              <a:ext uri="{FF2B5EF4-FFF2-40B4-BE49-F238E27FC236}">
                <a16:creationId xmlns:a16="http://schemas.microsoft.com/office/drawing/2014/main" id="{04AF5EDE-00AA-4D82-B820-56424184E679}"/>
              </a:ext>
            </a:extLst>
          </p:cNvPr>
          <p:cNvSpPr>
            <a:spLocks xmlns:a="http://schemas.openxmlformats.org/drawingml/2006/main" noGrp="1"/>
          </p:cNvSpPr>
          <p:nvPr/>
        </p:nvSpPr>
        <p:spPr>
          <a:xfrm xmlns:a="http://schemas.openxmlformats.org/drawingml/2006/main">
            <a:off x="4543425" y="4333875"/>
            <a:ext cx="3105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79"/>
          </a:bodyPr>
          <a:lstStyle xmlns:a="http://schemas.openxmlformats.org/drawingml/2006/main"/>
          <a:p xmlns:a="http://schemas.openxmlformats.org/drawingml/2006/main">
            <a:pPr algn="l">
              <a:defRPr sz="1200" b="1">
                <a:solidFill>
                  <a:srgbClr val="0B397C"/>
                </a:solidFill>
                <a:latin typeface="Helvetica Neue"/>
                <a:ea typeface="Helvetica Neue"/>
                <a:cs typeface="Helvetica Neue"/>
              </a:defRPr>
            </a:pPr>
            <a:r>
              <a:rPr sz="1200" b="1">
                <a:solidFill>
                  <a:srgbClr val="0B397C"/>
                </a:solidFill>
                <a:latin typeface="Helvetica Neue"/>
                <a:ea typeface="Helvetica Neue"/>
                <a:cs typeface="Helvetica Neue"/>
              </a:rPr>
              <a:t>ALLOW  ·  CHALLENGE  ·  HOLD  ·  DECLINE  ·  REVIEW</a:t>
            </a:r>
          </a:p>
        </p:txBody>
      </p:sp>
      <p:sp>
        <p:nvSpPr>
          <p:cNvPr id="34" name="after-panel">
            <a:extLst xmlns:a="http://schemas.openxmlformats.org/drawingml/2006/main">
              <a:ext uri="{FF2B5EF4-FFF2-40B4-BE49-F238E27FC236}">
                <a16:creationId xmlns:a16="http://schemas.microsoft.com/office/drawing/2014/main" id="{A314CD50-CED1-4D1D-B111-6CF8B0EBF085}"/>
              </a:ext>
            </a:extLst>
          </p:cNvPr>
          <p:cNvSpPr>
            <a:spLocks xmlns:a="http://schemas.openxmlformats.org/drawingml/2006/main" noGrp="1"/>
          </p:cNvSpPr>
          <p:nvPr/>
        </p:nvSpPr>
        <p:spPr>
          <a:xfrm xmlns:a="http://schemas.openxmlformats.org/drawingml/2006/main">
            <a:off x="8172450" y="2705100"/>
            <a:ext cx="3562350" cy="2209800"/>
          </a:xfrm>
          <a:prstGeom xmlns:a="http://schemas.openxmlformats.org/drawingml/2006/main" prst="rect">
            <a:avLst/>
          </a:prstGeom>
          <a:solidFill xmlns:a="http://schemas.openxmlformats.org/drawingml/2006/main">
            <a:srgbClr val="F3F5F7"/>
          </a:solidFill>
          <a:ln xmlns:a="http://schemas.openxmlformats.org/drawingml/2006/main" w="9525">
            <a:solidFill>
              <a:srgbClr val="C8D0DA"/>
            </a:solidFill>
            <a:prstDash val="solid"/>
          </a:ln>
        </p:spPr>
      </p:sp>
      <p:sp>
        <p:nvSpPr>
          <p:cNvPr id="35" name="after-accent">
            <a:extLst xmlns:a="http://schemas.openxmlformats.org/drawingml/2006/main">
              <a:ext uri="{FF2B5EF4-FFF2-40B4-BE49-F238E27FC236}">
                <a16:creationId xmlns:a16="http://schemas.microsoft.com/office/drawing/2014/main" id="{C69135A6-6EC5-43CD-A58E-20D09E736D59}"/>
              </a:ext>
            </a:extLst>
          </p:cNvPr>
          <p:cNvSpPr>
            <a:spLocks xmlns:a="http://schemas.openxmlformats.org/drawingml/2006/main" noGrp="1"/>
          </p:cNvSpPr>
          <p:nvPr/>
        </p:nvSpPr>
        <p:spPr>
          <a:xfrm xmlns:a="http://schemas.openxmlformats.org/drawingml/2006/main">
            <a:off x="8172450" y="2705100"/>
            <a:ext cx="3562350" cy="66675"/>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36" name="after-eyebrow">
            <a:extLst xmlns:a="http://schemas.openxmlformats.org/drawingml/2006/main">
              <a:ext uri="{FF2B5EF4-FFF2-40B4-BE49-F238E27FC236}">
                <a16:creationId xmlns:a16="http://schemas.microsoft.com/office/drawing/2014/main" id="{CD2FEBAD-56DE-407D-B34B-AA9B42656DA0}"/>
              </a:ext>
            </a:extLst>
          </p:cNvPr>
          <p:cNvSpPr>
            <a:spLocks xmlns:a="http://schemas.openxmlformats.org/drawingml/2006/main" noGrp="1"/>
          </p:cNvSpPr>
          <p:nvPr/>
        </p:nvSpPr>
        <p:spPr>
          <a:xfrm xmlns:a="http://schemas.openxmlformats.org/drawingml/2006/main">
            <a:off x="8401050" y="2914650"/>
            <a:ext cx="3105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a:solidFill>
                  <a:srgbClr val="0B1F33"/>
                </a:solidFill>
                <a:latin typeface="Helvetica Neue"/>
                <a:ea typeface="Helvetica Neue"/>
                <a:cs typeface="Helvetica Neue"/>
              </a:defRPr>
            </a:pPr>
            <a:r>
              <a:rPr sz="1050" b="1">
                <a:solidFill>
                  <a:srgbClr val="0B1F33"/>
                </a:solidFill>
                <a:latin typeface="Helvetica Neue"/>
                <a:ea typeface="Helvetica Neue"/>
                <a:cs typeface="Helvetica Neue"/>
              </a:rPr>
              <a:t>03  ·  AFTER / NEAR REAL TIME</a:t>
            </a:r>
          </a:p>
        </p:txBody>
      </p:sp>
      <p:sp>
        <p:nvSpPr>
          <p:cNvPr id="37" name="after-title">
            <a:extLst xmlns:a="http://schemas.openxmlformats.org/drawingml/2006/main">
              <a:ext uri="{FF2B5EF4-FFF2-40B4-BE49-F238E27FC236}">
                <a16:creationId xmlns:a16="http://schemas.microsoft.com/office/drawing/2014/main" id="{6CC66594-49A0-4607-95E7-7B943188AA8B}"/>
              </a:ext>
            </a:extLst>
          </p:cNvPr>
          <p:cNvSpPr>
            <a:spLocks xmlns:a="http://schemas.openxmlformats.org/drawingml/2006/main" noGrp="1"/>
          </p:cNvSpPr>
          <p:nvPr/>
        </p:nvSpPr>
        <p:spPr>
          <a:xfrm xmlns:a="http://schemas.openxmlformats.org/drawingml/2006/main">
            <a:off x="8401050" y="31527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l">
              <a:defRPr sz="2025" b="1">
                <a:solidFill>
                  <a:srgbClr val="0A1728"/>
                </a:solidFill>
                <a:latin typeface="Helvetica Neue"/>
                <a:ea typeface="Helvetica Neue"/>
                <a:cs typeface="Helvetica Neue"/>
              </a:defRPr>
            </a:pPr>
            <a:r>
              <a:rPr sz="2025" b="1">
                <a:solidFill>
                  <a:srgbClr val="0A1728"/>
                </a:solidFill>
                <a:latin typeface="Helvetica Neue"/>
                <a:ea typeface="Helvetica Neue"/>
                <a:cs typeface="Helvetica Neue"/>
              </a:rPr>
              <a:t>CONTAIN</a:t>
            </a:r>
          </a:p>
        </p:txBody>
      </p:sp>
      <p:sp>
        <p:nvSpPr>
          <p:cNvPr id="38" name="after-signal">
            <a:extLst xmlns:a="http://schemas.openxmlformats.org/drawingml/2006/main">
              <a:ext uri="{FF2B5EF4-FFF2-40B4-BE49-F238E27FC236}">
                <a16:creationId xmlns:a16="http://schemas.microsoft.com/office/drawing/2014/main" id="{2C7464A8-18B5-49BF-B4FC-4A940C1310E2}"/>
              </a:ext>
            </a:extLst>
          </p:cNvPr>
          <p:cNvSpPr>
            <a:spLocks xmlns:a="http://schemas.openxmlformats.org/drawingml/2006/main" noGrp="1"/>
          </p:cNvSpPr>
          <p:nvPr/>
        </p:nvSpPr>
        <p:spPr>
          <a:xfrm xmlns:a="http://schemas.openxmlformats.org/drawingml/2006/main">
            <a:off x="8401050" y="3590925"/>
            <a:ext cx="3105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015"/>
          </a:bodyPr>
          <a:lstStyle xmlns:a="http://schemas.openxmlformats.org/drawingml/2006/main"/>
          <a:p xmlns:a="http://schemas.openxmlformats.org/drawingml/2006/main">
            <a:pPr algn="l">
              <a:defRPr sz="1275" b="0">
                <a:solidFill>
                  <a:srgbClr val="526173"/>
                </a:solidFill>
                <a:latin typeface="Helvetica Neue"/>
                <a:ea typeface="Helvetica Neue"/>
                <a:cs typeface="Helvetica Neue"/>
              </a:defRPr>
            </a:pPr>
            <a:r>
              <a:rPr sz="1275" b="0">
                <a:solidFill>
                  <a:srgbClr val="526173"/>
                </a:solidFill>
                <a:latin typeface="Helvetica Neue"/>
                <a:ea typeface="Helvetica Neue"/>
                <a:cs typeface="Helvetica Neue"/>
              </a:rPr>
              <a:t>Graph signals reveal linked devices, beneficiaries and repeated mule behavior.</a:t>
            </a:r>
          </a:p>
        </p:txBody>
      </p:sp>
      <p:sp>
        <p:nvSpPr>
          <p:cNvPr id="39" name="after-rule">
            <a:extLst xmlns:a="http://schemas.openxmlformats.org/drawingml/2006/main">
              <a:ext uri="{FF2B5EF4-FFF2-40B4-BE49-F238E27FC236}">
                <a16:creationId xmlns:a16="http://schemas.microsoft.com/office/drawing/2014/main" id="{DC4483DD-70B5-4CB2-8C7F-443D285B8B5D}"/>
              </a:ext>
            </a:extLst>
          </p:cNvPr>
          <p:cNvSpPr>
            <a:spLocks xmlns:a="http://schemas.openxmlformats.org/drawingml/2006/main" noGrp="1"/>
          </p:cNvSpPr>
          <p:nvPr/>
        </p:nvSpPr>
        <p:spPr>
          <a:xfrm xmlns:a="http://schemas.openxmlformats.org/drawingml/2006/main">
            <a:off x="8401050" y="4210050"/>
            <a:ext cx="3105150" cy="9525"/>
          </a:xfrm>
          <a:prstGeom xmlns:a="http://schemas.openxmlformats.org/drawingml/2006/main" prst="rect">
            <a:avLst/>
          </a:prstGeom>
          <a:solidFill xmlns:a="http://schemas.openxmlformats.org/drawingml/2006/main">
            <a:srgbClr val="C8D0DA"/>
          </a:solidFill>
          <a:ln xmlns:a="http://schemas.openxmlformats.org/drawingml/2006/main" w="0">
            <a:noFill/>
            <a:prstDash val="solid"/>
          </a:ln>
        </p:spPr>
      </p:sp>
      <p:sp>
        <p:nvSpPr>
          <p:cNvPr id="40" name="after-action">
            <a:extLst xmlns:a="http://schemas.openxmlformats.org/drawingml/2006/main">
              <a:ext uri="{FF2B5EF4-FFF2-40B4-BE49-F238E27FC236}">
                <a16:creationId xmlns:a16="http://schemas.microsoft.com/office/drawing/2014/main" id="{29BA91E8-A0D9-4E1B-BC36-2AC21CBB330E}"/>
              </a:ext>
            </a:extLst>
          </p:cNvPr>
          <p:cNvSpPr>
            <a:spLocks xmlns:a="http://schemas.openxmlformats.org/drawingml/2006/main" noGrp="1"/>
          </p:cNvSpPr>
          <p:nvPr/>
        </p:nvSpPr>
        <p:spPr>
          <a:xfrm xmlns:a="http://schemas.openxmlformats.org/drawingml/2006/main">
            <a:off x="8401050" y="4333875"/>
            <a:ext cx="3105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79"/>
          </a:bodyPr>
          <a:lstStyle xmlns:a="http://schemas.openxmlformats.org/drawingml/2006/main"/>
          <a:p xmlns:a="http://schemas.openxmlformats.org/drawingml/2006/main">
            <a:pPr algn="l">
              <a:defRPr sz="1200" b="1">
                <a:solidFill>
                  <a:srgbClr val="0B1F33"/>
                </a:solidFill>
                <a:latin typeface="Helvetica Neue"/>
                <a:ea typeface="Helvetica Neue"/>
                <a:cs typeface="Helvetica Neue"/>
              </a:defRPr>
            </a:pPr>
            <a:r>
              <a:rPr sz="1200" b="1">
                <a:solidFill>
                  <a:srgbClr val="0B1F33"/>
                </a:solidFill>
                <a:latin typeface="Helvetica Neue"/>
                <a:ea typeface="Helvetica Neue"/>
                <a:cs typeface="Helvetica Neue"/>
              </a:rPr>
              <a:t>STOP NEXT TRANSFERS  ·  HOLD SETTLEMENT  ·  RESTRICT LINKS</a:t>
            </a:r>
          </a:p>
        </p:txBody>
      </p:sp>
      <p:sp>
        <p:nvSpPr>
          <p:cNvPr id="41" name="lab-mode-band">
            <a:extLst xmlns:a="http://schemas.openxmlformats.org/drawingml/2006/main">
              <a:ext uri="{FF2B5EF4-FFF2-40B4-BE49-F238E27FC236}">
                <a16:creationId xmlns:a16="http://schemas.microsoft.com/office/drawing/2014/main" id="{F4405419-18A5-4567-9E78-95C8ED0EFFC7}"/>
              </a:ext>
            </a:extLst>
          </p:cNvPr>
          <p:cNvSpPr>
            <a:spLocks xmlns:a="http://schemas.openxmlformats.org/drawingml/2006/main" noGrp="1"/>
          </p:cNvSpPr>
          <p:nvPr/>
        </p:nvSpPr>
        <p:spPr>
          <a:xfrm xmlns:a="http://schemas.openxmlformats.org/drawingml/2006/main">
            <a:off x="457200" y="5124450"/>
            <a:ext cx="5429250" cy="1028700"/>
          </a:xfrm>
          <a:prstGeom xmlns:a="http://schemas.openxmlformats.org/drawingml/2006/main" prst="rect">
            <a:avLst/>
          </a:prstGeom>
          <a:solidFill xmlns:a="http://schemas.openxmlformats.org/drawingml/2006/main">
            <a:srgbClr val="FBECEC"/>
          </a:solidFill>
          <a:ln xmlns:a="http://schemas.openxmlformats.org/drawingml/2006/main" w="9525">
            <a:solidFill>
              <a:srgbClr val="F2CACA"/>
            </a:solidFill>
            <a:prstDash val="solid"/>
          </a:ln>
        </p:spPr>
      </p:sp>
      <p:sp>
        <p:nvSpPr>
          <p:cNvPr id="42" name="lab-mode-title">
            <a:extLst xmlns:a="http://schemas.openxmlformats.org/drawingml/2006/main">
              <a:ext uri="{FF2B5EF4-FFF2-40B4-BE49-F238E27FC236}">
                <a16:creationId xmlns:a16="http://schemas.microsoft.com/office/drawing/2014/main" id="{E37C1B67-4D97-41EC-9991-C90B938A0EDC}"/>
              </a:ext>
            </a:extLst>
          </p:cNvPr>
          <p:cNvSpPr>
            <a:spLocks xmlns:a="http://schemas.openxmlformats.org/drawingml/2006/main" noGrp="1"/>
          </p:cNvSpPr>
          <p:nvPr/>
        </p:nvSpPr>
        <p:spPr>
          <a:xfrm xmlns:a="http://schemas.openxmlformats.org/drawingml/2006/main">
            <a:off x="685800" y="5295900"/>
            <a:ext cx="495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444"/>
          </a:bodyPr>
          <a:lstStyle xmlns:a="http://schemas.openxmlformats.org/drawingml/2006/main"/>
          <a:p xmlns:a="http://schemas.openxmlformats.org/drawingml/2006/main">
            <a:pPr algn="l">
              <a:defRPr sz="1125" b="1">
                <a:solidFill>
                  <a:srgbClr val="D74646"/>
                </a:solidFill>
                <a:latin typeface="Helvetica Neue"/>
                <a:ea typeface="Helvetica Neue"/>
                <a:cs typeface="Helvetica Neue"/>
              </a:defRPr>
            </a:pPr>
            <a:r>
              <a:rPr sz="1125" b="1">
                <a:solidFill>
                  <a:srgbClr val="D74646"/>
                </a:solidFill>
                <a:latin typeface="Helvetica Neue"/>
                <a:ea typeface="Helvetica Neue"/>
                <a:cs typeface="Helvetica Neue"/>
              </a:rPr>
              <a:t>LAB MODE  ·  BUILD THE ATTACK, THEN THE DEFENSE</a:t>
            </a:r>
          </a:p>
        </p:txBody>
      </p:sp>
      <p:sp>
        <p:nvSpPr>
          <p:cNvPr id="43" name="lab-mode-flow">
            <a:extLst xmlns:a="http://schemas.openxmlformats.org/drawingml/2006/main">
              <a:ext uri="{FF2B5EF4-FFF2-40B4-BE49-F238E27FC236}">
                <a16:creationId xmlns:a16="http://schemas.microsoft.com/office/drawing/2014/main" id="{C24C8B8F-0814-45F2-8599-912572B959DB}"/>
              </a:ext>
            </a:extLst>
          </p:cNvPr>
          <p:cNvSpPr>
            <a:spLocks xmlns:a="http://schemas.openxmlformats.org/drawingml/2006/main" noGrp="1"/>
          </p:cNvSpPr>
          <p:nvPr/>
        </p:nvSpPr>
        <p:spPr>
          <a:xfrm xmlns:a="http://schemas.openxmlformats.org/drawingml/2006/main">
            <a:off x="685800" y="56102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350" b="1">
                <a:solidFill>
                  <a:srgbClr val="0A1728"/>
                </a:solidFill>
                <a:latin typeface="Helvetica Neue"/>
                <a:ea typeface="Helvetica Neue"/>
                <a:cs typeface="Helvetica Neue"/>
              </a:defRPr>
            </a:pPr>
            <a:r>
              <a:rPr sz="1350" b="1">
                <a:solidFill>
                  <a:srgbClr val="0A1728"/>
                </a:solidFill>
                <a:latin typeface="Helvetica Neue"/>
                <a:ea typeface="Helvetica Neue"/>
                <a:cs typeface="Helvetica Neue"/>
              </a:rPr>
              <a:t>Red generates campaigns  →  Blue trains + stress-tests  →  the loop creates harder variants</a:t>
            </a:r>
          </a:p>
        </p:txBody>
      </p:sp>
      <p:sp>
        <p:nvSpPr>
          <p:cNvPr id="44" name="live-mode-band">
            <a:extLst xmlns:a="http://schemas.openxmlformats.org/drawingml/2006/main">
              <a:ext uri="{FF2B5EF4-FFF2-40B4-BE49-F238E27FC236}">
                <a16:creationId xmlns:a16="http://schemas.microsoft.com/office/drawing/2014/main" id="{C9264D56-28FE-4FA0-B4FD-494482EC4A42}"/>
              </a:ext>
            </a:extLst>
          </p:cNvPr>
          <p:cNvSpPr>
            <a:spLocks xmlns:a="http://schemas.openxmlformats.org/drawingml/2006/main" noGrp="1"/>
          </p:cNvSpPr>
          <p:nvPr/>
        </p:nvSpPr>
        <p:spPr>
          <a:xfrm xmlns:a="http://schemas.openxmlformats.org/drawingml/2006/main">
            <a:off x="6305550" y="5124450"/>
            <a:ext cx="5429250" cy="10287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45" name="live-mode-title">
            <a:extLst xmlns:a="http://schemas.openxmlformats.org/drawingml/2006/main">
              <a:ext uri="{FF2B5EF4-FFF2-40B4-BE49-F238E27FC236}">
                <a16:creationId xmlns:a16="http://schemas.microsoft.com/office/drawing/2014/main" id="{3A242C4C-0E6C-46E7-8665-2849EB5B49F6}"/>
              </a:ext>
            </a:extLst>
          </p:cNvPr>
          <p:cNvSpPr>
            <a:spLocks xmlns:a="http://schemas.openxmlformats.org/drawingml/2006/main" noGrp="1"/>
          </p:cNvSpPr>
          <p:nvPr/>
        </p:nvSpPr>
        <p:spPr>
          <a:xfrm xmlns:a="http://schemas.openxmlformats.org/drawingml/2006/main">
            <a:off x="6534150" y="5295900"/>
            <a:ext cx="495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444"/>
          </a:bodyPr>
          <a:lstStyle xmlns:a="http://schemas.openxmlformats.org/drawingml/2006/main"/>
          <a:p xmlns:a="http://schemas.openxmlformats.org/drawingml/2006/main">
            <a:pPr algn="l">
              <a:defRPr sz="1125" b="1">
                <a:solidFill>
                  <a:srgbClr val="8FB9FF"/>
                </a:solidFill>
                <a:latin typeface="Helvetica Neue"/>
                <a:ea typeface="Helvetica Neue"/>
                <a:cs typeface="Helvetica Neue"/>
              </a:defRPr>
            </a:pPr>
            <a:r>
              <a:rPr sz="1125" b="1">
                <a:solidFill>
                  <a:srgbClr val="8FB9FF"/>
                </a:solidFill>
                <a:latin typeface="Helvetica Neue"/>
                <a:ea typeface="Helvetica Neue"/>
                <a:cs typeface="Helvetica Neue"/>
              </a:rPr>
              <a:t>LIVE DEFENSE MODE  ·  SIMULATED PAYMENT RAIL</a:t>
            </a:r>
          </a:p>
        </p:txBody>
      </p:sp>
      <p:sp>
        <p:nvSpPr>
          <p:cNvPr id="46" name="live-mode-flow">
            <a:extLst xmlns:a="http://schemas.openxmlformats.org/drawingml/2006/main">
              <a:ext uri="{FF2B5EF4-FFF2-40B4-BE49-F238E27FC236}">
                <a16:creationId xmlns:a16="http://schemas.microsoft.com/office/drawing/2014/main" id="{C390855E-96AA-4D78-8373-EDDC70E9D011}"/>
              </a:ext>
            </a:extLst>
          </p:cNvPr>
          <p:cNvSpPr>
            <a:spLocks xmlns:a="http://schemas.openxmlformats.org/drawingml/2006/main" noGrp="1"/>
          </p:cNvSpPr>
          <p:nvPr/>
        </p:nvSpPr>
        <p:spPr>
          <a:xfrm xmlns:a="http://schemas.openxmlformats.org/drawingml/2006/main">
            <a:off x="6534150" y="56102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Payment initiated  →  real-time decision  →  near-real-time campaign containment</a:t>
            </a:r>
          </a:p>
        </p:txBody>
      </p:sp>
      <p:sp>
        <p:nvSpPr>
          <p:cNvPr id="47" name="takeaway">
            <a:extLst xmlns:a="http://schemas.openxmlformats.org/drawingml/2006/main">
              <a:ext uri="{FF2B5EF4-FFF2-40B4-BE49-F238E27FC236}">
                <a16:creationId xmlns:a16="http://schemas.microsoft.com/office/drawing/2014/main" id="{59E16B15-5D49-4A90-B381-D48CB9C3BF7D}"/>
              </a:ext>
            </a:extLst>
          </p:cNvPr>
          <p:cNvSpPr>
            <a:spLocks xmlns:a="http://schemas.openxmlformats.org/drawingml/2006/main" noGrp="1"/>
          </p:cNvSpPr>
          <p:nvPr/>
        </p:nvSpPr>
        <p:spPr>
          <a:xfrm xmlns:a="http://schemas.openxmlformats.org/drawingml/2006/main">
            <a:off x="457200" y="6353175"/>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555"/>
          </a:bodyPr>
          <a:lstStyle xmlns:a="http://schemas.openxmlformats.org/drawingml/2006/main"/>
          <a:p xmlns:a="http://schemas.openxmlformats.org/drawingml/2006/main">
            <a:pPr algn="ctr">
              <a:defRPr sz="1350" b="1">
                <a:solidFill>
                  <a:srgbClr val="0B397C"/>
                </a:solidFill>
                <a:latin typeface="Helvetica Neue"/>
                <a:ea typeface="Helvetica Neue"/>
                <a:cs typeface="Helvetica Neue"/>
              </a:defRPr>
            </a:pPr>
            <a:r>
              <a:rPr sz="1350" b="1">
                <a:solidFill>
                  <a:srgbClr val="0B397C"/>
                </a:solidFill>
                <a:latin typeface="Helvetica Neue"/>
                <a:ea typeface="Helvetica Neue"/>
                <a:cs typeface="Helvetica Neue"/>
              </a:rPr>
              <a:t>Interpretation: intervene before settlement when possible; contain what only becomes visible later.</a:t>
            </a:r>
          </a:p>
        </p:txBody>
      </p:sp>
    </p:spTree>
    <p:extLst>
      <p:ext uri="{BB962C8B-B14F-4D97-AF65-F5344CB8AC3E}">
        <p14:creationId xmlns:p14="http://schemas.microsoft.com/office/powerpoint/2010/main" val="224598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2026-08-18T15:46:38.5840000Z</dcterms:created>
  <dcterms:modified xsi:type="dcterms:W3CDTF">2026-08-18T15:46:38.5840000Z</dcterms:modified>
</coreProperties>
</file>